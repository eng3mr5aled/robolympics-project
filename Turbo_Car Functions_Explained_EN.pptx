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78"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9"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E56F476-C256-51DB-25B0-C9DCD8443929}">
          <p14:sldIdLst>
            <p14:sldId id="278"/>
            <p14:sldId id="256"/>
            <p14:sldId id="257"/>
            <p14:sldId id="258"/>
          </p14:sldIdLst>
        </p14:section>
        <p14:section name="Control" id="{D615399B-4A27-95F4-CB60-E9AC834A2199}">
          <p14:sldIdLst>
            <p14:sldId id="259"/>
            <p14:sldId id="260"/>
            <p14:sldId id="261"/>
            <p14:sldId id="262"/>
          </p14:sldIdLst>
        </p14:section>
        <p14:section name="Dashboard" id="{4C547E81-7178-FF4E-1332-BC31331BB1E6}">
          <p14:sldIdLst>
            <p14:sldId id="263"/>
            <p14:sldId id="264"/>
            <p14:sldId id="265"/>
            <p14:sldId id="266"/>
          </p14:sldIdLst>
        </p14:section>
        <p14:section name="Autonomous" id="{C7574622-B112-1756-5A18-C2BCB587AECD}">
          <p14:sldIdLst>
            <p14:sldId id="267"/>
            <p14:sldId id="268"/>
            <p14:sldId id="269"/>
            <p14:sldId id="270"/>
            <p14:sldId id="271"/>
            <p14:sldId id="272"/>
          </p14:sldIdLst>
        </p14:section>
        <p14:section name="Camera &amp; Gripper" id="{1A6561AC-1814-F268-3151-6F37B46F5338}">
          <p14:sldIdLst>
            <p14:sldId id="273"/>
            <p14:sldId id="274"/>
            <p14:sldId id="275"/>
            <p14:sldId id="276"/>
          </p14:sldIdLst>
        </p14:section>
        <p14:section name="Wrap-up" id="{0ADAC841-5C89-CF44-5024-29DD035313B4}">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78"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3322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1F338-6B76-5996-1AEE-838CBBDDF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1592E6-AC7B-FCD8-2CBA-82C8228D5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D03AF-9D75-FDDF-2EB8-CC20F056DD87}"/>
              </a:ext>
            </a:extLst>
          </p:cNvPr>
          <p:cNvSpPr>
            <a:spLocks noGrp="1"/>
          </p:cNvSpPr>
          <p:nvPr>
            <p:ph type="body" idx="1"/>
          </p:nvPr>
        </p:nvSpPr>
        <p:spPr/>
        <p:txBody>
          <a:bodyPr/>
          <a:lstStyle/>
          <a:p>
            <a:r>
              <a:rPr lang="en-US" dirty="0"/>
              <a:t>Intro: this deck walks through the Main ESP32 firmware that drives a 4WD robot from a web dashboard, with an autonomous mode that keeps it from driving off track edges, plus the camera link and the gripper.</a:t>
            </a:r>
          </a:p>
        </p:txBody>
      </p:sp>
      <p:sp>
        <p:nvSpPr>
          <p:cNvPr id="4" name="Slide Number Placeholder 3">
            <a:extLst>
              <a:ext uri="{FF2B5EF4-FFF2-40B4-BE49-F238E27FC236}">
                <a16:creationId xmlns:a16="http://schemas.microsoft.com/office/drawing/2014/main" id="{E637F168-F0C9-440C-5288-7B6481E86686}"/>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530528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this deck walks through the Main ESP32 firmware that drives a 4WD robot from a web dashboard, with an autonomous mode that keeps it from driving off track edges, plus the camera link and the gripper.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ESP32 is the Wi-Fi access point (192.168.4.1). The dashboard talks to it over WebSocket for real-time control. The camera talks to it over UART for commands and its IP, and sends images to the laptop over Wi-Fi. The laptop runs inference and reports the result back with a /detection request.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creates an access point named ESP32_Turbo. The dashboard page is served on port 80 and the WebSocket runs on port 81. Low-latency settings: WiFi.setSleep(false), esp_wifi_set_ps(WIFI_PS_NONE) and esp_wifi_set_max_tx_power(78).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how the robot moves and receives commands.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motor is wired to two pins on the H-Bridge (forward and reverse). setMotor() writes PWM to both. LF = 22/23, LR = 25/26, RF = 4/16, RR = 17/18.</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combined commands FL/FR/BL/BR slow the inner side to 45% of speed. Any movement command has to keep arriving: if 450 ms pass with nothing new, stopAll() runs. This protects the robot if the connection drops.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commands are short text messages on the WebSocket (port 81). S is always allowed, even in AUTO mode, and it exits AUTO. Other movement commands are ignored while autonomous mode is running.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the interface you drive the robot from.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a single page embedded in the code (MAIN_page) and served at /. It has cards for status, speed, arrows, control reversal, autonomous mode, camera, the Edge Impulse result and the gripper.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keys stop things (SPACE and Q). Yellow keys are everything else. Arrow keys can be combined (for example up + left) for combined steering.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sends a command when it changes and again every 100 ms while a button is held, because the robot stops if 450 ms pass without a command. The robot pushes a JSON status every 50 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the self-driving mode.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 is raised and has no walls, so the edges are the hazard. The sensors point down at the ground. The numbers in the last box are TRIG/ECHO pins for each sensor. Dropping ECHO from 5 V to 3.3 V is essential.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sensor is calibrated against the normal ground distance (the first 5 valid readings under 150 cm, taken while stopped). Danger is decided by the difference from that baseline, not by a fixed distance. Two no-echo reads in a row count as an edge, because the ground has disappeared.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calibration the robot enters FORWARD. If a front edge appears it brakes for 80 ms, then turns away from the edge (edge on the left means turn right, and the other way round). After the turn it returns to FORWARD. Any dangerous situation goes to HAZARD STOP, a terminal state until you switch autonomous mode off and on again.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of checks in autonomousService(): safety first, then the front edge, then side edges, and gradual steering last. Number 1 has the highest priority.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comes in layers: sensor reading expiry, command timeout, confirmation time, a turn time limit and the camera timeout. Manual steering is unchanged; autonomous mode uses its own 0.35 ratio.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the camera and the gripper.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between the Main ESP32 and the camera travel over UART. The camera reports its DHCP IP so the laptop knows where to request /capture. The Main resends an ON/OFF command every 400 ms up to 10 times, and restores the desired state automatically if the camera reboots.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runs on the laptop, not on the robot. The Main only receives the result and stores it in detectionText. The dashboard reads the Pyramid / Cube / Ball scores with a regex from the P:xx C:xx B:xx text.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gripper runs on LEDC at GPIO 21 with a 50 Hz, 16-bit signal. servoWriteAngle() converts the angle to a pulse width between 500 and 2400 microseconds, then to a duty value.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234440"/>
            <a:ext cx="4754880" cy="173736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
        <p:nvSpPr>
          <p:cNvPr id="3" name="Text 0"/>
          <p:cNvSpPr>
            <a:spLocks noGrp="1"/>
          </p:cNvSpPr>
          <p:nvPr>
            <p:ph type="body" idx="101" hasCustomPrompt="1"/>
          </p:nvPr>
        </p:nvSpPr>
        <p:spPr>
          <a:xfrm>
            <a:off x="457200" y="3108960"/>
            <a:ext cx="4754880" cy="868680"/>
          </a:xfrm>
          <a:prstGeom prst="rect">
            <a:avLst/>
          </a:prstGeom>
          <a:noFill/>
          <a:ln/>
        </p:spPr>
        <p:txBody>
          <a:bodyPr wrap="square" rtlCol="0"/>
          <a:lstStyle>
            <a:lvl1pPr marL="0" indent="0" algn="l">
              <a:buNone/>
              <a:defRPr lang="en-US" sz="1600" dirty="0">
                <a:solidFill>
                  <a:schemeClr val="accent2"/>
                </a:solidFill>
              </a:defRPr>
            </a:lvl1pPr>
          </a:lstStyle>
          <a:p>
            <a:pPr marL="0" indent="0" algn="l">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5669280" y="0"/>
            <a:ext cx="3474720" cy="5143500"/>
          </a:xfrm>
          <a:prstGeom prst="rect">
            <a:avLst/>
          </a:prstGeom>
          <a:solidFill>
            <a:schemeClr val="accent1"/>
          </a:solidFill>
          <a:ln/>
        </p:spPr>
      </p:sp>
      <p:sp>
        <p:nvSpPr>
          <p:cNvPr id="3" name="Text 1"/>
          <p:cNvSpPr>
            <a:spLocks noGrp="1"/>
          </p:cNvSpPr>
          <p:nvPr>
            <p:ph type="title" idx="101" hasCustomPrompt="1"/>
          </p:nvPr>
        </p:nvSpPr>
        <p:spPr>
          <a:xfrm>
            <a:off x="457200" y="1554480"/>
            <a:ext cx="4846320" cy="12801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1"/>
          <p:cNvSpPr>
            <a:spLocks noGrp="1"/>
          </p:cNvSpPr>
          <p:nvPr>
            <p:ph type="body" idx="102" hasCustomPrompt="1"/>
          </p:nvPr>
        </p:nvSpPr>
        <p:spPr>
          <a:xfrm>
            <a:off x="457200" y="2971800"/>
            <a:ext cx="4846320" cy="914400"/>
          </a:xfrm>
          <a:prstGeom prst="rect">
            <a:avLst/>
          </a:prstGeom>
          <a:noFill/>
          <a:ln/>
        </p:spPr>
        <p:txBody>
          <a:bodyPr wrap="square" rtlCol="0"/>
          <a:lstStyle>
            <a:lvl1pPr marL="0" indent="0" algn="l">
              <a:buNone/>
              <a:defRPr lang="en-US" sz="1800" dirty="0">
                <a:solidFill>
                  <a:schemeClr val="accent2"/>
                </a:solidFill>
              </a:defRPr>
            </a:lvl1pPr>
          </a:lstStyle>
          <a:p>
            <a:pPr marL="0" indent="0" algn="l">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p:nvPr/>
        </p:nvSpPr>
        <p:spPr>
          <a:xfrm>
            <a:off x="457200" y="4800600"/>
            <a:ext cx="2286000" cy="228600"/>
          </a:xfrm>
          <a:prstGeom prst="rect">
            <a:avLst/>
          </a:prstGeom>
          <a:noFill/>
          <a:ln/>
        </p:spPr>
        <p:txBody>
          <a:bodyPr wrap="square" lIns="0" tIns="0" rIns="0" bIns="0" rtlCol="0" anchor="ctr"/>
          <a:lstStyle/>
          <a:p>
            <a:pPr marL="0" indent="0" algn="l">
              <a:buNone/>
            </a:pPr>
            <a:r>
              <a:rPr lang="en-US" sz="1000" dirty="0">
                <a:solidFill>
                  <a:schemeClr val="accent5"/>
                </a:solidFill>
              </a:rPr>
              <a:t>ESP32 4WD Robot</a:t>
            </a:r>
            <a:endParaRPr lang="en-US" sz="10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12.png"/><Relationship Id="rId4" Type="http://schemas.openxmlformats.org/officeDocument/2006/relationships/image" Target="../media/image21.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6.png"/><Relationship Id="rId7"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AF211-A8AB-9DF2-85C9-8804F45EFBDB}"/>
            </a:ext>
          </a:extLst>
        </p:cNvPr>
        <p:cNvGrpSpPr/>
        <p:nvPr/>
      </p:nvGrpSpPr>
      <p:grpSpPr>
        <a:xfrm>
          <a:off x="0" y="0"/>
          <a:ext cx="0" cy="0"/>
          <a:chOff x="0" y="0"/>
          <a:chExt cx="0" cy="0"/>
        </a:xfrm>
      </p:grpSpPr>
      <p:sp>
        <p:nvSpPr>
          <p:cNvPr id="2" name="hero circle">
            <a:extLst>
              <a:ext uri="{FF2B5EF4-FFF2-40B4-BE49-F238E27FC236}">
                <a16:creationId xmlns:a16="http://schemas.microsoft.com/office/drawing/2014/main" id="{967E7312-848C-9614-1039-3157F320E282}"/>
              </a:ext>
            </a:extLst>
          </p:cNvPr>
          <p:cNvSpPr/>
          <p:nvPr/>
        </p:nvSpPr>
        <p:spPr>
          <a:xfrm>
            <a:off x="5577840" y="1005840"/>
            <a:ext cx="3108960" cy="3108960"/>
          </a:xfrm>
          <a:prstGeom prst="ellipse">
            <a:avLst/>
          </a:prstGeom>
          <a:solidFill>
            <a:schemeClr val="accent1"/>
          </a:solidFill>
          <a:ln w="12700">
            <a:solidFill>
              <a:schemeClr val="accent1"/>
            </a:solidFill>
            <a:prstDash val="solid"/>
          </a:ln>
        </p:spPr>
        <p:txBody>
          <a:bodyPr/>
          <a:lstStyle/>
          <a:p>
            <a:endParaRPr lang="en-US"/>
          </a:p>
        </p:txBody>
      </p:sp>
      <p:sp>
        <p:nvSpPr>
          <p:cNvPr id="3" name="hero dot">
            <a:extLst>
              <a:ext uri="{FF2B5EF4-FFF2-40B4-BE49-F238E27FC236}">
                <a16:creationId xmlns:a16="http://schemas.microsoft.com/office/drawing/2014/main" id="{22E73B58-842E-C51F-4C01-F8AA0DA47A8C}"/>
              </a:ext>
            </a:extLst>
          </p:cNvPr>
          <p:cNvSpPr/>
          <p:nvPr/>
        </p:nvSpPr>
        <p:spPr>
          <a:xfrm>
            <a:off x="5486400" y="640080"/>
            <a:ext cx="914400" cy="91440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robot icon">
            <a:extLst>
              <a:ext uri="{FF2B5EF4-FFF2-40B4-BE49-F238E27FC236}">
                <a16:creationId xmlns:a16="http://schemas.microsoft.com/office/drawing/2014/main" id="{FA2B3179-2BB9-04E0-34C6-C6C254D4F7CD}"/>
              </a:ext>
            </a:extLst>
          </p:cNvPr>
          <p:cNvPicPr>
            <a:picLocks noChangeAspect="1"/>
          </p:cNvPicPr>
          <p:nvPr/>
        </p:nvPicPr>
        <p:blipFill>
          <a:blip r:embed="rId3"/>
          <a:stretch>
            <a:fillRect/>
          </a:stretch>
        </p:blipFill>
        <p:spPr>
          <a:xfrm>
            <a:off x="6217920" y="1645920"/>
            <a:ext cx="1828800" cy="1828800"/>
          </a:xfrm>
          <a:prstGeom prst="rect">
            <a:avLst/>
          </a:prstGeom>
        </p:spPr>
      </p:pic>
      <p:sp>
        <p:nvSpPr>
          <p:cNvPr id="5" name="Text 0">
            <a:extLst>
              <a:ext uri="{FF2B5EF4-FFF2-40B4-BE49-F238E27FC236}">
                <a16:creationId xmlns:a16="http://schemas.microsoft.com/office/drawing/2014/main" id="{F2321CF3-2796-9301-54F3-14A7235FB6CF}"/>
              </a:ext>
            </a:extLst>
          </p:cNvPr>
          <p:cNvSpPr>
            <a:spLocks noGrp="1"/>
          </p:cNvSpPr>
          <p:nvPr>
            <p:ph type="title" idx="100" hasCustomPrompt="1"/>
          </p:nvPr>
        </p:nvSpPr>
        <p:spPr>
          <a:xfrm>
            <a:off x="457200" y="1234440"/>
            <a:ext cx="4754880" cy="1737360"/>
          </a:xfrm>
          <a:prstGeom prst="rect">
            <a:avLst/>
          </a:prstGeom>
          <a:noFill/>
          <a:ln/>
        </p:spPr>
        <p:txBody>
          <a:bodyPr wrap="square" lIns="0" tIns="0" rIns="0" bIns="0" rtlCol="0" anchor="ctr"/>
          <a:lstStyle/>
          <a:p>
            <a:pPr marL="0" indent="0" algn="l">
              <a:buNone/>
            </a:pPr>
            <a:r>
              <a:rPr lang="en-US" dirty="0"/>
              <a:t>   TURBO TEAM</a:t>
            </a:r>
            <a:endParaRPr lang="en-US" sz="4200" dirty="0"/>
          </a:p>
        </p:txBody>
      </p:sp>
      <p:sp>
        <p:nvSpPr>
          <p:cNvPr id="6" name="Text 0">
            <a:extLst>
              <a:ext uri="{FF2B5EF4-FFF2-40B4-BE49-F238E27FC236}">
                <a16:creationId xmlns:a16="http://schemas.microsoft.com/office/drawing/2014/main" id="{191BF1AD-A676-FF6B-152C-BDECC04151BF}"/>
              </a:ext>
            </a:extLst>
          </p:cNvPr>
          <p:cNvSpPr>
            <a:spLocks noGrp="1"/>
          </p:cNvSpPr>
          <p:nvPr>
            <p:ph type="body" idx="101" hasCustomPrompt="1"/>
          </p:nvPr>
        </p:nvSpPr>
        <p:spPr>
          <a:xfrm>
            <a:off x="457200" y="3108960"/>
            <a:ext cx="4754880" cy="868680"/>
          </a:xfrm>
          <a:prstGeom prst="rect">
            <a:avLst/>
          </a:prstGeom>
          <a:noFill/>
          <a:ln/>
        </p:spPr>
        <p:txBody>
          <a:bodyPr wrap="square" lIns="0" tIns="0" rIns="0" bIns="0" rtlCol="0" anchor="t"/>
          <a:lstStyle/>
          <a:p>
            <a:pPr marL="0" indent="0" algn="l">
              <a:buNone/>
            </a:pPr>
            <a:r>
              <a:rPr lang="en-US" sz="1600" dirty="0"/>
              <a:t> Amr Khaled Sedik               Mohamed Abdelhay</a:t>
            </a:r>
          </a:p>
          <a:p>
            <a:pPr marL="0" indent="0" algn="l">
              <a:buNone/>
            </a:pPr>
            <a:r>
              <a:rPr lang="en-US" dirty="0"/>
              <a:t> Mohamed Nabil                   Peter George</a:t>
            </a:r>
          </a:p>
          <a:p>
            <a:pPr marL="0" indent="0" algn="l">
              <a:buNone/>
            </a:pPr>
            <a:r>
              <a:rPr lang="en-US" sz="1600" dirty="0"/>
              <a:t> Ahmed Abd Aziz                  Essam Mohamed </a:t>
            </a:r>
          </a:p>
        </p:txBody>
      </p:sp>
      <p:sp>
        <p:nvSpPr>
          <p:cNvPr id="7" name="pill">
            <a:extLst>
              <a:ext uri="{FF2B5EF4-FFF2-40B4-BE49-F238E27FC236}">
                <a16:creationId xmlns:a16="http://schemas.microsoft.com/office/drawing/2014/main" id="{E2F466E5-0EBF-14F2-784F-35A6C48B592F}"/>
              </a:ext>
            </a:extLst>
          </p:cNvPr>
          <p:cNvSpPr/>
          <p:nvPr/>
        </p:nvSpPr>
        <p:spPr>
          <a:xfrm>
            <a:off x="365761" y="2560320"/>
            <a:ext cx="3200400" cy="411480"/>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8" name="Text 5">
            <a:extLst>
              <a:ext uri="{FF2B5EF4-FFF2-40B4-BE49-F238E27FC236}">
                <a16:creationId xmlns:a16="http://schemas.microsoft.com/office/drawing/2014/main" id="{89CBAE24-D027-03B6-1291-8B4120CF90BB}"/>
              </a:ext>
            </a:extLst>
          </p:cNvPr>
          <p:cNvSpPr txBox="1"/>
          <p:nvPr/>
        </p:nvSpPr>
        <p:spPr>
          <a:xfrm>
            <a:off x="365761" y="2560320"/>
            <a:ext cx="3200400" cy="411480"/>
          </a:xfrm>
          <a:prstGeom prst="rect">
            <a:avLst/>
          </a:prstGeom>
          <a:noFill/>
          <a:ln/>
        </p:spPr>
        <p:txBody>
          <a:bodyPr wrap="square" lIns="0" tIns="0" rIns="0" bIns="0" rtlCol="0" anchor="ctr"/>
          <a:lstStyle/>
          <a:p>
            <a:pPr marL="0" indent="0" algn="ctr">
              <a:buNone/>
            </a:pPr>
            <a:r>
              <a:rPr lang="en-US" sz="1200" b="1" dirty="0"/>
              <a:t>Team Members</a:t>
            </a:r>
            <a:endParaRPr lang="en-US" sz="1200" dirty="0"/>
          </a:p>
        </p:txBody>
      </p:sp>
    </p:spTree>
    <p:extLst>
      <p:ext uri="{BB962C8B-B14F-4D97-AF65-F5344CB8AC3E}">
        <p14:creationId xmlns:p14="http://schemas.microsoft.com/office/powerpoint/2010/main" val="30117704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hero circle"/>
          <p:cNvSpPr/>
          <p:nvPr/>
        </p:nvSpPr>
        <p:spPr>
          <a:xfrm>
            <a:off x="5577840" y="1005840"/>
            <a:ext cx="3108960" cy="3108960"/>
          </a:xfrm>
          <a:prstGeom prst="ellipse">
            <a:avLst/>
          </a:prstGeom>
          <a:solidFill>
            <a:schemeClr val="accent1"/>
          </a:solidFill>
          <a:ln w="12700">
            <a:solidFill>
              <a:schemeClr val="accent1"/>
            </a:solidFill>
            <a:prstDash val="solid"/>
          </a:ln>
        </p:spPr>
        <p:txBody>
          <a:bodyPr/>
          <a:lstStyle/>
          <a:p>
            <a:endParaRPr lang="en-US"/>
          </a:p>
        </p:txBody>
      </p:sp>
      <p:sp>
        <p:nvSpPr>
          <p:cNvPr id="3" name="hero dot"/>
          <p:cNvSpPr/>
          <p:nvPr/>
        </p:nvSpPr>
        <p:spPr>
          <a:xfrm>
            <a:off x="5486400" y="640080"/>
            <a:ext cx="914400" cy="91440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robot icon"/>
          <p:cNvPicPr>
            <a:picLocks noChangeAspect="1"/>
          </p:cNvPicPr>
          <p:nvPr/>
        </p:nvPicPr>
        <p:blipFill>
          <a:blip r:embed="rId3"/>
          <a:stretch>
            <a:fillRect/>
          </a:stretch>
        </p:blipFill>
        <p:spPr>
          <a:xfrm>
            <a:off x="6217920" y="1645920"/>
            <a:ext cx="1828800" cy="1828800"/>
          </a:xfrm>
          <a:prstGeom prst="rect">
            <a:avLst/>
          </a:prstGeom>
        </p:spPr>
      </p:pic>
      <p:sp>
        <p:nvSpPr>
          <p:cNvPr id="5" name="Text 0"/>
          <p:cNvSpPr>
            <a:spLocks noGrp="1"/>
          </p:cNvSpPr>
          <p:nvPr>
            <p:ph type="title" idx="100" hasCustomPrompt="1"/>
          </p:nvPr>
        </p:nvSpPr>
        <p:spPr>
          <a:xfrm>
            <a:off x="457200" y="1234440"/>
            <a:ext cx="4754880" cy="1737360"/>
          </a:xfrm>
          <a:prstGeom prst="rect">
            <a:avLst/>
          </a:prstGeom>
          <a:noFill/>
          <a:ln/>
        </p:spPr>
        <p:txBody>
          <a:bodyPr wrap="square" lIns="0" tIns="0" rIns="0" bIns="0" rtlCol="0" anchor="ctr"/>
          <a:lstStyle/>
          <a:p>
            <a:pPr marL="0" indent="0" algn="l">
              <a:buNone/>
            </a:pPr>
            <a:r>
              <a:rPr lang="en-US" sz="4200" b="1" dirty="0">
                <a:solidFill>
                  <a:schemeClr val="bg1"/>
                </a:solidFill>
              </a:rPr>
              <a:t>ESP32 4WD Robot</a:t>
            </a:r>
            <a:endParaRPr lang="en-US" sz="4200" dirty="0"/>
          </a:p>
        </p:txBody>
      </p:sp>
      <p:sp>
        <p:nvSpPr>
          <p:cNvPr id="6" name="Text 0"/>
          <p:cNvSpPr>
            <a:spLocks noGrp="1"/>
          </p:cNvSpPr>
          <p:nvPr>
            <p:ph type="body" idx="101" hasCustomPrompt="1"/>
          </p:nvPr>
        </p:nvSpPr>
        <p:spPr>
          <a:xfrm>
            <a:off x="457200" y="3108960"/>
            <a:ext cx="4754880" cy="868680"/>
          </a:xfrm>
          <a:prstGeom prst="rect">
            <a:avLst/>
          </a:prstGeom>
          <a:noFill/>
          <a:ln/>
        </p:spPr>
        <p:txBody>
          <a:bodyPr wrap="square" lIns="0" tIns="0" rIns="0" bIns="0" rtlCol="0" anchor="t"/>
          <a:lstStyle/>
          <a:p>
            <a:pPr marL="0" indent="0" algn="l">
              <a:buNone/>
            </a:pPr>
            <a:r>
              <a:rPr lang="en-US" sz="1600" dirty="0">
                <a:solidFill>
                  <a:schemeClr val="accent2"/>
                </a:solidFill>
              </a:rPr>
              <a:t>A complete code walkthrough</a:t>
            </a:r>
            <a:endParaRPr lang="en-US" sz="1600" dirty="0"/>
          </a:p>
          <a:p>
            <a:pPr marL="0" indent="0" algn="l">
              <a:buNone/>
            </a:pPr>
            <a:r>
              <a:rPr lang="en-US" sz="1600" dirty="0">
                <a:solidFill>
                  <a:schemeClr val="accent2"/>
                </a:solidFill>
              </a:rPr>
              <a:t>Control • Dashboard • Autonomous</a:t>
            </a:r>
            <a:endParaRPr lang="en-US" sz="1600" dirty="0"/>
          </a:p>
          <a:p>
            <a:pPr marL="0" indent="0" algn="l">
              <a:buNone/>
            </a:pPr>
            <a:r>
              <a:rPr lang="en-US" sz="1600" dirty="0">
                <a:solidFill>
                  <a:schemeClr val="accent2"/>
                </a:solidFill>
              </a:rPr>
              <a:t>Camera • Gripper</a:t>
            </a:r>
            <a:endParaRPr lang="en-US" sz="1600" dirty="0"/>
          </a:p>
        </p:txBody>
      </p:sp>
      <p:sp>
        <p:nvSpPr>
          <p:cNvPr id="7" name="pill"/>
          <p:cNvSpPr/>
          <p:nvPr/>
        </p:nvSpPr>
        <p:spPr>
          <a:xfrm>
            <a:off x="457200" y="4069080"/>
            <a:ext cx="3200400" cy="411480"/>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457200" y="4069080"/>
            <a:ext cx="3200400" cy="411480"/>
          </a:xfrm>
          <a:prstGeom prst="rect">
            <a:avLst/>
          </a:prstGeom>
          <a:noFill/>
          <a:ln/>
        </p:spPr>
        <p:txBody>
          <a:bodyPr wrap="square" lIns="0" tIns="0" rIns="0" bIns="0" rtlCol="0" anchor="ctr"/>
          <a:lstStyle/>
          <a:p>
            <a:pPr marL="0" indent="0" algn="ctr">
              <a:buNone/>
            </a:pPr>
            <a:r>
              <a:rPr lang="en-US" sz="1200" b="1" dirty="0">
                <a:solidFill>
                  <a:schemeClr val="tx1"/>
                </a:solidFill>
              </a:rPr>
              <a:t>LOW-LATENCY / RELIABLE VERSION</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System Map</a:t>
            </a:r>
            <a:endParaRPr lang="en-US" sz="3400" dirty="0"/>
          </a:p>
        </p:txBody>
      </p:sp>
      <p:sp>
        <p:nvSpPr>
          <p:cNvPr id="3" name="icon-bg FaProjectDiagram"/>
          <p:cNvSpPr/>
          <p:nvPr/>
        </p:nvSpPr>
        <p:spPr>
          <a:xfrm>
            <a:off x="457200" y="320040"/>
            <a:ext cx="685800" cy="685800"/>
          </a:xfrm>
          <a:prstGeom prst="ellipse">
            <a:avLst/>
          </a:prstGeom>
          <a:solidFill>
            <a:schemeClr val="accent1"/>
          </a:solidFill>
          <a:ln w="12700">
            <a:solidFill>
              <a:schemeClr val="accent1"/>
            </a:solidFill>
            <a:prstDash val="solid"/>
          </a:ln>
        </p:spPr>
        <p:txBody>
          <a:bodyPr/>
          <a:lstStyle/>
          <a:p>
            <a:endParaRPr lang="en-US"/>
          </a:p>
        </p:txBody>
      </p:sp>
      <p:pic>
        <p:nvPicPr>
          <p:cNvPr id="4" name="Image 0" descr="FaProjectDiagram"/>
          <p:cNvPicPr>
            <a:picLocks noChangeAspect="1"/>
          </p:cNvPicPr>
          <p:nvPr/>
        </p:nvPicPr>
        <p:blipFill>
          <a:blip r:embed="rId3"/>
          <a:stretch>
            <a:fillRect/>
          </a:stretch>
        </p:blipFill>
        <p:spPr>
          <a:xfrm>
            <a:off x="628650" y="491490"/>
            <a:ext cx="342900" cy="342900"/>
          </a:xfrm>
          <a:prstGeom prst="rect">
            <a:avLst/>
          </a:prstGeom>
        </p:spPr>
      </p:pic>
      <p:sp>
        <p:nvSpPr>
          <p:cNvPr id="5" name="Dashboard"/>
          <p:cNvSpPr/>
          <p:nvPr/>
        </p:nvSpPr>
        <p:spPr>
          <a:xfrm>
            <a:off x="457200" y="1371600"/>
            <a:ext cx="1645920" cy="822960"/>
          </a:xfrm>
          <a:prstGeom prst="roundRect">
            <a:avLst>
              <a:gd name="adj" fmla="val 13333"/>
            </a:avLst>
          </a:prstGeom>
          <a:solidFill>
            <a:schemeClr val="tx2"/>
          </a:solidFill>
          <a:ln w="19050">
            <a:solidFill>
              <a:schemeClr val="accent2"/>
            </a:solidFill>
            <a:prstDash val="solid"/>
          </a:ln>
        </p:spPr>
        <p:txBody>
          <a:bodyPr/>
          <a:lstStyle/>
          <a:p>
            <a:endParaRPr lang="en-US"/>
          </a:p>
        </p:txBody>
      </p:sp>
      <p:sp>
        <p:nvSpPr>
          <p:cNvPr id="6" name="Text 3"/>
          <p:cNvSpPr txBox="1"/>
          <p:nvPr/>
        </p:nvSpPr>
        <p:spPr>
          <a:xfrm>
            <a:off x="457200" y="1463040"/>
            <a:ext cx="1645920" cy="365760"/>
          </a:xfrm>
          <a:prstGeom prst="rect">
            <a:avLst/>
          </a:prstGeom>
          <a:noFill/>
          <a:ln/>
        </p:spPr>
        <p:txBody>
          <a:bodyPr wrap="square" lIns="0" tIns="0" rIns="0" bIns="0" rtlCol="0" anchor="ctr"/>
          <a:lstStyle/>
          <a:p>
            <a:pPr marL="0" indent="0" algn="ctr">
              <a:buNone/>
            </a:pPr>
            <a:r>
              <a:rPr lang="en-US" sz="1500" b="1" dirty="0">
                <a:solidFill>
                  <a:schemeClr val="bg1"/>
                </a:solidFill>
              </a:rPr>
              <a:t>Dashboard</a:t>
            </a:r>
            <a:endParaRPr lang="en-US" sz="1500" dirty="0"/>
          </a:p>
        </p:txBody>
      </p:sp>
      <p:sp>
        <p:nvSpPr>
          <p:cNvPr id="7" name="Text 4"/>
          <p:cNvSpPr txBox="1"/>
          <p:nvPr/>
        </p:nvSpPr>
        <p:spPr>
          <a:xfrm>
            <a:off x="457200" y="1810512"/>
            <a:ext cx="1645920" cy="274320"/>
          </a:xfrm>
          <a:prstGeom prst="rect">
            <a:avLst/>
          </a:prstGeom>
          <a:noFill/>
          <a:ln/>
        </p:spPr>
        <p:txBody>
          <a:bodyPr wrap="square" lIns="0" tIns="0" rIns="0" bIns="0" rtlCol="0" anchor="ctr"/>
          <a:lstStyle/>
          <a:p>
            <a:pPr marL="0" indent="0" algn="ctr">
              <a:buNone/>
            </a:pPr>
            <a:r>
              <a:rPr lang="en-US" sz="1200" dirty="0">
                <a:solidFill>
                  <a:schemeClr val="accent5"/>
                </a:solidFill>
              </a:rPr>
              <a:t>Phone / Laptop</a:t>
            </a:r>
            <a:endParaRPr lang="en-US" sz="1200" dirty="0"/>
          </a:p>
        </p:txBody>
      </p:sp>
      <p:sp>
        <p:nvSpPr>
          <p:cNvPr id="8" name="Main ESP32"/>
          <p:cNvSpPr/>
          <p:nvPr/>
        </p:nvSpPr>
        <p:spPr>
          <a:xfrm>
            <a:off x="2651760" y="1371600"/>
            <a:ext cx="1645920" cy="822960"/>
          </a:xfrm>
          <a:prstGeom prst="roundRect">
            <a:avLst>
              <a:gd name="adj" fmla="val 13333"/>
            </a:avLst>
          </a:prstGeom>
          <a:solidFill>
            <a:schemeClr val="accent1"/>
          </a:solidFill>
          <a:ln w="19050">
            <a:solidFill>
              <a:schemeClr val="accent1"/>
            </a:solidFill>
            <a:prstDash val="solid"/>
          </a:ln>
        </p:spPr>
        <p:txBody>
          <a:bodyPr/>
          <a:lstStyle/>
          <a:p>
            <a:endParaRPr lang="en-US"/>
          </a:p>
        </p:txBody>
      </p:sp>
      <p:sp>
        <p:nvSpPr>
          <p:cNvPr id="9" name="Text 6"/>
          <p:cNvSpPr txBox="1"/>
          <p:nvPr/>
        </p:nvSpPr>
        <p:spPr>
          <a:xfrm>
            <a:off x="2651760" y="1463040"/>
            <a:ext cx="1645920" cy="365760"/>
          </a:xfrm>
          <a:prstGeom prst="rect">
            <a:avLst/>
          </a:prstGeom>
          <a:noFill/>
          <a:ln/>
        </p:spPr>
        <p:txBody>
          <a:bodyPr wrap="square" lIns="0" tIns="0" rIns="0" bIns="0" rtlCol="0" anchor="ctr"/>
          <a:lstStyle/>
          <a:p>
            <a:pPr marL="0" indent="0" algn="ctr">
              <a:buNone/>
            </a:pPr>
            <a:r>
              <a:rPr lang="en-US" sz="1500" b="1" dirty="0">
                <a:solidFill>
                  <a:schemeClr val="bg1"/>
                </a:solidFill>
              </a:rPr>
              <a:t>Main ESP32</a:t>
            </a:r>
            <a:endParaRPr lang="en-US" sz="1500" dirty="0"/>
          </a:p>
        </p:txBody>
      </p:sp>
      <p:sp>
        <p:nvSpPr>
          <p:cNvPr id="10" name="Text 7"/>
          <p:cNvSpPr txBox="1"/>
          <p:nvPr/>
        </p:nvSpPr>
        <p:spPr>
          <a:xfrm>
            <a:off x="2651760" y="1810512"/>
            <a:ext cx="1645920" cy="274320"/>
          </a:xfrm>
          <a:prstGeom prst="rect">
            <a:avLst/>
          </a:prstGeom>
          <a:noFill/>
          <a:ln/>
        </p:spPr>
        <p:txBody>
          <a:bodyPr wrap="square" lIns="0" tIns="0" rIns="0" bIns="0" rtlCol="0" anchor="ctr"/>
          <a:lstStyle/>
          <a:p>
            <a:pPr marL="0" indent="0" algn="ctr">
              <a:buNone/>
            </a:pPr>
            <a:r>
              <a:rPr lang="en-US" sz="1200" dirty="0">
                <a:solidFill>
                  <a:schemeClr val="bg1"/>
                </a:solidFill>
              </a:rPr>
              <a:t>Access Point</a:t>
            </a:r>
            <a:endParaRPr lang="en-US" sz="1200" dirty="0"/>
          </a:p>
        </p:txBody>
      </p:sp>
      <p:sp>
        <p:nvSpPr>
          <p:cNvPr id="11" name="ESP32-CAM"/>
          <p:cNvSpPr/>
          <p:nvPr/>
        </p:nvSpPr>
        <p:spPr>
          <a:xfrm>
            <a:off x="4846320" y="1371600"/>
            <a:ext cx="1645920" cy="822960"/>
          </a:xfrm>
          <a:prstGeom prst="roundRect">
            <a:avLst>
              <a:gd name="adj" fmla="val 13333"/>
            </a:avLst>
          </a:prstGeom>
          <a:solidFill>
            <a:schemeClr val="tx2"/>
          </a:solidFill>
          <a:ln w="19050">
            <a:solidFill>
              <a:schemeClr val="accent2"/>
            </a:solidFill>
            <a:prstDash val="solid"/>
          </a:ln>
        </p:spPr>
        <p:txBody>
          <a:bodyPr/>
          <a:lstStyle/>
          <a:p>
            <a:endParaRPr lang="en-US"/>
          </a:p>
        </p:txBody>
      </p:sp>
      <p:sp>
        <p:nvSpPr>
          <p:cNvPr id="12" name="Text 9"/>
          <p:cNvSpPr txBox="1"/>
          <p:nvPr/>
        </p:nvSpPr>
        <p:spPr>
          <a:xfrm>
            <a:off x="4846320" y="1463040"/>
            <a:ext cx="1645920" cy="365760"/>
          </a:xfrm>
          <a:prstGeom prst="rect">
            <a:avLst/>
          </a:prstGeom>
          <a:noFill/>
          <a:ln/>
        </p:spPr>
        <p:txBody>
          <a:bodyPr wrap="square" lIns="0" tIns="0" rIns="0" bIns="0" rtlCol="0" anchor="ctr"/>
          <a:lstStyle/>
          <a:p>
            <a:pPr marL="0" indent="0" algn="ctr">
              <a:buNone/>
            </a:pPr>
            <a:r>
              <a:rPr lang="en-US" sz="1500" b="1" dirty="0">
                <a:solidFill>
                  <a:schemeClr val="bg1"/>
                </a:solidFill>
              </a:rPr>
              <a:t>ESP32-CAM</a:t>
            </a:r>
            <a:endParaRPr lang="en-US" sz="1500" dirty="0"/>
          </a:p>
        </p:txBody>
      </p:sp>
      <p:sp>
        <p:nvSpPr>
          <p:cNvPr id="13" name="Text 10"/>
          <p:cNvSpPr txBox="1"/>
          <p:nvPr/>
        </p:nvSpPr>
        <p:spPr>
          <a:xfrm>
            <a:off x="4846320" y="1810512"/>
            <a:ext cx="1645920" cy="274320"/>
          </a:xfrm>
          <a:prstGeom prst="rect">
            <a:avLst/>
          </a:prstGeom>
          <a:noFill/>
          <a:ln/>
        </p:spPr>
        <p:txBody>
          <a:bodyPr wrap="square" lIns="0" tIns="0" rIns="0" bIns="0" rtlCol="0" anchor="ctr"/>
          <a:lstStyle/>
          <a:p>
            <a:pPr marL="0" indent="0" algn="ctr">
              <a:buNone/>
            </a:pPr>
            <a:r>
              <a:rPr lang="en-US" sz="1200" dirty="0">
                <a:solidFill>
                  <a:schemeClr val="accent5"/>
                </a:solidFill>
              </a:rPr>
              <a:t>AI-Thinker</a:t>
            </a:r>
            <a:endParaRPr lang="en-US" sz="1200" dirty="0"/>
          </a:p>
        </p:txBody>
      </p:sp>
      <p:sp>
        <p:nvSpPr>
          <p:cNvPr id="14" name="Laptop"/>
          <p:cNvSpPr/>
          <p:nvPr/>
        </p:nvSpPr>
        <p:spPr>
          <a:xfrm>
            <a:off x="7040880" y="1371600"/>
            <a:ext cx="1645920" cy="822960"/>
          </a:xfrm>
          <a:prstGeom prst="roundRect">
            <a:avLst>
              <a:gd name="adj" fmla="val 13333"/>
            </a:avLst>
          </a:prstGeom>
          <a:solidFill>
            <a:schemeClr val="tx2"/>
          </a:solidFill>
          <a:ln w="19050">
            <a:solidFill>
              <a:schemeClr val="accent2"/>
            </a:solidFill>
            <a:prstDash val="solid"/>
          </a:ln>
        </p:spPr>
        <p:txBody>
          <a:bodyPr/>
          <a:lstStyle/>
          <a:p>
            <a:endParaRPr lang="en-US"/>
          </a:p>
        </p:txBody>
      </p:sp>
      <p:sp>
        <p:nvSpPr>
          <p:cNvPr id="15" name="Text 12"/>
          <p:cNvSpPr txBox="1"/>
          <p:nvPr/>
        </p:nvSpPr>
        <p:spPr>
          <a:xfrm>
            <a:off x="7040880" y="1463040"/>
            <a:ext cx="1645920" cy="365760"/>
          </a:xfrm>
          <a:prstGeom prst="rect">
            <a:avLst/>
          </a:prstGeom>
          <a:noFill/>
          <a:ln/>
        </p:spPr>
        <p:txBody>
          <a:bodyPr wrap="square" lIns="0" tIns="0" rIns="0" bIns="0" rtlCol="0" anchor="ctr"/>
          <a:lstStyle/>
          <a:p>
            <a:pPr marL="0" indent="0" algn="ctr">
              <a:buNone/>
            </a:pPr>
            <a:r>
              <a:rPr lang="en-US" sz="1500" b="1" dirty="0">
                <a:solidFill>
                  <a:schemeClr val="bg1"/>
                </a:solidFill>
              </a:rPr>
              <a:t>Laptop</a:t>
            </a:r>
            <a:endParaRPr lang="en-US" sz="1500" dirty="0"/>
          </a:p>
        </p:txBody>
      </p:sp>
      <p:sp>
        <p:nvSpPr>
          <p:cNvPr id="16" name="Text 13"/>
          <p:cNvSpPr txBox="1"/>
          <p:nvPr/>
        </p:nvSpPr>
        <p:spPr>
          <a:xfrm>
            <a:off x="7040880" y="1810512"/>
            <a:ext cx="1645920" cy="274320"/>
          </a:xfrm>
          <a:prstGeom prst="rect">
            <a:avLst/>
          </a:prstGeom>
          <a:noFill/>
          <a:ln/>
        </p:spPr>
        <p:txBody>
          <a:bodyPr wrap="square" lIns="0" tIns="0" rIns="0" bIns="0" rtlCol="0" anchor="ctr"/>
          <a:lstStyle/>
          <a:p>
            <a:pPr marL="0" indent="0" algn="ctr">
              <a:buNone/>
            </a:pPr>
            <a:r>
              <a:rPr lang="en-US" sz="1200" dirty="0">
                <a:solidFill>
                  <a:schemeClr val="accent5"/>
                </a:solidFill>
              </a:rPr>
              <a:t>Edge Impulse</a:t>
            </a:r>
            <a:endParaRPr lang="en-US" sz="1200" dirty="0"/>
          </a:p>
        </p:txBody>
      </p:sp>
      <p:sp>
        <p:nvSpPr>
          <p:cNvPr id="17" name="Shape 14"/>
          <p:cNvSpPr/>
          <p:nvPr/>
        </p:nvSpPr>
        <p:spPr>
          <a:xfrm>
            <a:off x="2103120" y="1783080"/>
            <a:ext cx="548640" cy="0"/>
          </a:xfrm>
          <a:prstGeom prst="line">
            <a:avLst/>
          </a:prstGeom>
          <a:noFill/>
          <a:ln w="25400">
            <a:solidFill>
              <a:schemeClr val="accent2"/>
            </a:solidFill>
            <a:prstDash val="solid"/>
            <a:headEnd type="triangle"/>
            <a:tailEnd type="triangle"/>
          </a:ln>
        </p:spPr>
        <p:txBody>
          <a:bodyPr/>
          <a:lstStyle/>
          <a:p>
            <a:endParaRPr lang="en-US"/>
          </a:p>
        </p:txBody>
      </p:sp>
      <p:sp>
        <p:nvSpPr>
          <p:cNvPr id="18" name="Shape 15"/>
          <p:cNvSpPr/>
          <p:nvPr/>
        </p:nvSpPr>
        <p:spPr>
          <a:xfrm>
            <a:off x="4297680" y="1783080"/>
            <a:ext cx="548640" cy="0"/>
          </a:xfrm>
          <a:prstGeom prst="line">
            <a:avLst/>
          </a:prstGeom>
          <a:noFill/>
          <a:ln w="25400">
            <a:solidFill>
              <a:schemeClr val="accent2"/>
            </a:solidFill>
            <a:prstDash val="solid"/>
            <a:headEnd type="triangle"/>
            <a:tailEnd type="triangle"/>
          </a:ln>
        </p:spPr>
        <p:txBody>
          <a:bodyPr/>
          <a:lstStyle/>
          <a:p>
            <a:endParaRPr lang="en-US"/>
          </a:p>
        </p:txBody>
      </p:sp>
      <p:sp>
        <p:nvSpPr>
          <p:cNvPr id="19" name="Shape 16"/>
          <p:cNvSpPr/>
          <p:nvPr/>
        </p:nvSpPr>
        <p:spPr>
          <a:xfrm>
            <a:off x="6492240" y="1783080"/>
            <a:ext cx="548640" cy="0"/>
          </a:xfrm>
          <a:prstGeom prst="line">
            <a:avLst/>
          </a:prstGeom>
          <a:noFill/>
          <a:ln w="25400">
            <a:solidFill>
              <a:schemeClr val="accent2"/>
            </a:solidFill>
            <a:prstDash val="solid"/>
            <a:headEnd type="triangle"/>
            <a:tailEnd type="triangle"/>
          </a:ln>
        </p:spPr>
        <p:txBody>
          <a:bodyPr/>
          <a:lstStyle/>
          <a:p>
            <a:endParaRPr lang="en-US"/>
          </a:p>
        </p:txBody>
      </p:sp>
      <p:sp>
        <p:nvSpPr>
          <p:cNvPr id="20" name="Text 17"/>
          <p:cNvSpPr txBox="1"/>
          <p:nvPr/>
        </p:nvSpPr>
        <p:spPr>
          <a:xfrm>
            <a:off x="1645920" y="2286000"/>
            <a:ext cx="1463040" cy="411480"/>
          </a:xfrm>
          <a:prstGeom prst="rect">
            <a:avLst/>
          </a:prstGeom>
          <a:noFill/>
          <a:ln/>
        </p:spPr>
        <p:txBody>
          <a:bodyPr wrap="square" lIns="0" tIns="0" rIns="0" bIns="0" rtlCol="0" anchor="t"/>
          <a:lstStyle/>
          <a:p>
            <a:pPr marL="0" indent="0" algn="ctr">
              <a:buNone/>
            </a:pPr>
            <a:r>
              <a:rPr lang="en-US" sz="1200" dirty="0">
                <a:solidFill>
                  <a:schemeClr val="accent2"/>
                </a:solidFill>
              </a:rPr>
              <a:t>WebSocket :81 + HTTP :80</a:t>
            </a:r>
            <a:endParaRPr lang="en-US" sz="1200" dirty="0"/>
          </a:p>
        </p:txBody>
      </p:sp>
      <p:sp>
        <p:nvSpPr>
          <p:cNvPr id="21" name="Text 18"/>
          <p:cNvSpPr txBox="1"/>
          <p:nvPr/>
        </p:nvSpPr>
        <p:spPr>
          <a:xfrm>
            <a:off x="3840480" y="2286000"/>
            <a:ext cx="1463040" cy="411480"/>
          </a:xfrm>
          <a:prstGeom prst="rect">
            <a:avLst/>
          </a:prstGeom>
          <a:noFill/>
          <a:ln/>
        </p:spPr>
        <p:txBody>
          <a:bodyPr wrap="square" lIns="0" tIns="0" rIns="0" bIns="0" rtlCol="0" anchor="t"/>
          <a:lstStyle/>
          <a:p>
            <a:pPr marL="0" indent="0" algn="ctr">
              <a:buNone/>
            </a:pPr>
            <a:r>
              <a:rPr lang="en-US" sz="1200" dirty="0">
                <a:solidFill>
                  <a:schemeClr val="accent2"/>
                </a:solidFill>
              </a:rPr>
              <a:t>UART 115200</a:t>
            </a:r>
            <a:endParaRPr lang="en-US" sz="1200" dirty="0"/>
          </a:p>
        </p:txBody>
      </p:sp>
      <p:sp>
        <p:nvSpPr>
          <p:cNvPr id="22" name="Text 19"/>
          <p:cNvSpPr txBox="1"/>
          <p:nvPr/>
        </p:nvSpPr>
        <p:spPr>
          <a:xfrm>
            <a:off x="6035040" y="2286000"/>
            <a:ext cx="1463040" cy="411480"/>
          </a:xfrm>
          <a:prstGeom prst="rect">
            <a:avLst/>
          </a:prstGeom>
          <a:noFill/>
          <a:ln/>
        </p:spPr>
        <p:txBody>
          <a:bodyPr wrap="square" lIns="0" tIns="0" rIns="0" bIns="0" rtlCol="0" anchor="t"/>
          <a:lstStyle/>
          <a:p>
            <a:pPr marL="0" indent="0" algn="ctr">
              <a:buNone/>
            </a:pPr>
            <a:r>
              <a:rPr lang="en-US" sz="1200" dirty="0">
                <a:solidFill>
                  <a:schemeClr val="accent2"/>
                </a:solidFill>
              </a:rPr>
              <a:t>Wi-Fi  /capture</a:t>
            </a:r>
            <a:endParaRPr lang="en-US" sz="1200" dirty="0"/>
          </a:p>
        </p:txBody>
      </p:sp>
      <p:sp>
        <p:nvSpPr>
          <p:cNvPr id="23" name="Shape 20"/>
          <p:cNvSpPr/>
          <p:nvPr/>
        </p:nvSpPr>
        <p:spPr>
          <a:xfrm flipH="1">
            <a:off x="7863840" y="2194560"/>
            <a:ext cx="0" cy="960120"/>
          </a:xfrm>
          <a:prstGeom prst="line">
            <a:avLst/>
          </a:prstGeom>
          <a:noFill/>
          <a:ln w="25400">
            <a:solidFill>
              <a:schemeClr val="accent6"/>
            </a:solidFill>
            <a:prstDash val="solid"/>
          </a:ln>
        </p:spPr>
        <p:txBody>
          <a:bodyPr/>
          <a:lstStyle/>
          <a:p>
            <a:endParaRPr lang="en-US"/>
          </a:p>
        </p:txBody>
      </p:sp>
      <p:sp>
        <p:nvSpPr>
          <p:cNvPr id="24" name="Shape 21"/>
          <p:cNvSpPr/>
          <p:nvPr/>
        </p:nvSpPr>
        <p:spPr>
          <a:xfrm flipH="1">
            <a:off x="3474720" y="3154680"/>
            <a:ext cx="4389120" cy="0"/>
          </a:xfrm>
          <a:prstGeom prst="line">
            <a:avLst/>
          </a:prstGeom>
          <a:noFill/>
          <a:ln w="25400">
            <a:solidFill>
              <a:schemeClr val="accent6"/>
            </a:solidFill>
            <a:prstDash val="solid"/>
          </a:ln>
        </p:spPr>
        <p:txBody>
          <a:bodyPr/>
          <a:lstStyle/>
          <a:p>
            <a:endParaRPr lang="en-US"/>
          </a:p>
        </p:txBody>
      </p:sp>
      <p:sp>
        <p:nvSpPr>
          <p:cNvPr id="25" name="Shape 22"/>
          <p:cNvSpPr/>
          <p:nvPr/>
        </p:nvSpPr>
        <p:spPr>
          <a:xfrm flipH="1" flipV="1">
            <a:off x="3474720" y="2194560"/>
            <a:ext cx="0" cy="960120"/>
          </a:xfrm>
          <a:prstGeom prst="line">
            <a:avLst/>
          </a:prstGeom>
          <a:noFill/>
          <a:ln w="25400">
            <a:solidFill>
              <a:schemeClr val="accent6"/>
            </a:solidFill>
            <a:prstDash val="solid"/>
            <a:tailEnd type="triangle"/>
          </a:ln>
        </p:spPr>
        <p:txBody>
          <a:bodyPr/>
          <a:lstStyle/>
          <a:p>
            <a:endParaRPr lang="en-US"/>
          </a:p>
        </p:txBody>
      </p:sp>
      <p:sp>
        <p:nvSpPr>
          <p:cNvPr id="26" name="Text 23"/>
          <p:cNvSpPr txBox="1"/>
          <p:nvPr/>
        </p:nvSpPr>
        <p:spPr>
          <a:xfrm>
            <a:off x="3657600" y="3218688"/>
            <a:ext cx="4023360" cy="274320"/>
          </a:xfrm>
          <a:prstGeom prst="rect">
            <a:avLst/>
          </a:prstGeom>
          <a:noFill/>
          <a:ln/>
        </p:spPr>
        <p:txBody>
          <a:bodyPr wrap="square" lIns="0" tIns="0" rIns="0" bIns="0" rtlCol="0" anchor="t"/>
          <a:lstStyle/>
          <a:p>
            <a:pPr marL="0" indent="0" algn="ctr">
              <a:buNone/>
            </a:pPr>
            <a:r>
              <a:rPr lang="en-US" sz="1300" dirty="0">
                <a:solidFill>
                  <a:schemeClr val="accent6"/>
                </a:solidFill>
              </a:rPr>
              <a:t>Laptop → robot:  GET /detection</a:t>
            </a:r>
            <a:endParaRPr lang="en-US" sz="1300" dirty="0"/>
          </a:p>
        </p:txBody>
      </p:sp>
      <p:sp>
        <p:nvSpPr>
          <p:cNvPr id="27" name="Text 24"/>
          <p:cNvSpPr txBox="1"/>
          <p:nvPr/>
        </p:nvSpPr>
        <p:spPr>
          <a:xfrm>
            <a:off x="457200" y="3657600"/>
            <a:ext cx="4572000" cy="274320"/>
          </a:xfrm>
          <a:prstGeom prst="rect">
            <a:avLst/>
          </a:prstGeom>
          <a:noFill/>
          <a:ln/>
        </p:spPr>
        <p:txBody>
          <a:bodyPr wrap="square" lIns="0" tIns="0" rIns="0" bIns="0" rtlCol="0" anchor="t"/>
          <a:lstStyle/>
          <a:p>
            <a:pPr marL="0" indent="0" algn="l">
              <a:buNone/>
            </a:pPr>
            <a:r>
              <a:rPr lang="en-US" sz="1400" b="1" dirty="0">
                <a:solidFill>
                  <a:schemeClr val="accent2"/>
                </a:solidFill>
              </a:rPr>
              <a:t>The Main ESP32 directly drives:</a:t>
            </a:r>
            <a:endParaRPr lang="en-US" sz="1400" dirty="0"/>
          </a:p>
        </p:txBody>
      </p:sp>
      <p:sp>
        <p:nvSpPr>
          <p:cNvPr id="28" name="pill"/>
          <p:cNvSpPr/>
          <p:nvPr/>
        </p:nvSpPr>
        <p:spPr>
          <a:xfrm>
            <a:off x="457200" y="4023360"/>
            <a:ext cx="2560320" cy="457200"/>
          </a:xfrm>
          <a:prstGeom prst="roundRect">
            <a:avLst>
              <a:gd name="adj" fmla="val 50000"/>
            </a:avLst>
          </a:prstGeom>
          <a:solidFill>
            <a:schemeClr val="accent4"/>
          </a:solidFill>
          <a:ln w="12700">
            <a:solidFill>
              <a:schemeClr val="accent4"/>
            </a:solidFill>
            <a:prstDash val="solid"/>
          </a:ln>
        </p:spPr>
        <p:txBody>
          <a:bodyPr/>
          <a:lstStyle/>
          <a:p>
            <a:endParaRPr lang="en-US"/>
          </a:p>
        </p:txBody>
      </p:sp>
      <p:sp>
        <p:nvSpPr>
          <p:cNvPr id="29" name="Text 26"/>
          <p:cNvSpPr txBox="1"/>
          <p:nvPr/>
        </p:nvSpPr>
        <p:spPr>
          <a:xfrm>
            <a:off x="457200" y="4023360"/>
            <a:ext cx="2560320" cy="457200"/>
          </a:xfrm>
          <a:prstGeom prst="rect">
            <a:avLst/>
          </a:prstGeom>
          <a:noFill/>
          <a:ln/>
        </p:spPr>
        <p:txBody>
          <a:bodyPr wrap="square" lIns="0" tIns="0" rIns="0" bIns="0" rtlCol="0" anchor="ctr"/>
          <a:lstStyle/>
          <a:p>
            <a:pPr marL="0" indent="0" algn="ctr">
              <a:buNone/>
            </a:pPr>
            <a:r>
              <a:rPr lang="en-US" sz="1400" b="1" dirty="0">
                <a:solidFill>
                  <a:schemeClr val="bg1"/>
                </a:solidFill>
              </a:rPr>
              <a:t>4 motors (H-Bridge)</a:t>
            </a:r>
            <a:endParaRPr lang="en-US" sz="1400" dirty="0"/>
          </a:p>
        </p:txBody>
      </p:sp>
      <p:sp>
        <p:nvSpPr>
          <p:cNvPr id="30" name="pill"/>
          <p:cNvSpPr/>
          <p:nvPr/>
        </p:nvSpPr>
        <p:spPr>
          <a:xfrm>
            <a:off x="3291840" y="4023360"/>
            <a:ext cx="2560320" cy="457200"/>
          </a:xfrm>
          <a:prstGeom prst="roundRect">
            <a:avLst>
              <a:gd name="adj" fmla="val 50000"/>
            </a:avLst>
          </a:prstGeom>
          <a:solidFill>
            <a:schemeClr val="accent4"/>
          </a:solidFill>
          <a:ln w="12700">
            <a:solidFill>
              <a:schemeClr val="accent4"/>
            </a:solidFill>
            <a:prstDash val="solid"/>
          </a:ln>
        </p:spPr>
        <p:txBody>
          <a:bodyPr/>
          <a:lstStyle/>
          <a:p>
            <a:endParaRPr lang="en-US"/>
          </a:p>
        </p:txBody>
      </p:sp>
      <p:sp>
        <p:nvSpPr>
          <p:cNvPr id="31" name="Text 28"/>
          <p:cNvSpPr txBox="1"/>
          <p:nvPr/>
        </p:nvSpPr>
        <p:spPr>
          <a:xfrm>
            <a:off x="3291840" y="4023360"/>
            <a:ext cx="2560320" cy="457200"/>
          </a:xfrm>
          <a:prstGeom prst="rect">
            <a:avLst/>
          </a:prstGeom>
          <a:noFill/>
          <a:ln/>
        </p:spPr>
        <p:txBody>
          <a:bodyPr wrap="square" lIns="0" tIns="0" rIns="0" bIns="0" rtlCol="0" anchor="ctr"/>
          <a:lstStyle/>
          <a:p>
            <a:pPr marL="0" indent="0" algn="ctr">
              <a:buNone/>
            </a:pPr>
            <a:r>
              <a:rPr lang="en-US" sz="1400" b="1" dirty="0">
                <a:solidFill>
                  <a:schemeClr val="bg1"/>
                </a:solidFill>
              </a:rPr>
              <a:t>Gripper (servo)</a:t>
            </a:r>
            <a:endParaRPr lang="en-US" sz="1400" dirty="0"/>
          </a:p>
        </p:txBody>
      </p:sp>
      <p:sp>
        <p:nvSpPr>
          <p:cNvPr id="32" name="pill"/>
          <p:cNvSpPr/>
          <p:nvPr/>
        </p:nvSpPr>
        <p:spPr>
          <a:xfrm>
            <a:off x="6126480" y="4023360"/>
            <a:ext cx="2560320" cy="457200"/>
          </a:xfrm>
          <a:prstGeom prst="roundRect">
            <a:avLst>
              <a:gd name="adj" fmla="val 50000"/>
            </a:avLst>
          </a:prstGeom>
          <a:solidFill>
            <a:schemeClr val="accent4"/>
          </a:solidFill>
          <a:ln w="12700">
            <a:solidFill>
              <a:schemeClr val="accent4"/>
            </a:solidFill>
            <a:prstDash val="solid"/>
          </a:ln>
        </p:spPr>
        <p:txBody>
          <a:bodyPr/>
          <a:lstStyle/>
          <a:p>
            <a:endParaRPr lang="en-US"/>
          </a:p>
        </p:txBody>
      </p:sp>
      <p:sp>
        <p:nvSpPr>
          <p:cNvPr id="33" name="Text 30"/>
          <p:cNvSpPr txBox="1"/>
          <p:nvPr/>
        </p:nvSpPr>
        <p:spPr>
          <a:xfrm>
            <a:off x="6126480" y="4023360"/>
            <a:ext cx="2560320" cy="457200"/>
          </a:xfrm>
          <a:prstGeom prst="rect">
            <a:avLst/>
          </a:prstGeom>
          <a:noFill/>
          <a:ln/>
        </p:spPr>
        <p:txBody>
          <a:bodyPr wrap="square" lIns="0" tIns="0" rIns="0" bIns="0" rtlCol="0" anchor="ctr"/>
          <a:lstStyle/>
          <a:p>
            <a:pPr marL="0" indent="0" algn="ctr">
              <a:buNone/>
            </a:pPr>
            <a:r>
              <a:rPr lang="en-US" sz="1400" b="1" dirty="0">
                <a:solidFill>
                  <a:schemeClr val="bg1"/>
                </a:solidFill>
              </a:rPr>
              <a:t>4 ultrasonic sensors</a:t>
            </a:r>
            <a:endParaRPr lang="en-US" sz="1400" dirty="0"/>
          </a:p>
        </p:txBody>
      </p:sp>
      <p:sp>
        <p:nvSpPr>
          <p:cNvPr id="34"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Network &amp; Connectivity</a:t>
            </a:r>
            <a:endParaRPr lang="en-US" sz="3400" dirty="0"/>
          </a:p>
        </p:txBody>
      </p:sp>
      <p:sp>
        <p:nvSpPr>
          <p:cNvPr id="3" name="icon-bg FaWifi"/>
          <p:cNvSpPr/>
          <p:nvPr/>
        </p:nvSpPr>
        <p:spPr>
          <a:xfrm>
            <a:off x="457200" y="320040"/>
            <a:ext cx="685800" cy="68580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Wifi"/>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1920240" cy="1371600"/>
          </a:xfrm>
          <a:prstGeom prst="roundRect">
            <a:avLst>
              <a:gd name="adj" fmla="val 8000"/>
            </a:avLst>
          </a:prstGeom>
          <a:solidFill>
            <a:schemeClr val="tx2"/>
          </a:solidFill>
          <a:ln w="12700">
            <a:solidFill>
              <a:schemeClr val="accent4"/>
            </a:solidFill>
            <a:prstDash val="solid"/>
          </a:ln>
        </p:spPr>
        <p:txBody>
          <a:bodyPr/>
          <a:lstStyle/>
          <a:p>
            <a:endParaRPr lang="en-US"/>
          </a:p>
        </p:txBody>
      </p:sp>
      <p:sp>
        <p:nvSpPr>
          <p:cNvPr id="6" name="Text 3"/>
          <p:cNvSpPr txBox="1"/>
          <p:nvPr/>
        </p:nvSpPr>
        <p:spPr>
          <a:xfrm>
            <a:off x="548640" y="1435608"/>
            <a:ext cx="1737360" cy="685800"/>
          </a:xfrm>
          <a:prstGeom prst="rect">
            <a:avLst/>
          </a:prstGeom>
          <a:noFill/>
          <a:ln/>
        </p:spPr>
        <p:txBody>
          <a:bodyPr wrap="square" lIns="0" tIns="0" rIns="0" bIns="0" rtlCol="0" anchor="ctr"/>
          <a:lstStyle/>
          <a:p>
            <a:pPr marL="0" indent="0" algn="l">
              <a:buNone/>
            </a:pPr>
            <a:r>
              <a:rPr lang="en-US" sz="4400" b="1" dirty="0">
                <a:solidFill>
                  <a:schemeClr val="accent2"/>
                </a:solidFill>
              </a:rPr>
              <a:t>6</a:t>
            </a:r>
            <a:endParaRPr lang="en-US" sz="4400" dirty="0"/>
          </a:p>
        </p:txBody>
      </p:sp>
      <p:sp>
        <p:nvSpPr>
          <p:cNvPr id="7" name="Text 4"/>
          <p:cNvSpPr txBox="1"/>
          <p:nvPr/>
        </p:nvSpPr>
        <p:spPr>
          <a:xfrm>
            <a:off x="594360" y="2121408"/>
            <a:ext cx="1645920" cy="493776"/>
          </a:xfrm>
          <a:prstGeom prst="rect">
            <a:avLst/>
          </a:prstGeom>
          <a:noFill/>
          <a:ln/>
        </p:spPr>
        <p:txBody>
          <a:bodyPr wrap="square" lIns="0" tIns="0" rIns="0" bIns="0" rtlCol="0" anchor="t"/>
          <a:lstStyle/>
          <a:p>
            <a:pPr marL="0" indent="0" algn="l">
              <a:buNone/>
            </a:pPr>
            <a:r>
              <a:rPr lang="en-US" sz="1400" dirty="0">
                <a:solidFill>
                  <a:schemeClr val="bg1"/>
                </a:solidFill>
              </a:rPr>
              <a:t>Wi-Fi channel</a:t>
            </a:r>
            <a:endParaRPr lang="en-US" sz="1400" dirty="0"/>
          </a:p>
        </p:txBody>
      </p:sp>
      <p:sp>
        <p:nvSpPr>
          <p:cNvPr id="8" name="card"/>
          <p:cNvSpPr/>
          <p:nvPr/>
        </p:nvSpPr>
        <p:spPr>
          <a:xfrm>
            <a:off x="2560320" y="1325880"/>
            <a:ext cx="1920240" cy="1371600"/>
          </a:xfrm>
          <a:prstGeom prst="roundRect">
            <a:avLst>
              <a:gd name="adj" fmla="val 8000"/>
            </a:avLst>
          </a:prstGeom>
          <a:solidFill>
            <a:schemeClr val="tx2"/>
          </a:solidFill>
          <a:ln w="12700">
            <a:solidFill>
              <a:schemeClr val="accent4"/>
            </a:solidFill>
            <a:prstDash val="solid"/>
          </a:ln>
        </p:spPr>
        <p:txBody>
          <a:bodyPr/>
          <a:lstStyle/>
          <a:p>
            <a:endParaRPr lang="en-US"/>
          </a:p>
        </p:txBody>
      </p:sp>
      <p:sp>
        <p:nvSpPr>
          <p:cNvPr id="9" name="Text 6"/>
          <p:cNvSpPr txBox="1"/>
          <p:nvPr/>
        </p:nvSpPr>
        <p:spPr>
          <a:xfrm>
            <a:off x="2651760" y="1435608"/>
            <a:ext cx="1737360" cy="685800"/>
          </a:xfrm>
          <a:prstGeom prst="rect">
            <a:avLst/>
          </a:prstGeom>
          <a:noFill/>
          <a:ln/>
        </p:spPr>
        <p:txBody>
          <a:bodyPr wrap="square" lIns="0" tIns="0" rIns="0" bIns="0" rtlCol="0" anchor="ctr"/>
          <a:lstStyle/>
          <a:p>
            <a:pPr marL="0" indent="0" algn="l">
              <a:buNone/>
            </a:pPr>
            <a:r>
              <a:rPr lang="en-US" sz="4400" b="1" dirty="0">
                <a:solidFill>
                  <a:schemeClr val="accent1"/>
                </a:solidFill>
              </a:rPr>
              <a:t>81</a:t>
            </a:r>
            <a:endParaRPr lang="en-US" sz="4400" dirty="0"/>
          </a:p>
        </p:txBody>
      </p:sp>
      <p:sp>
        <p:nvSpPr>
          <p:cNvPr id="10" name="Text 7"/>
          <p:cNvSpPr txBox="1"/>
          <p:nvPr/>
        </p:nvSpPr>
        <p:spPr>
          <a:xfrm>
            <a:off x="2697480" y="2121408"/>
            <a:ext cx="1645920" cy="493776"/>
          </a:xfrm>
          <a:prstGeom prst="rect">
            <a:avLst/>
          </a:prstGeom>
          <a:noFill/>
          <a:ln/>
        </p:spPr>
        <p:txBody>
          <a:bodyPr wrap="square" lIns="0" tIns="0" rIns="0" bIns="0" rtlCol="0" anchor="t"/>
          <a:lstStyle/>
          <a:p>
            <a:pPr marL="0" indent="0" algn="l">
              <a:buNone/>
            </a:pPr>
            <a:r>
              <a:rPr lang="en-US" sz="1400" dirty="0">
                <a:solidFill>
                  <a:schemeClr val="bg1"/>
                </a:solidFill>
              </a:rPr>
              <a:t>WebSocket port</a:t>
            </a:r>
            <a:endParaRPr lang="en-US" sz="1400" dirty="0"/>
          </a:p>
        </p:txBody>
      </p:sp>
      <p:sp>
        <p:nvSpPr>
          <p:cNvPr id="11" name="card"/>
          <p:cNvSpPr/>
          <p:nvPr/>
        </p:nvSpPr>
        <p:spPr>
          <a:xfrm>
            <a:off x="4663440" y="1325880"/>
            <a:ext cx="1920240" cy="1371600"/>
          </a:xfrm>
          <a:prstGeom prst="roundRect">
            <a:avLst>
              <a:gd name="adj" fmla="val 8000"/>
            </a:avLst>
          </a:prstGeom>
          <a:solidFill>
            <a:schemeClr val="tx2"/>
          </a:solidFill>
          <a:ln w="12700">
            <a:solidFill>
              <a:schemeClr val="accent4"/>
            </a:solidFill>
            <a:prstDash val="solid"/>
          </a:ln>
        </p:spPr>
        <p:txBody>
          <a:bodyPr/>
          <a:lstStyle/>
          <a:p>
            <a:endParaRPr lang="en-US"/>
          </a:p>
        </p:txBody>
      </p:sp>
      <p:sp>
        <p:nvSpPr>
          <p:cNvPr id="12" name="Text 9"/>
          <p:cNvSpPr txBox="1"/>
          <p:nvPr/>
        </p:nvSpPr>
        <p:spPr>
          <a:xfrm>
            <a:off x="4754880" y="1435608"/>
            <a:ext cx="1737360" cy="685800"/>
          </a:xfrm>
          <a:prstGeom prst="rect">
            <a:avLst/>
          </a:prstGeom>
          <a:noFill/>
          <a:ln/>
        </p:spPr>
        <p:txBody>
          <a:bodyPr wrap="square" lIns="0" tIns="0" rIns="0" bIns="0" rtlCol="0" anchor="ctr"/>
          <a:lstStyle/>
          <a:p>
            <a:pPr marL="0" indent="0" algn="l">
              <a:buNone/>
            </a:pPr>
            <a:r>
              <a:rPr lang="en-US" sz="4400" b="1" dirty="0">
                <a:solidFill>
                  <a:schemeClr val="accent2"/>
                </a:solidFill>
              </a:rPr>
              <a:t>80</a:t>
            </a:r>
            <a:endParaRPr lang="en-US" sz="4400" dirty="0"/>
          </a:p>
        </p:txBody>
      </p:sp>
      <p:sp>
        <p:nvSpPr>
          <p:cNvPr id="13" name="Text 10"/>
          <p:cNvSpPr txBox="1"/>
          <p:nvPr/>
        </p:nvSpPr>
        <p:spPr>
          <a:xfrm>
            <a:off x="4800600" y="2121408"/>
            <a:ext cx="1645920" cy="493776"/>
          </a:xfrm>
          <a:prstGeom prst="rect">
            <a:avLst/>
          </a:prstGeom>
          <a:noFill/>
          <a:ln/>
        </p:spPr>
        <p:txBody>
          <a:bodyPr wrap="square" lIns="0" tIns="0" rIns="0" bIns="0" rtlCol="0" anchor="t"/>
          <a:lstStyle/>
          <a:p>
            <a:pPr marL="0" indent="0" algn="l">
              <a:buNone/>
            </a:pPr>
            <a:r>
              <a:rPr lang="en-US" sz="1400" dirty="0">
                <a:solidFill>
                  <a:schemeClr val="bg1"/>
                </a:solidFill>
              </a:rPr>
              <a:t>HTTP port</a:t>
            </a:r>
            <a:endParaRPr lang="en-US" sz="1400" dirty="0"/>
          </a:p>
        </p:txBody>
      </p:sp>
      <p:sp>
        <p:nvSpPr>
          <p:cNvPr id="14" name="card"/>
          <p:cNvSpPr/>
          <p:nvPr/>
        </p:nvSpPr>
        <p:spPr>
          <a:xfrm>
            <a:off x="6766560" y="1325880"/>
            <a:ext cx="1920240" cy="1371600"/>
          </a:xfrm>
          <a:prstGeom prst="roundRect">
            <a:avLst>
              <a:gd name="adj" fmla="val 8000"/>
            </a:avLst>
          </a:prstGeom>
          <a:solidFill>
            <a:schemeClr val="tx2"/>
          </a:solidFill>
          <a:ln w="12700">
            <a:solidFill>
              <a:schemeClr val="accent4"/>
            </a:solidFill>
            <a:prstDash val="solid"/>
          </a:ln>
        </p:spPr>
        <p:txBody>
          <a:bodyPr/>
          <a:lstStyle/>
          <a:p>
            <a:endParaRPr lang="en-US"/>
          </a:p>
        </p:txBody>
      </p:sp>
      <p:sp>
        <p:nvSpPr>
          <p:cNvPr id="15" name="Text 12"/>
          <p:cNvSpPr txBox="1"/>
          <p:nvPr/>
        </p:nvSpPr>
        <p:spPr>
          <a:xfrm>
            <a:off x="6858000" y="1435608"/>
            <a:ext cx="1737360" cy="685800"/>
          </a:xfrm>
          <a:prstGeom prst="rect">
            <a:avLst/>
          </a:prstGeom>
          <a:noFill/>
          <a:ln/>
        </p:spPr>
        <p:txBody>
          <a:bodyPr wrap="square" lIns="0" tIns="0" rIns="0" bIns="0" rtlCol="0" anchor="ctr"/>
          <a:lstStyle/>
          <a:p>
            <a:pPr marL="0" indent="0" algn="l">
              <a:buNone/>
            </a:pPr>
            <a:r>
              <a:rPr lang="en-US" sz="4400" b="1" dirty="0">
                <a:solidFill>
                  <a:schemeClr val="accent1"/>
                </a:solidFill>
              </a:rPr>
              <a:t>4</a:t>
            </a:r>
            <a:endParaRPr lang="en-US" sz="4400" dirty="0"/>
          </a:p>
        </p:txBody>
      </p:sp>
      <p:sp>
        <p:nvSpPr>
          <p:cNvPr id="16" name="Text 13"/>
          <p:cNvSpPr txBox="1"/>
          <p:nvPr/>
        </p:nvSpPr>
        <p:spPr>
          <a:xfrm>
            <a:off x="6903720" y="2121408"/>
            <a:ext cx="1645920" cy="493776"/>
          </a:xfrm>
          <a:prstGeom prst="rect">
            <a:avLst/>
          </a:prstGeom>
          <a:noFill/>
          <a:ln/>
        </p:spPr>
        <p:txBody>
          <a:bodyPr wrap="square" lIns="0" tIns="0" rIns="0" bIns="0" rtlCol="0" anchor="t"/>
          <a:lstStyle/>
          <a:p>
            <a:pPr marL="0" indent="0" algn="l">
              <a:buNone/>
            </a:pPr>
            <a:r>
              <a:rPr lang="en-US" sz="1400" dirty="0">
                <a:solidFill>
                  <a:schemeClr val="bg1"/>
                </a:solidFill>
              </a:rPr>
              <a:t>Max clients</a:t>
            </a:r>
            <a:endParaRPr lang="en-US" sz="1400" dirty="0"/>
          </a:p>
        </p:txBody>
      </p:sp>
      <p:sp>
        <p:nvSpPr>
          <p:cNvPr id="17" name="card"/>
          <p:cNvSpPr/>
          <p:nvPr/>
        </p:nvSpPr>
        <p:spPr>
          <a:xfrm>
            <a:off x="457200" y="2926080"/>
            <a:ext cx="8229600" cy="475488"/>
          </a:xfrm>
          <a:prstGeom prst="roundRect">
            <a:avLst>
              <a:gd name="adj" fmla="val 23077"/>
            </a:avLst>
          </a:prstGeom>
          <a:solidFill>
            <a:schemeClr val="tx2"/>
          </a:solidFill>
          <a:ln w="12700">
            <a:solidFill>
              <a:schemeClr val="accent4"/>
            </a:solidFill>
            <a:prstDash val="solid"/>
          </a:ln>
        </p:spPr>
        <p:txBody>
          <a:bodyPr/>
          <a:lstStyle/>
          <a:p>
            <a:endParaRPr lang="en-US"/>
          </a:p>
        </p:txBody>
      </p:sp>
      <p:sp>
        <p:nvSpPr>
          <p:cNvPr id="18" name="icon-bg FaNetworkWired"/>
          <p:cNvSpPr/>
          <p:nvPr/>
        </p:nvSpPr>
        <p:spPr>
          <a:xfrm>
            <a:off x="548640" y="2980944"/>
            <a:ext cx="365760" cy="365760"/>
          </a:xfrm>
          <a:prstGeom prst="ellipse">
            <a:avLst/>
          </a:prstGeom>
          <a:solidFill>
            <a:schemeClr val="accent1"/>
          </a:solidFill>
          <a:ln w="12700">
            <a:solidFill>
              <a:schemeClr val="accent1"/>
            </a:solidFill>
            <a:prstDash val="solid"/>
          </a:ln>
        </p:spPr>
        <p:txBody>
          <a:bodyPr/>
          <a:lstStyle/>
          <a:p>
            <a:endParaRPr lang="en-US"/>
          </a:p>
        </p:txBody>
      </p:sp>
      <p:pic>
        <p:nvPicPr>
          <p:cNvPr id="19" name="Image 1" descr="FaNetworkWired"/>
          <p:cNvPicPr>
            <a:picLocks noChangeAspect="1"/>
          </p:cNvPicPr>
          <p:nvPr/>
        </p:nvPicPr>
        <p:blipFill>
          <a:blip r:embed="rId4"/>
          <a:stretch>
            <a:fillRect/>
          </a:stretch>
        </p:blipFill>
        <p:spPr>
          <a:xfrm>
            <a:off x="640080" y="3072384"/>
            <a:ext cx="182880" cy="182880"/>
          </a:xfrm>
          <a:prstGeom prst="rect">
            <a:avLst/>
          </a:prstGeom>
        </p:spPr>
      </p:pic>
      <p:sp>
        <p:nvSpPr>
          <p:cNvPr id="20" name="Text 16"/>
          <p:cNvSpPr txBox="1"/>
          <p:nvPr/>
        </p:nvSpPr>
        <p:spPr>
          <a:xfrm>
            <a:off x="1097280" y="2926080"/>
            <a:ext cx="7406640" cy="475488"/>
          </a:xfrm>
          <a:prstGeom prst="rect">
            <a:avLst/>
          </a:prstGeom>
          <a:noFill/>
          <a:ln/>
        </p:spPr>
        <p:txBody>
          <a:bodyPr wrap="square" lIns="0" tIns="0" rIns="0" bIns="0" rtlCol="0" anchor="ctr"/>
          <a:lstStyle/>
          <a:p>
            <a:pPr marL="0" indent="0" algn="l">
              <a:buNone/>
            </a:pPr>
            <a:r>
              <a:rPr lang="en-US" sz="1400" dirty="0">
                <a:solidFill>
                  <a:schemeClr val="bg1"/>
                </a:solidFill>
              </a:rPr>
              <a:t>Fixed Access Point: SSID ESP32_Turbo at 192.168.4.1</a:t>
            </a:r>
            <a:endParaRPr lang="en-US" sz="1400" dirty="0"/>
          </a:p>
        </p:txBody>
      </p:sp>
      <p:sp>
        <p:nvSpPr>
          <p:cNvPr id="21" name="card"/>
          <p:cNvSpPr/>
          <p:nvPr/>
        </p:nvSpPr>
        <p:spPr>
          <a:xfrm>
            <a:off x="457200" y="3493008"/>
            <a:ext cx="8229600" cy="475488"/>
          </a:xfrm>
          <a:prstGeom prst="roundRect">
            <a:avLst>
              <a:gd name="adj" fmla="val 23077"/>
            </a:avLst>
          </a:prstGeom>
          <a:solidFill>
            <a:schemeClr val="tx2"/>
          </a:solidFill>
          <a:ln w="12700">
            <a:solidFill>
              <a:schemeClr val="accent4"/>
            </a:solidFill>
            <a:prstDash val="solid"/>
          </a:ln>
        </p:spPr>
        <p:txBody>
          <a:bodyPr/>
          <a:lstStyle/>
          <a:p>
            <a:endParaRPr lang="en-US"/>
          </a:p>
        </p:txBody>
      </p:sp>
      <p:sp>
        <p:nvSpPr>
          <p:cNvPr id="22" name="icon-bg FaBolt"/>
          <p:cNvSpPr/>
          <p:nvPr/>
        </p:nvSpPr>
        <p:spPr>
          <a:xfrm>
            <a:off x="548640" y="3547872"/>
            <a:ext cx="365760" cy="365760"/>
          </a:xfrm>
          <a:prstGeom prst="ellipse">
            <a:avLst/>
          </a:prstGeom>
          <a:solidFill>
            <a:schemeClr val="accent2"/>
          </a:solidFill>
          <a:ln w="12700">
            <a:solidFill>
              <a:schemeClr val="accent2"/>
            </a:solidFill>
            <a:prstDash val="solid"/>
          </a:ln>
        </p:spPr>
        <p:txBody>
          <a:bodyPr/>
          <a:lstStyle/>
          <a:p>
            <a:endParaRPr lang="en-US"/>
          </a:p>
        </p:txBody>
      </p:sp>
      <p:pic>
        <p:nvPicPr>
          <p:cNvPr id="23" name="Image 2" descr="FaBolt"/>
          <p:cNvPicPr>
            <a:picLocks noChangeAspect="1"/>
          </p:cNvPicPr>
          <p:nvPr/>
        </p:nvPicPr>
        <p:blipFill>
          <a:blip r:embed="rId5"/>
          <a:stretch>
            <a:fillRect/>
          </a:stretch>
        </p:blipFill>
        <p:spPr>
          <a:xfrm>
            <a:off x="640080" y="3639312"/>
            <a:ext cx="182880" cy="182880"/>
          </a:xfrm>
          <a:prstGeom prst="rect">
            <a:avLst/>
          </a:prstGeom>
        </p:spPr>
      </p:pic>
      <p:sp>
        <p:nvSpPr>
          <p:cNvPr id="24" name="Text 19"/>
          <p:cNvSpPr txBox="1"/>
          <p:nvPr/>
        </p:nvSpPr>
        <p:spPr>
          <a:xfrm>
            <a:off x="1097280" y="3493008"/>
            <a:ext cx="7406640" cy="475488"/>
          </a:xfrm>
          <a:prstGeom prst="rect">
            <a:avLst/>
          </a:prstGeom>
          <a:noFill/>
          <a:ln/>
        </p:spPr>
        <p:txBody>
          <a:bodyPr wrap="square" lIns="0" tIns="0" rIns="0" bIns="0" rtlCol="0" anchor="ctr"/>
          <a:lstStyle/>
          <a:p>
            <a:pPr marL="0" indent="0" algn="l">
              <a:buNone/>
            </a:pPr>
            <a:r>
              <a:rPr lang="en-US" sz="1400" dirty="0">
                <a:solidFill>
                  <a:schemeClr val="bg1"/>
                </a:solidFill>
              </a:rPr>
              <a:t>Lowest latency: Wi-Fi sleep off and max TX power</a:t>
            </a:r>
            <a:endParaRPr lang="en-US" sz="1400" dirty="0"/>
          </a:p>
        </p:txBody>
      </p:sp>
      <p:sp>
        <p:nvSpPr>
          <p:cNvPr id="25" name="card"/>
          <p:cNvSpPr/>
          <p:nvPr/>
        </p:nvSpPr>
        <p:spPr>
          <a:xfrm>
            <a:off x="457200" y="4059936"/>
            <a:ext cx="8229600" cy="475488"/>
          </a:xfrm>
          <a:prstGeom prst="roundRect">
            <a:avLst>
              <a:gd name="adj" fmla="val 23077"/>
            </a:avLst>
          </a:prstGeom>
          <a:solidFill>
            <a:schemeClr val="tx2"/>
          </a:solidFill>
          <a:ln w="12700">
            <a:solidFill>
              <a:schemeClr val="accent4"/>
            </a:solidFill>
            <a:prstDash val="solid"/>
          </a:ln>
        </p:spPr>
        <p:txBody>
          <a:bodyPr/>
          <a:lstStyle/>
          <a:p>
            <a:endParaRPr lang="en-US"/>
          </a:p>
        </p:txBody>
      </p:sp>
      <p:sp>
        <p:nvSpPr>
          <p:cNvPr id="26" name="icon-bg FaThumbtack"/>
          <p:cNvSpPr/>
          <p:nvPr/>
        </p:nvSpPr>
        <p:spPr>
          <a:xfrm>
            <a:off x="548640" y="4114800"/>
            <a:ext cx="365760" cy="365760"/>
          </a:xfrm>
          <a:prstGeom prst="ellipse">
            <a:avLst/>
          </a:prstGeom>
          <a:solidFill>
            <a:schemeClr val="accent1"/>
          </a:solidFill>
          <a:ln w="12700">
            <a:solidFill>
              <a:schemeClr val="accent1"/>
            </a:solidFill>
            <a:prstDash val="solid"/>
          </a:ln>
        </p:spPr>
        <p:txBody>
          <a:bodyPr/>
          <a:lstStyle/>
          <a:p>
            <a:endParaRPr lang="en-US"/>
          </a:p>
        </p:txBody>
      </p:sp>
      <p:pic>
        <p:nvPicPr>
          <p:cNvPr id="27" name="Image 3" descr="FaThumbtack"/>
          <p:cNvPicPr>
            <a:picLocks noChangeAspect="1"/>
          </p:cNvPicPr>
          <p:nvPr/>
        </p:nvPicPr>
        <p:blipFill>
          <a:blip r:embed="rId6"/>
          <a:stretch>
            <a:fillRect/>
          </a:stretch>
        </p:blipFill>
        <p:spPr>
          <a:xfrm>
            <a:off x="640080" y="4206240"/>
            <a:ext cx="182880" cy="182880"/>
          </a:xfrm>
          <a:prstGeom prst="rect">
            <a:avLst/>
          </a:prstGeom>
        </p:spPr>
      </p:pic>
      <p:sp>
        <p:nvSpPr>
          <p:cNvPr id="28" name="Text 22"/>
          <p:cNvSpPr txBox="1"/>
          <p:nvPr/>
        </p:nvSpPr>
        <p:spPr>
          <a:xfrm>
            <a:off x="1097280" y="4059936"/>
            <a:ext cx="7406640" cy="475488"/>
          </a:xfrm>
          <a:prstGeom prst="rect">
            <a:avLst/>
          </a:prstGeom>
          <a:noFill/>
          <a:ln/>
        </p:spPr>
        <p:txBody>
          <a:bodyPr wrap="square" lIns="0" tIns="0" rIns="0" bIns="0" rtlCol="0" anchor="ctr"/>
          <a:lstStyle/>
          <a:p>
            <a:pPr marL="0" indent="0" algn="l">
              <a:buNone/>
            </a:pPr>
            <a:r>
              <a:rPr lang="en-US" sz="1400" dirty="0">
                <a:solidFill>
                  <a:schemeClr val="bg1"/>
                </a:solidFill>
              </a:rPr>
              <a:t>AP+STA mode with a locked channel (use 1, 6 or 11)</a:t>
            </a:r>
            <a:endParaRPr lang="en-US" sz="1400" dirty="0"/>
          </a:p>
        </p:txBody>
      </p:sp>
      <p:sp>
        <p:nvSpPr>
          <p:cNvPr id="29"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943600" y="914400"/>
            <a:ext cx="2926080" cy="2011680"/>
          </a:xfrm>
          <a:prstGeom prst="rect">
            <a:avLst/>
          </a:prstGeom>
          <a:noFill/>
          <a:ln/>
        </p:spPr>
        <p:txBody>
          <a:bodyPr wrap="square" lIns="0" tIns="0" rIns="0" bIns="0" rtlCol="0" anchor="ctr"/>
          <a:lstStyle/>
          <a:p>
            <a:pPr marL="0" indent="0" algn="ctr">
              <a:buNone/>
            </a:pPr>
            <a:r>
              <a:rPr lang="en-US" sz="11000" b="1" dirty="0">
                <a:solidFill>
                  <a:schemeClr val="bg1"/>
                </a:solidFill>
              </a:rPr>
              <a:t>01</a:t>
            </a:r>
            <a:endParaRPr lang="en-US" sz="11000" dirty="0"/>
          </a:p>
        </p:txBody>
      </p:sp>
      <p:sp>
        <p:nvSpPr>
          <p:cNvPr id="3" name="icon-bg FaGamepad"/>
          <p:cNvSpPr/>
          <p:nvPr/>
        </p:nvSpPr>
        <p:spPr>
          <a:xfrm>
            <a:off x="6903720" y="3200400"/>
            <a:ext cx="1005840" cy="100584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Gamepad"/>
          <p:cNvPicPr>
            <a:picLocks noChangeAspect="1"/>
          </p:cNvPicPr>
          <p:nvPr/>
        </p:nvPicPr>
        <p:blipFill>
          <a:blip r:embed="rId3"/>
          <a:stretch>
            <a:fillRect/>
          </a:stretch>
        </p:blipFill>
        <p:spPr>
          <a:xfrm>
            <a:off x="7155180" y="3451860"/>
            <a:ext cx="502920" cy="502920"/>
          </a:xfrm>
          <a:prstGeom prst="rect">
            <a:avLst/>
          </a:prstGeom>
        </p:spPr>
      </p:pic>
      <p:sp>
        <p:nvSpPr>
          <p:cNvPr id="5" name="Text 1"/>
          <p:cNvSpPr>
            <a:spLocks noGrp="1"/>
          </p:cNvSpPr>
          <p:nvPr>
            <p:ph type="title" idx="101" hasCustomPrompt="1"/>
          </p:nvPr>
        </p:nvSpPr>
        <p:spPr>
          <a:xfrm>
            <a:off x="457200" y="1554480"/>
            <a:ext cx="4846320" cy="1280160"/>
          </a:xfrm>
          <a:prstGeom prst="rect">
            <a:avLst/>
          </a:prstGeom>
          <a:noFill/>
          <a:ln/>
        </p:spPr>
        <p:txBody>
          <a:bodyPr wrap="square" lIns="0" tIns="0" rIns="0" bIns="0" rtlCol="0" anchor="ctr"/>
          <a:lstStyle/>
          <a:p>
            <a:pPr marL="0" indent="0" algn="l">
              <a:buNone/>
            </a:pPr>
            <a:r>
              <a:rPr lang="en-US" sz="4400" b="1" dirty="0">
                <a:solidFill>
                  <a:schemeClr val="bg1"/>
                </a:solidFill>
              </a:rPr>
              <a:t>Control</a:t>
            </a:r>
            <a:endParaRPr lang="en-US" sz="4400" dirty="0"/>
          </a:p>
        </p:txBody>
      </p:sp>
      <p:sp>
        <p:nvSpPr>
          <p:cNvPr id="6" name="Text 1"/>
          <p:cNvSpPr>
            <a:spLocks noGrp="1"/>
          </p:cNvSpPr>
          <p:nvPr>
            <p:ph type="body" idx="102" hasCustomPrompt="1"/>
          </p:nvPr>
        </p:nvSpPr>
        <p:spPr>
          <a:xfrm>
            <a:off x="457200" y="2971800"/>
            <a:ext cx="4846320" cy="914400"/>
          </a:xfrm>
          <a:prstGeom prst="rect">
            <a:avLst/>
          </a:prstGeom>
          <a:noFill/>
          <a:ln/>
        </p:spPr>
        <p:txBody>
          <a:bodyPr wrap="square" lIns="0" tIns="0" rIns="0" bIns="0" rtlCol="0" anchor="t"/>
          <a:lstStyle/>
          <a:p>
            <a:pPr marL="0" indent="0" algn="l">
              <a:buNone/>
            </a:pPr>
            <a:r>
              <a:rPr lang="en-US" sz="1800" dirty="0">
                <a:solidFill>
                  <a:schemeClr val="accent2"/>
                </a:solidFill>
              </a:rPr>
              <a:t>Motors • Steering • WebSocket commands</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Motor Control</a:t>
            </a:r>
            <a:endParaRPr lang="en-US" sz="3400" dirty="0"/>
          </a:p>
        </p:txBody>
      </p:sp>
      <p:sp>
        <p:nvSpPr>
          <p:cNvPr id="3" name="icon-bg FaCogs"/>
          <p:cNvSpPr/>
          <p:nvPr/>
        </p:nvSpPr>
        <p:spPr>
          <a:xfrm>
            <a:off x="457200" y="320040"/>
            <a:ext cx="685800" cy="685800"/>
          </a:xfrm>
          <a:prstGeom prst="ellipse">
            <a:avLst/>
          </a:prstGeom>
          <a:solidFill>
            <a:schemeClr val="accent1"/>
          </a:solidFill>
          <a:ln w="12700">
            <a:solidFill>
              <a:schemeClr val="accent1"/>
            </a:solidFill>
            <a:prstDash val="solid"/>
          </a:ln>
        </p:spPr>
        <p:txBody>
          <a:bodyPr/>
          <a:lstStyle/>
          <a:p>
            <a:endParaRPr lang="en-US"/>
          </a:p>
        </p:txBody>
      </p:sp>
      <p:pic>
        <p:nvPicPr>
          <p:cNvPr id="4" name="Image 0" descr="FaCogs"/>
          <p:cNvPicPr>
            <a:picLocks noChangeAspect="1"/>
          </p:cNvPicPr>
          <p:nvPr/>
        </p:nvPicPr>
        <p:blipFill>
          <a:blip r:embed="rId3"/>
          <a:stretch>
            <a:fillRect/>
          </a:stretch>
        </p:blipFill>
        <p:spPr>
          <a:xfrm>
            <a:off x="628650" y="491490"/>
            <a:ext cx="342900" cy="342900"/>
          </a:xfrm>
          <a:prstGeom prst="rect">
            <a:avLst/>
          </a:prstGeom>
        </p:spPr>
      </p:pic>
      <p:sp>
        <p:nvSpPr>
          <p:cNvPr id="5" name="Text 2"/>
          <p:cNvSpPr txBox="1"/>
          <p:nvPr/>
        </p:nvSpPr>
        <p:spPr>
          <a:xfrm>
            <a:off x="4846320" y="1280160"/>
            <a:ext cx="3840480" cy="274320"/>
          </a:xfrm>
          <a:prstGeom prst="rect">
            <a:avLst/>
          </a:prstGeom>
          <a:noFill/>
          <a:ln/>
        </p:spPr>
        <p:txBody>
          <a:bodyPr wrap="square" lIns="0" tIns="0" rIns="0" bIns="0" rtlCol="0" anchor="t"/>
          <a:lstStyle/>
          <a:p>
            <a:pPr marL="0" indent="0" algn="ctr">
              <a:buNone/>
            </a:pPr>
            <a:r>
              <a:rPr lang="en-US" sz="1200" dirty="0">
                <a:solidFill>
                  <a:schemeClr val="accent5"/>
                </a:solidFill>
              </a:rPr>
              <a:t>Top view (F = forward pin, B = backward pin)</a:t>
            </a:r>
            <a:endParaRPr lang="en-US" sz="1200" dirty="0"/>
          </a:p>
        </p:txBody>
      </p:sp>
      <p:sp>
        <p:nvSpPr>
          <p:cNvPr id="6" name="wheel LF"/>
          <p:cNvSpPr/>
          <p:nvPr/>
        </p:nvSpPr>
        <p:spPr>
          <a:xfrm>
            <a:off x="4846320" y="1645920"/>
            <a:ext cx="1828800" cy="1371600"/>
          </a:xfrm>
          <a:prstGeom prst="roundRect">
            <a:avLst>
              <a:gd name="adj" fmla="val 8000"/>
            </a:avLst>
          </a:prstGeom>
          <a:solidFill>
            <a:schemeClr val="tx2"/>
          </a:solidFill>
          <a:ln w="19050">
            <a:solidFill>
              <a:schemeClr val="accent2"/>
            </a:solidFill>
            <a:prstDash val="solid"/>
          </a:ln>
        </p:spPr>
        <p:txBody>
          <a:bodyPr/>
          <a:lstStyle/>
          <a:p>
            <a:endParaRPr lang="en-US"/>
          </a:p>
        </p:txBody>
      </p:sp>
      <p:sp>
        <p:nvSpPr>
          <p:cNvPr id="7" name="Text 4"/>
          <p:cNvSpPr txBox="1"/>
          <p:nvPr/>
        </p:nvSpPr>
        <p:spPr>
          <a:xfrm>
            <a:off x="4846320" y="1783080"/>
            <a:ext cx="1828800" cy="548640"/>
          </a:xfrm>
          <a:prstGeom prst="rect">
            <a:avLst/>
          </a:prstGeom>
          <a:noFill/>
          <a:ln/>
        </p:spPr>
        <p:txBody>
          <a:bodyPr wrap="square" lIns="0" tIns="0" rIns="0" bIns="0" rtlCol="0" anchor="ctr"/>
          <a:lstStyle/>
          <a:p>
            <a:pPr marL="0" indent="0" algn="ctr">
              <a:buNone/>
            </a:pPr>
            <a:r>
              <a:rPr lang="en-US" sz="2800" b="1" dirty="0">
                <a:solidFill>
                  <a:schemeClr val="accent2"/>
                </a:solidFill>
              </a:rPr>
              <a:t>LF</a:t>
            </a:r>
            <a:endParaRPr lang="en-US" sz="2800" dirty="0"/>
          </a:p>
        </p:txBody>
      </p:sp>
      <p:sp>
        <p:nvSpPr>
          <p:cNvPr id="8" name="Text 5"/>
          <p:cNvSpPr txBox="1"/>
          <p:nvPr/>
        </p:nvSpPr>
        <p:spPr>
          <a:xfrm>
            <a:off x="4846320" y="2377440"/>
            <a:ext cx="1828800" cy="365760"/>
          </a:xfrm>
          <a:prstGeom prst="rect">
            <a:avLst/>
          </a:prstGeom>
          <a:noFill/>
          <a:ln/>
        </p:spPr>
        <p:txBody>
          <a:bodyPr wrap="square" lIns="0" tIns="0" rIns="0" bIns="0" rtlCol="0" anchor="ctr"/>
          <a:lstStyle/>
          <a:p>
            <a:pPr marL="0" indent="0" algn="ctr">
              <a:buNone/>
            </a:pPr>
            <a:r>
              <a:rPr lang="en-US" sz="1400" dirty="0">
                <a:solidFill>
                  <a:schemeClr val="bg1"/>
                </a:solidFill>
                <a:latin typeface="Courier New" pitchFamily="34" charset="0"/>
                <a:ea typeface="Courier New" pitchFamily="34" charset="-122"/>
                <a:cs typeface="Courier New" pitchFamily="34" charset="-120"/>
              </a:rPr>
              <a:t>22 / 23</a:t>
            </a:r>
            <a:endParaRPr lang="en-US" sz="1400" dirty="0"/>
          </a:p>
        </p:txBody>
      </p:sp>
      <p:sp>
        <p:nvSpPr>
          <p:cNvPr id="9" name="wheel RF"/>
          <p:cNvSpPr/>
          <p:nvPr/>
        </p:nvSpPr>
        <p:spPr>
          <a:xfrm>
            <a:off x="6766560" y="1645920"/>
            <a:ext cx="1828800" cy="1371600"/>
          </a:xfrm>
          <a:prstGeom prst="roundRect">
            <a:avLst>
              <a:gd name="adj" fmla="val 8000"/>
            </a:avLst>
          </a:prstGeom>
          <a:solidFill>
            <a:schemeClr val="tx2"/>
          </a:solidFill>
          <a:ln w="19050">
            <a:solidFill>
              <a:schemeClr val="accent2"/>
            </a:solidFill>
            <a:prstDash val="solid"/>
          </a:ln>
        </p:spPr>
        <p:txBody>
          <a:bodyPr/>
          <a:lstStyle/>
          <a:p>
            <a:endParaRPr lang="en-US"/>
          </a:p>
        </p:txBody>
      </p:sp>
      <p:sp>
        <p:nvSpPr>
          <p:cNvPr id="10" name="Text 7"/>
          <p:cNvSpPr txBox="1"/>
          <p:nvPr/>
        </p:nvSpPr>
        <p:spPr>
          <a:xfrm>
            <a:off x="6766560" y="1783080"/>
            <a:ext cx="1828800" cy="548640"/>
          </a:xfrm>
          <a:prstGeom prst="rect">
            <a:avLst/>
          </a:prstGeom>
          <a:noFill/>
          <a:ln/>
        </p:spPr>
        <p:txBody>
          <a:bodyPr wrap="square" lIns="0" tIns="0" rIns="0" bIns="0" rtlCol="0" anchor="ctr"/>
          <a:lstStyle/>
          <a:p>
            <a:pPr marL="0" indent="0" algn="ctr">
              <a:buNone/>
            </a:pPr>
            <a:r>
              <a:rPr lang="en-US" sz="2800" b="1" dirty="0">
                <a:solidFill>
                  <a:schemeClr val="accent2"/>
                </a:solidFill>
              </a:rPr>
              <a:t>RF</a:t>
            </a:r>
            <a:endParaRPr lang="en-US" sz="2800" dirty="0"/>
          </a:p>
        </p:txBody>
      </p:sp>
      <p:sp>
        <p:nvSpPr>
          <p:cNvPr id="11" name="Text 8"/>
          <p:cNvSpPr txBox="1"/>
          <p:nvPr/>
        </p:nvSpPr>
        <p:spPr>
          <a:xfrm>
            <a:off x="6766560" y="2377440"/>
            <a:ext cx="1828800" cy="365760"/>
          </a:xfrm>
          <a:prstGeom prst="rect">
            <a:avLst/>
          </a:prstGeom>
          <a:noFill/>
          <a:ln/>
        </p:spPr>
        <p:txBody>
          <a:bodyPr wrap="square" lIns="0" tIns="0" rIns="0" bIns="0" rtlCol="0" anchor="ctr"/>
          <a:lstStyle/>
          <a:p>
            <a:pPr marL="0" indent="0" algn="ctr">
              <a:buNone/>
            </a:pPr>
            <a:r>
              <a:rPr lang="en-US" sz="1400" dirty="0">
                <a:solidFill>
                  <a:schemeClr val="bg1"/>
                </a:solidFill>
                <a:latin typeface="Courier New" pitchFamily="34" charset="0"/>
                <a:ea typeface="Courier New" pitchFamily="34" charset="-122"/>
                <a:cs typeface="Courier New" pitchFamily="34" charset="-120"/>
              </a:rPr>
              <a:t>4 / 16</a:t>
            </a:r>
            <a:endParaRPr lang="en-US" sz="1400" dirty="0"/>
          </a:p>
        </p:txBody>
      </p:sp>
      <p:sp>
        <p:nvSpPr>
          <p:cNvPr id="12" name="wheel LR"/>
          <p:cNvSpPr/>
          <p:nvPr/>
        </p:nvSpPr>
        <p:spPr>
          <a:xfrm>
            <a:off x="4846320" y="3200400"/>
            <a:ext cx="1828800" cy="1371600"/>
          </a:xfrm>
          <a:prstGeom prst="roundRect">
            <a:avLst>
              <a:gd name="adj" fmla="val 8000"/>
            </a:avLst>
          </a:prstGeom>
          <a:solidFill>
            <a:schemeClr val="tx2"/>
          </a:solidFill>
          <a:ln w="19050">
            <a:solidFill>
              <a:schemeClr val="accent2"/>
            </a:solidFill>
            <a:prstDash val="solid"/>
          </a:ln>
        </p:spPr>
        <p:txBody>
          <a:bodyPr/>
          <a:lstStyle/>
          <a:p>
            <a:endParaRPr lang="en-US"/>
          </a:p>
        </p:txBody>
      </p:sp>
      <p:sp>
        <p:nvSpPr>
          <p:cNvPr id="13" name="Text 10"/>
          <p:cNvSpPr txBox="1"/>
          <p:nvPr/>
        </p:nvSpPr>
        <p:spPr>
          <a:xfrm>
            <a:off x="4846320" y="3337560"/>
            <a:ext cx="1828800" cy="548640"/>
          </a:xfrm>
          <a:prstGeom prst="rect">
            <a:avLst/>
          </a:prstGeom>
          <a:noFill/>
          <a:ln/>
        </p:spPr>
        <p:txBody>
          <a:bodyPr wrap="square" lIns="0" tIns="0" rIns="0" bIns="0" rtlCol="0" anchor="ctr"/>
          <a:lstStyle/>
          <a:p>
            <a:pPr marL="0" indent="0" algn="ctr">
              <a:buNone/>
            </a:pPr>
            <a:r>
              <a:rPr lang="en-US" sz="2800" b="1" dirty="0">
                <a:solidFill>
                  <a:schemeClr val="accent2"/>
                </a:solidFill>
              </a:rPr>
              <a:t>LR</a:t>
            </a:r>
            <a:endParaRPr lang="en-US" sz="2800" dirty="0"/>
          </a:p>
        </p:txBody>
      </p:sp>
      <p:sp>
        <p:nvSpPr>
          <p:cNvPr id="14" name="Text 11"/>
          <p:cNvSpPr txBox="1"/>
          <p:nvPr/>
        </p:nvSpPr>
        <p:spPr>
          <a:xfrm>
            <a:off x="4846320" y="3931920"/>
            <a:ext cx="1828800" cy="365760"/>
          </a:xfrm>
          <a:prstGeom prst="rect">
            <a:avLst/>
          </a:prstGeom>
          <a:noFill/>
          <a:ln/>
        </p:spPr>
        <p:txBody>
          <a:bodyPr wrap="square" lIns="0" tIns="0" rIns="0" bIns="0" rtlCol="0" anchor="ctr"/>
          <a:lstStyle/>
          <a:p>
            <a:pPr marL="0" indent="0" algn="ctr">
              <a:buNone/>
            </a:pPr>
            <a:r>
              <a:rPr lang="en-US" sz="1400" dirty="0">
                <a:solidFill>
                  <a:schemeClr val="bg1"/>
                </a:solidFill>
                <a:latin typeface="Courier New" pitchFamily="34" charset="0"/>
                <a:ea typeface="Courier New" pitchFamily="34" charset="-122"/>
                <a:cs typeface="Courier New" pitchFamily="34" charset="-120"/>
              </a:rPr>
              <a:t>25 / 26</a:t>
            </a:r>
            <a:endParaRPr lang="en-US" sz="1400" dirty="0"/>
          </a:p>
        </p:txBody>
      </p:sp>
      <p:sp>
        <p:nvSpPr>
          <p:cNvPr id="15" name="wheel RR"/>
          <p:cNvSpPr/>
          <p:nvPr/>
        </p:nvSpPr>
        <p:spPr>
          <a:xfrm>
            <a:off x="6766560" y="3200400"/>
            <a:ext cx="1828800" cy="1371600"/>
          </a:xfrm>
          <a:prstGeom prst="roundRect">
            <a:avLst>
              <a:gd name="adj" fmla="val 8000"/>
            </a:avLst>
          </a:prstGeom>
          <a:solidFill>
            <a:schemeClr val="tx2"/>
          </a:solidFill>
          <a:ln w="19050">
            <a:solidFill>
              <a:schemeClr val="accent2"/>
            </a:solidFill>
            <a:prstDash val="solid"/>
          </a:ln>
        </p:spPr>
        <p:txBody>
          <a:bodyPr/>
          <a:lstStyle/>
          <a:p>
            <a:endParaRPr lang="en-US"/>
          </a:p>
        </p:txBody>
      </p:sp>
      <p:sp>
        <p:nvSpPr>
          <p:cNvPr id="16" name="Text 13"/>
          <p:cNvSpPr txBox="1"/>
          <p:nvPr/>
        </p:nvSpPr>
        <p:spPr>
          <a:xfrm>
            <a:off x="6766560" y="3337560"/>
            <a:ext cx="1828800" cy="548640"/>
          </a:xfrm>
          <a:prstGeom prst="rect">
            <a:avLst/>
          </a:prstGeom>
          <a:noFill/>
          <a:ln/>
        </p:spPr>
        <p:txBody>
          <a:bodyPr wrap="square" lIns="0" tIns="0" rIns="0" bIns="0" rtlCol="0" anchor="ctr"/>
          <a:lstStyle/>
          <a:p>
            <a:pPr marL="0" indent="0" algn="ctr">
              <a:buNone/>
            </a:pPr>
            <a:r>
              <a:rPr lang="en-US" sz="2800" b="1" dirty="0">
                <a:solidFill>
                  <a:schemeClr val="accent2"/>
                </a:solidFill>
              </a:rPr>
              <a:t>RR</a:t>
            </a:r>
            <a:endParaRPr lang="en-US" sz="2800" dirty="0"/>
          </a:p>
        </p:txBody>
      </p:sp>
      <p:sp>
        <p:nvSpPr>
          <p:cNvPr id="17" name="Text 14"/>
          <p:cNvSpPr txBox="1"/>
          <p:nvPr/>
        </p:nvSpPr>
        <p:spPr>
          <a:xfrm>
            <a:off x="6766560" y="3931920"/>
            <a:ext cx="1828800" cy="365760"/>
          </a:xfrm>
          <a:prstGeom prst="rect">
            <a:avLst/>
          </a:prstGeom>
          <a:noFill/>
          <a:ln/>
        </p:spPr>
        <p:txBody>
          <a:bodyPr wrap="square" lIns="0" tIns="0" rIns="0" bIns="0" rtlCol="0" anchor="ctr"/>
          <a:lstStyle/>
          <a:p>
            <a:pPr marL="0" indent="0" algn="ctr">
              <a:buNone/>
            </a:pPr>
            <a:r>
              <a:rPr lang="en-US" sz="1400" dirty="0">
                <a:solidFill>
                  <a:schemeClr val="bg1"/>
                </a:solidFill>
                <a:latin typeface="Courier New" pitchFamily="34" charset="0"/>
                <a:ea typeface="Courier New" pitchFamily="34" charset="-122"/>
                <a:cs typeface="Courier New" pitchFamily="34" charset="-120"/>
              </a:rPr>
              <a:t>17 / 18</a:t>
            </a:r>
            <a:endParaRPr lang="en-US" sz="1400" dirty="0"/>
          </a:p>
        </p:txBody>
      </p:sp>
      <p:sp>
        <p:nvSpPr>
          <p:cNvPr id="18" name="card"/>
          <p:cNvSpPr/>
          <p:nvPr/>
        </p:nvSpPr>
        <p:spPr>
          <a:xfrm>
            <a:off x="457200" y="1325880"/>
            <a:ext cx="411480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19" name="icon-bg FaMicrochip"/>
          <p:cNvSpPr/>
          <p:nvPr/>
        </p:nvSpPr>
        <p:spPr>
          <a:xfrm>
            <a:off x="548640" y="1453896"/>
            <a:ext cx="457200" cy="457200"/>
          </a:xfrm>
          <a:prstGeom prst="ellipse">
            <a:avLst/>
          </a:prstGeom>
          <a:solidFill>
            <a:schemeClr val="accent1"/>
          </a:solidFill>
          <a:ln w="12700">
            <a:solidFill>
              <a:schemeClr val="accent1"/>
            </a:solidFill>
            <a:prstDash val="solid"/>
          </a:ln>
        </p:spPr>
        <p:txBody>
          <a:bodyPr/>
          <a:lstStyle/>
          <a:p>
            <a:endParaRPr lang="en-US"/>
          </a:p>
        </p:txBody>
      </p:sp>
      <p:pic>
        <p:nvPicPr>
          <p:cNvPr id="20" name="Image 1" descr="FaMicrochip"/>
          <p:cNvPicPr>
            <a:picLocks noChangeAspect="1"/>
          </p:cNvPicPr>
          <p:nvPr/>
        </p:nvPicPr>
        <p:blipFill>
          <a:blip r:embed="rId4"/>
          <a:stretch>
            <a:fillRect/>
          </a:stretch>
        </p:blipFill>
        <p:spPr>
          <a:xfrm>
            <a:off x="662940" y="1568196"/>
            <a:ext cx="228600" cy="228600"/>
          </a:xfrm>
          <a:prstGeom prst="rect">
            <a:avLst/>
          </a:prstGeom>
        </p:spPr>
      </p:pic>
      <p:sp>
        <p:nvSpPr>
          <p:cNvPr id="21" name="Text 17"/>
          <p:cNvSpPr txBox="1"/>
          <p:nvPr/>
        </p:nvSpPr>
        <p:spPr>
          <a:xfrm>
            <a:off x="1143000" y="1325880"/>
            <a:ext cx="3291840" cy="713232"/>
          </a:xfrm>
          <a:prstGeom prst="rect">
            <a:avLst/>
          </a:prstGeom>
          <a:noFill/>
          <a:ln/>
        </p:spPr>
        <p:txBody>
          <a:bodyPr wrap="square" lIns="0" tIns="0" rIns="0" bIns="0" rtlCol="0" anchor="ctr"/>
          <a:lstStyle/>
          <a:p>
            <a:pPr marL="0" indent="0" algn="l">
              <a:buNone/>
            </a:pPr>
            <a:r>
              <a:rPr lang="en-US" sz="1400" dirty="0">
                <a:solidFill>
                  <a:schemeClr val="bg1"/>
                </a:solidFill>
              </a:rPr>
              <a:t>Each motor has two pins: forward and reverse (H-Bridge)</a:t>
            </a:r>
            <a:endParaRPr lang="en-US" sz="1400" dirty="0"/>
          </a:p>
        </p:txBody>
      </p:sp>
      <p:sp>
        <p:nvSpPr>
          <p:cNvPr id="22" name="card"/>
          <p:cNvSpPr/>
          <p:nvPr/>
        </p:nvSpPr>
        <p:spPr>
          <a:xfrm>
            <a:off x="457200" y="2148840"/>
            <a:ext cx="411480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23" name="icon-bg FaWaveSquare"/>
          <p:cNvSpPr/>
          <p:nvPr/>
        </p:nvSpPr>
        <p:spPr>
          <a:xfrm>
            <a:off x="548640" y="2276856"/>
            <a:ext cx="457200" cy="457200"/>
          </a:xfrm>
          <a:prstGeom prst="ellipse">
            <a:avLst/>
          </a:prstGeom>
          <a:solidFill>
            <a:schemeClr val="accent2"/>
          </a:solidFill>
          <a:ln w="12700">
            <a:solidFill>
              <a:schemeClr val="accent2"/>
            </a:solidFill>
            <a:prstDash val="solid"/>
          </a:ln>
        </p:spPr>
        <p:txBody>
          <a:bodyPr/>
          <a:lstStyle/>
          <a:p>
            <a:endParaRPr lang="en-US"/>
          </a:p>
        </p:txBody>
      </p:sp>
      <p:pic>
        <p:nvPicPr>
          <p:cNvPr id="24" name="Image 2" descr="FaWaveSquare"/>
          <p:cNvPicPr>
            <a:picLocks noChangeAspect="1"/>
          </p:cNvPicPr>
          <p:nvPr/>
        </p:nvPicPr>
        <p:blipFill>
          <a:blip r:embed="rId5"/>
          <a:stretch>
            <a:fillRect/>
          </a:stretch>
        </p:blipFill>
        <p:spPr>
          <a:xfrm>
            <a:off x="662940" y="2391156"/>
            <a:ext cx="228600" cy="228600"/>
          </a:xfrm>
          <a:prstGeom prst="rect">
            <a:avLst/>
          </a:prstGeom>
        </p:spPr>
      </p:pic>
      <p:sp>
        <p:nvSpPr>
          <p:cNvPr id="25" name="Text 20"/>
          <p:cNvSpPr txBox="1"/>
          <p:nvPr/>
        </p:nvSpPr>
        <p:spPr>
          <a:xfrm>
            <a:off x="1143000" y="2148840"/>
            <a:ext cx="3291840" cy="713232"/>
          </a:xfrm>
          <a:prstGeom prst="rect">
            <a:avLst/>
          </a:prstGeom>
          <a:noFill/>
          <a:ln/>
        </p:spPr>
        <p:txBody>
          <a:bodyPr wrap="square" lIns="0" tIns="0" rIns="0" bIns="0" rtlCol="0" anchor="ctr"/>
          <a:lstStyle/>
          <a:p>
            <a:pPr marL="0" indent="0" algn="l">
              <a:buNone/>
            </a:pPr>
            <a:r>
              <a:rPr lang="en-US" sz="1400" dirty="0">
                <a:solidFill>
                  <a:schemeClr val="bg1"/>
                </a:solidFill>
              </a:rPr>
              <a:t>Speed via analogWrite PWM, from 0 to 255</a:t>
            </a:r>
            <a:endParaRPr lang="en-US" sz="1400" dirty="0"/>
          </a:p>
        </p:txBody>
      </p:sp>
      <p:sp>
        <p:nvSpPr>
          <p:cNvPr id="26" name="card"/>
          <p:cNvSpPr/>
          <p:nvPr/>
        </p:nvSpPr>
        <p:spPr>
          <a:xfrm>
            <a:off x="457200" y="2971800"/>
            <a:ext cx="411480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27" name="icon-bg FaSyncAlt"/>
          <p:cNvSpPr/>
          <p:nvPr/>
        </p:nvSpPr>
        <p:spPr>
          <a:xfrm>
            <a:off x="548640" y="3099816"/>
            <a:ext cx="457200" cy="457200"/>
          </a:xfrm>
          <a:prstGeom prst="ellipse">
            <a:avLst/>
          </a:prstGeom>
          <a:solidFill>
            <a:schemeClr val="accent1"/>
          </a:solidFill>
          <a:ln w="12700">
            <a:solidFill>
              <a:schemeClr val="accent1"/>
            </a:solidFill>
            <a:prstDash val="solid"/>
          </a:ln>
        </p:spPr>
        <p:txBody>
          <a:bodyPr/>
          <a:lstStyle/>
          <a:p>
            <a:endParaRPr lang="en-US"/>
          </a:p>
        </p:txBody>
      </p:sp>
      <p:pic>
        <p:nvPicPr>
          <p:cNvPr id="28" name="Image 3" descr="FaSyncAlt"/>
          <p:cNvPicPr>
            <a:picLocks noChangeAspect="1"/>
          </p:cNvPicPr>
          <p:nvPr/>
        </p:nvPicPr>
        <p:blipFill>
          <a:blip r:embed="rId6"/>
          <a:stretch>
            <a:fillRect/>
          </a:stretch>
        </p:blipFill>
        <p:spPr>
          <a:xfrm>
            <a:off x="662940" y="3214116"/>
            <a:ext cx="228600" cy="228600"/>
          </a:xfrm>
          <a:prstGeom prst="rect">
            <a:avLst/>
          </a:prstGeom>
        </p:spPr>
      </p:pic>
      <p:sp>
        <p:nvSpPr>
          <p:cNvPr id="29" name="Text 23"/>
          <p:cNvSpPr txBox="1"/>
          <p:nvPr/>
        </p:nvSpPr>
        <p:spPr>
          <a:xfrm>
            <a:off x="1143000" y="2971800"/>
            <a:ext cx="3291840" cy="713232"/>
          </a:xfrm>
          <a:prstGeom prst="rect">
            <a:avLst/>
          </a:prstGeom>
          <a:noFill/>
          <a:ln/>
        </p:spPr>
        <p:txBody>
          <a:bodyPr wrap="square" lIns="0" tIns="0" rIns="0" bIns="0" rtlCol="0" anchor="ctr"/>
          <a:lstStyle/>
          <a:p>
            <a:pPr marL="0" indent="0" algn="l">
              <a:buNone/>
            </a:pPr>
            <a:r>
              <a:rPr lang="en-US" sz="1400" dirty="0">
                <a:solidFill>
                  <a:schemeClr val="bg1"/>
                </a:solidFill>
              </a:rPr>
              <a:t>Turn in place: one side forward, the other reverse (tank turn)</a:t>
            </a:r>
            <a:endParaRPr lang="en-US" sz="1400" dirty="0"/>
          </a:p>
        </p:txBody>
      </p:sp>
      <p:sp>
        <p:nvSpPr>
          <p:cNvPr id="30" name="card"/>
          <p:cNvSpPr/>
          <p:nvPr/>
        </p:nvSpPr>
        <p:spPr>
          <a:xfrm>
            <a:off x="457200" y="3794760"/>
            <a:ext cx="411480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31" name="icon-bg FaTachometerAlt"/>
          <p:cNvSpPr/>
          <p:nvPr/>
        </p:nvSpPr>
        <p:spPr>
          <a:xfrm>
            <a:off x="548640" y="3922776"/>
            <a:ext cx="457200" cy="457200"/>
          </a:xfrm>
          <a:prstGeom prst="ellipse">
            <a:avLst/>
          </a:prstGeom>
          <a:solidFill>
            <a:schemeClr val="accent2"/>
          </a:solidFill>
          <a:ln w="12700">
            <a:solidFill>
              <a:schemeClr val="accent2"/>
            </a:solidFill>
            <a:prstDash val="solid"/>
          </a:ln>
        </p:spPr>
        <p:txBody>
          <a:bodyPr/>
          <a:lstStyle/>
          <a:p>
            <a:endParaRPr lang="en-US"/>
          </a:p>
        </p:txBody>
      </p:sp>
      <p:pic>
        <p:nvPicPr>
          <p:cNvPr id="32" name="Image 4" descr="FaTachometerAlt"/>
          <p:cNvPicPr>
            <a:picLocks noChangeAspect="1"/>
          </p:cNvPicPr>
          <p:nvPr/>
        </p:nvPicPr>
        <p:blipFill>
          <a:blip r:embed="rId7"/>
          <a:stretch>
            <a:fillRect/>
          </a:stretch>
        </p:blipFill>
        <p:spPr>
          <a:xfrm>
            <a:off x="662940" y="4037076"/>
            <a:ext cx="228600" cy="228600"/>
          </a:xfrm>
          <a:prstGeom prst="rect">
            <a:avLst/>
          </a:prstGeom>
        </p:spPr>
      </p:pic>
      <p:sp>
        <p:nvSpPr>
          <p:cNvPr id="33" name="Text 26"/>
          <p:cNvSpPr txBox="1"/>
          <p:nvPr/>
        </p:nvSpPr>
        <p:spPr>
          <a:xfrm>
            <a:off x="1143000" y="3794760"/>
            <a:ext cx="3291840" cy="713232"/>
          </a:xfrm>
          <a:prstGeom prst="rect">
            <a:avLst/>
          </a:prstGeom>
          <a:noFill/>
          <a:ln/>
        </p:spPr>
        <p:txBody>
          <a:bodyPr wrap="square" lIns="0" tIns="0" rIns="0" bIns="0" rtlCol="0" anchor="ctr"/>
          <a:lstStyle/>
          <a:p>
            <a:pPr marL="0" indent="0" algn="l">
              <a:buNone/>
            </a:pPr>
            <a:r>
              <a:rPr lang="en-US" sz="1400" dirty="0">
                <a:solidFill>
                  <a:schemeClr val="bg1"/>
                </a:solidFill>
              </a:rPr>
              <a:t>Default speed is 255, changed with the SPD:n command</a:t>
            </a:r>
            <a:endParaRPr lang="en-US" sz="1400" dirty="0"/>
          </a:p>
        </p:txBody>
      </p:sp>
      <p:sp>
        <p:nvSpPr>
          <p:cNvPr id="34"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Steering &amp; Failsafe</a:t>
            </a:r>
            <a:endParaRPr lang="en-US" sz="3400" dirty="0"/>
          </a:p>
        </p:txBody>
      </p:sp>
      <p:sp>
        <p:nvSpPr>
          <p:cNvPr id="3" name="icon-bg FaRoute"/>
          <p:cNvSpPr/>
          <p:nvPr/>
        </p:nvSpPr>
        <p:spPr>
          <a:xfrm>
            <a:off x="457200" y="320040"/>
            <a:ext cx="685800" cy="68580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Route"/>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1920240" cy="1417320"/>
          </a:xfrm>
          <a:prstGeom prst="roundRect">
            <a:avLst>
              <a:gd name="adj" fmla="val 7742"/>
            </a:avLst>
          </a:prstGeom>
          <a:solidFill>
            <a:schemeClr val="tx2"/>
          </a:solidFill>
          <a:ln w="12700">
            <a:solidFill>
              <a:schemeClr val="accent4"/>
            </a:solidFill>
            <a:prstDash val="solid"/>
          </a:ln>
        </p:spPr>
        <p:txBody>
          <a:bodyPr/>
          <a:lstStyle/>
          <a:p>
            <a:endParaRPr lang="en-US"/>
          </a:p>
        </p:txBody>
      </p:sp>
      <p:sp>
        <p:nvSpPr>
          <p:cNvPr id="6" name="icon-bg FaArrowUp"/>
          <p:cNvSpPr/>
          <p:nvPr/>
        </p:nvSpPr>
        <p:spPr>
          <a:xfrm>
            <a:off x="594360" y="1444752"/>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7" name="Image 1" descr="FaArrowUp"/>
          <p:cNvPicPr>
            <a:picLocks noChangeAspect="1"/>
          </p:cNvPicPr>
          <p:nvPr/>
        </p:nvPicPr>
        <p:blipFill>
          <a:blip r:embed="rId4"/>
          <a:stretch>
            <a:fillRect/>
          </a:stretch>
        </p:blipFill>
        <p:spPr>
          <a:xfrm>
            <a:off x="720090" y="1570482"/>
            <a:ext cx="251460" cy="251460"/>
          </a:xfrm>
          <a:prstGeom prst="rect">
            <a:avLst/>
          </a:prstGeom>
        </p:spPr>
      </p:pic>
      <p:sp>
        <p:nvSpPr>
          <p:cNvPr id="8" name="Text 4"/>
          <p:cNvSpPr txBox="1"/>
          <p:nvPr/>
        </p:nvSpPr>
        <p:spPr>
          <a:xfrm>
            <a:off x="1234440" y="1444752"/>
            <a:ext cx="1005840" cy="502920"/>
          </a:xfrm>
          <a:prstGeom prst="rect">
            <a:avLst/>
          </a:prstGeom>
          <a:noFill/>
          <a:ln/>
        </p:spPr>
        <p:txBody>
          <a:bodyPr wrap="square" lIns="0" tIns="0" rIns="0" bIns="0" rtlCol="0" anchor="ctr"/>
          <a:lstStyle/>
          <a:p>
            <a:pPr marL="0" indent="0" algn="r">
              <a:buNone/>
            </a:pPr>
            <a:r>
              <a:rPr lang="en-US" sz="2800" b="1" dirty="0">
                <a:solidFill>
                  <a:schemeClr val="bg1"/>
                </a:solidFill>
              </a:rPr>
              <a:t>F</a:t>
            </a:r>
            <a:endParaRPr lang="en-US" sz="2800" dirty="0"/>
          </a:p>
        </p:txBody>
      </p:sp>
      <p:sp>
        <p:nvSpPr>
          <p:cNvPr id="9" name="Text 5"/>
          <p:cNvSpPr txBox="1"/>
          <p:nvPr/>
        </p:nvSpPr>
        <p:spPr>
          <a:xfrm>
            <a:off x="594360" y="2057400"/>
            <a:ext cx="1645920" cy="594360"/>
          </a:xfrm>
          <a:prstGeom prst="rect">
            <a:avLst/>
          </a:prstGeom>
          <a:noFill/>
          <a:ln/>
        </p:spPr>
        <p:txBody>
          <a:bodyPr wrap="square" lIns="0" tIns="0" rIns="0" bIns="0" rtlCol="0" anchor="t"/>
          <a:lstStyle/>
          <a:p>
            <a:pPr marL="0" indent="0" algn="l">
              <a:buNone/>
            </a:pPr>
            <a:r>
              <a:rPr lang="en-US" sz="1400" dirty="0">
                <a:solidFill>
                  <a:schemeClr val="bg1"/>
                </a:solidFill>
              </a:rPr>
              <a:t>All wheels forward</a:t>
            </a:r>
            <a:endParaRPr lang="en-US" sz="1400" dirty="0"/>
          </a:p>
        </p:txBody>
      </p:sp>
      <p:sp>
        <p:nvSpPr>
          <p:cNvPr id="10" name="card"/>
          <p:cNvSpPr/>
          <p:nvPr/>
        </p:nvSpPr>
        <p:spPr>
          <a:xfrm>
            <a:off x="2560320" y="1325880"/>
            <a:ext cx="1920240" cy="1417320"/>
          </a:xfrm>
          <a:prstGeom prst="roundRect">
            <a:avLst>
              <a:gd name="adj" fmla="val 7742"/>
            </a:avLst>
          </a:prstGeom>
          <a:solidFill>
            <a:schemeClr val="tx2"/>
          </a:solidFill>
          <a:ln w="12700">
            <a:solidFill>
              <a:schemeClr val="accent4"/>
            </a:solidFill>
            <a:prstDash val="solid"/>
          </a:ln>
        </p:spPr>
        <p:txBody>
          <a:bodyPr/>
          <a:lstStyle/>
          <a:p>
            <a:endParaRPr lang="en-US"/>
          </a:p>
        </p:txBody>
      </p:sp>
      <p:sp>
        <p:nvSpPr>
          <p:cNvPr id="11" name="icon-bg FaArrowDown"/>
          <p:cNvSpPr/>
          <p:nvPr/>
        </p:nvSpPr>
        <p:spPr>
          <a:xfrm>
            <a:off x="2697480" y="1444752"/>
            <a:ext cx="502920" cy="502920"/>
          </a:xfrm>
          <a:prstGeom prst="ellipse">
            <a:avLst/>
          </a:prstGeom>
          <a:solidFill>
            <a:schemeClr val="accent2"/>
          </a:solidFill>
          <a:ln w="12700">
            <a:solidFill>
              <a:schemeClr val="accent2"/>
            </a:solidFill>
            <a:prstDash val="solid"/>
          </a:ln>
        </p:spPr>
        <p:txBody>
          <a:bodyPr/>
          <a:lstStyle/>
          <a:p>
            <a:endParaRPr lang="en-US"/>
          </a:p>
        </p:txBody>
      </p:sp>
      <p:pic>
        <p:nvPicPr>
          <p:cNvPr id="12" name="Image 2" descr="FaArrowDown"/>
          <p:cNvPicPr>
            <a:picLocks noChangeAspect="1"/>
          </p:cNvPicPr>
          <p:nvPr/>
        </p:nvPicPr>
        <p:blipFill>
          <a:blip r:embed="rId5"/>
          <a:stretch>
            <a:fillRect/>
          </a:stretch>
        </p:blipFill>
        <p:spPr>
          <a:xfrm>
            <a:off x="2823210" y="1570482"/>
            <a:ext cx="251460" cy="251460"/>
          </a:xfrm>
          <a:prstGeom prst="rect">
            <a:avLst/>
          </a:prstGeom>
        </p:spPr>
      </p:pic>
      <p:sp>
        <p:nvSpPr>
          <p:cNvPr id="13" name="Text 8"/>
          <p:cNvSpPr txBox="1"/>
          <p:nvPr/>
        </p:nvSpPr>
        <p:spPr>
          <a:xfrm>
            <a:off x="3337560" y="1444752"/>
            <a:ext cx="1005840" cy="502920"/>
          </a:xfrm>
          <a:prstGeom prst="rect">
            <a:avLst/>
          </a:prstGeom>
          <a:noFill/>
          <a:ln/>
        </p:spPr>
        <p:txBody>
          <a:bodyPr wrap="square" lIns="0" tIns="0" rIns="0" bIns="0" rtlCol="0" anchor="ctr"/>
          <a:lstStyle/>
          <a:p>
            <a:pPr marL="0" indent="0" algn="r">
              <a:buNone/>
            </a:pPr>
            <a:r>
              <a:rPr lang="en-US" sz="2800" b="1" dirty="0">
                <a:solidFill>
                  <a:schemeClr val="bg1"/>
                </a:solidFill>
              </a:rPr>
              <a:t>B</a:t>
            </a:r>
            <a:endParaRPr lang="en-US" sz="2800" dirty="0"/>
          </a:p>
        </p:txBody>
      </p:sp>
      <p:sp>
        <p:nvSpPr>
          <p:cNvPr id="14" name="Text 9"/>
          <p:cNvSpPr txBox="1"/>
          <p:nvPr/>
        </p:nvSpPr>
        <p:spPr>
          <a:xfrm>
            <a:off x="2697480" y="2057400"/>
            <a:ext cx="1645920" cy="594360"/>
          </a:xfrm>
          <a:prstGeom prst="rect">
            <a:avLst/>
          </a:prstGeom>
          <a:noFill/>
          <a:ln/>
        </p:spPr>
        <p:txBody>
          <a:bodyPr wrap="square" lIns="0" tIns="0" rIns="0" bIns="0" rtlCol="0" anchor="t"/>
          <a:lstStyle/>
          <a:p>
            <a:pPr marL="0" indent="0" algn="l">
              <a:buNone/>
            </a:pPr>
            <a:r>
              <a:rPr lang="en-US" sz="1400" dirty="0">
                <a:solidFill>
                  <a:schemeClr val="bg1"/>
                </a:solidFill>
              </a:rPr>
              <a:t>All wheels backward</a:t>
            </a:r>
            <a:endParaRPr lang="en-US" sz="1400" dirty="0"/>
          </a:p>
        </p:txBody>
      </p:sp>
      <p:sp>
        <p:nvSpPr>
          <p:cNvPr id="15" name="card"/>
          <p:cNvSpPr/>
          <p:nvPr/>
        </p:nvSpPr>
        <p:spPr>
          <a:xfrm>
            <a:off x="4663440" y="1325880"/>
            <a:ext cx="1920240" cy="1417320"/>
          </a:xfrm>
          <a:prstGeom prst="roundRect">
            <a:avLst>
              <a:gd name="adj" fmla="val 7742"/>
            </a:avLst>
          </a:prstGeom>
          <a:solidFill>
            <a:schemeClr val="tx2"/>
          </a:solidFill>
          <a:ln w="12700">
            <a:solidFill>
              <a:schemeClr val="accent4"/>
            </a:solidFill>
            <a:prstDash val="solid"/>
          </a:ln>
        </p:spPr>
        <p:txBody>
          <a:bodyPr/>
          <a:lstStyle/>
          <a:p>
            <a:endParaRPr lang="en-US"/>
          </a:p>
        </p:txBody>
      </p:sp>
      <p:sp>
        <p:nvSpPr>
          <p:cNvPr id="16" name="icon-bg FaArrowLeft"/>
          <p:cNvSpPr/>
          <p:nvPr/>
        </p:nvSpPr>
        <p:spPr>
          <a:xfrm>
            <a:off x="4800600" y="1444752"/>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17" name="Image 3" descr="FaArrowLeft"/>
          <p:cNvPicPr>
            <a:picLocks noChangeAspect="1"/>
          </p:cNvPicPr>
          <p:nvPr/>
        </p:nvPicPr>
        <p:blipFill>
          <a:blip r:embed="rId6"/>
          <a:stretch>
            <a:fillRect/>
          </a:stretch>
        </p:blipFill>
        <p:spPr>
          <a:xfrm>
            <a:off x="4926330" y="1570482"/>
            <a:ext cx="251460" cy="251460"/>
          </a:xfrm>
          <a:prstGeom prst="rect">
            <a:avLst/>
          </a:prstGeom>
        </p:spPr>
      </p:pic>
      <p:sp>
        <p:nvSpPr>
          <p:cNvPr id="18" name="Text 12"/>
          <p:cNvSpPr txBox="1"/>
          <p:nvPr/>
        </p:nvSpPr>
        <p:spPr>
          <a:xfrm>
            <a:off x="5440680" y="1444752"/>
            <a:ext cx="1005840" cy="502920"/>
          </a:xfrm>
          <a:prstGeom prst="rect">
            <a:avLst/>
          </a:prstGeom>
          <a:noFill/>
          <a:ln/>
        </p:spPr>
        <p:txBody>
          <a:bodyPr wrap="square" lIns="0" tIns="0" rIns="0" bIns="0" rtlCol="0" anchor="ctr"/>
          <a:lstStyle/>
          <a:p>
            <a:pPr marL="0" indent="0" algn="r">
              <a:buNone/>
            </a:pPr>
            <a:r>
              <a:rPr lang="en-US" sz="2800" b="1" dirty="0">
                <a:solidFill>
                  <a:schemeClr val="bg1"/>
                </a:solidFill>
              </a:rPr>
              <a:t>L</a:t>
            </a:r>
            <a:endParaRPr lang="en-US" sz="2800" dirty="0"/>
          </a:p>
        </p:txBody>
      </p:sp>
      <p:sp>
        <p:nvSpPr>
          <p:cNvPr id="19" name="Text 13"/>
          <p:cNvSpPr txBox="1"/>
          <p:nvPr/>
        </p:nvSpPr>
        <p:spPr>
          <a:xfrm>
            <a:off x="4800600" y="2057400"/>
            <a:ext cx="1645920" cy="594360"/>
          </a:xfrm>
          <a:prstGeom prst="rect">
            <a:avLst/>
          </a:prstGeom>
          <a:noFill/>
          <a:ln/>
        </p:spPr>
        <p:txBody>
          <a:bodyPr wrap="square" lIns="0" tIns="0" rIns="0" bIns="0" rtlCol="0" anchor="t"/>
          <a:lstStyle/>
          <a:p>
            <a:pPr marL="0" indent="0" algn="l">
              <a:buNone/>
            </a:pPr>
            <a:r>
              <a:rPr lang="en-US" sz="1400" dirty="0">
                <a:solidFill>
                  <a:schemeClr val="bg1"/>
                </a:solidFill>
              </a:rPr>
              <a:t>Left reverses, right goes forward</a:t>
            </a:r>
            <a:endParaRPr lang="en-US" sz="1400" dirty="0"/>
          </a:p>
        </p:txBody>
      </p:sp>
      <p:sp>
        <p:nvSpPr>
          <p:cNvPr id="20" name="card"/>
          <p:cNvSpPr/>
          <p:nvPr/>
        </p:nvSpPr>
        <p:spPr>
          <a:xfrm>
            <a:off x="6766560" y="1325880"/>
            <a:ext cx="1920240" cy="1417320"/>
          </a:xfrm>
          <a:prstGeom prst="roundRect">
            <a:avLst>
              <a:gd name="adj" fmla="val 7742"/>
            </a:avLst>
          </a:prstGeom>
          <a:solidFill>
            <a:schemeClr val="tx2"/>
          </a:solidFill>
          <a:ln w="12700">
            <a:solidFill>
              <a:schemeClr val="accent4"/>
            </a:solidFill>
            <a:prstDash val="solid"/>
          </a:ln>
        </p:spPr>
        <p:txBody>
          <a:bodyPr/>
          <a:lstStyle/>
          <a:p>
            <a:endParaRPr lang="en-US"/>
          </a:p>
        </p:txBody>
      </p:sp>
      <p:sp>
        <p:nvSpPr>
          <p:cNvPr id="21" name="icon-bg FaArrowRight"/>
          <p:cNvSpPr/>
          <p:nvPr/>
        </p:nvSpPr>
        <p:spPr>
          <a:xfrm>
            <a:off x="6903720" y="1444752"/>
            <a:ext cx="502920" cy="502920"/>
          </a:xfrm>
          <a:prstGeom prst="ellipse">
            <a:avLst/>
          </a:prstGeom>
          <a:solidFill>
            <a:schemeClr val="accent2"/>
          </a:solidFill>
          <a:ln w="12700">
            <a:solidFill>
              <a:schemeClr val="accent2"/>
            </a:solidFill>
            <a:prstDash val="solid"/>
          </a:ln>
        </p:spPr>
        <p:txBody>
          <a:bodyPr/>
          <a:lstStyle/>
          <a:p>
            <a:endParaRPr lang="en-US"/>
          </a:p>
        </p:txBody>
      </p:sp>
      <p:pic>
        <p:nvPicPr>
          <p:cNvPr id="22" name="Image 4" descr="FaArrowRight"/>
          <p:cNvPicPr>
            <a:picLocks noChangeAspect="1"/>
          </p:cNvPicPr>
          <p:nvPr/>
        </p:nvPicPr>
        <p:blipFill>
          <a:blip r:embed="rId7"/>
          <a:stretch>
            <a:fillRect/>
          </a:stretch>
        </p:blipFill>
        <p:spPr>
          <a:xfrm>
            <a:off x="7029450" y="1570482"/>
            <a:ext cx="251460" cy="251460"/>
          </a:xfrm>
          <a:prstGeom prst="rect">
            <a:avLst/>
          </a:prstGeom>
        </p:spPr>
      </p:pic>
      <p:sp>
        <p:nvSpPr>
          <p:cNvPr id="23" name="Text 16"/>
          <p:cNvSpPr txBox="1"/>
          <p:nvPr/>
        </p:nvSpPr>
        <p:spPr>
          <a:xfrm>
            <a:off x="7543800" y="1444752"/>
            <a:ext cx="1005840" cy="502920"/>
          </a:xfrm>
          <a:prstGeom prst="rect">
            <a:avLst/>
          </a:prstGeom>
          <a:noFill/>
          <a:ln/>
        </p:spPr>
        <p:txBody>
          <a:bodyPr wrap="square" lIns="0" tIns="0" rIns="0" bIns="0" rtlCol="0" anchor="ctr"/>
          <a:lstStyle/>
          <a:p>
            <a:pPr marL="0" indent="0" algn="r">
              <a:buNone/>
            </a:pPr>
            <a:r>
              <a:rPr lang="en-US" sz="2800" b="1" dirty="0">
                <a:solidFill>
                  <a:schemeClr val="bg1"/>
                </a:solidFill>
              </a:rPr>
              <a:t>R</a:t>
            </a:r>
            <a:endParaRPr lang="en-US" sz="2800" dirty="0"/>
          </a:p>
        </p:txBody>
      </p:sp>
      <p:sp>
        <p:nvSpPr>
          <p:cNvPr id="24" name="Text 17"/>
          <p:cNvSpPr txBox="1"/>
          <p:nvPr/>
        </p:nvSpPr>
        <p:spPr>
          <a:xfrm>
            <a:off x="6903720" y="2057400"/>
            <a:ext cx="1645920" cy="594360"/>
          </a:xfrm>
          <a:prstGeom prst="rect">
            <a:avLst/>
          </a:prstGeom>
          <a:noFill/>
          <a:ln/>
        </p:spPr>
        <p:txBody>
          <a:bodyPr wrap="square" lIns="0" tIns="0" rIns="0" bIns="0" rtlCol="0" anchor="t"/>
          <a:lstStyle/>
          <a:p>
            <a:pPr marL="0" indent="0" algn="l">
              <a:buNone/>
            </a:pPr>
            <a:r>
              <a:rPr lang="en-US" sz="1400" dirty="0">
                <a:solidFill>
                  <a:schemeClr val="bg1"/>
                </a:solidFill>
              </a:rPr>
              <a:t>Right reverses, left goes forward</a:t>
            </a:r>
            <a:endParaRPr lang="en-US" sz="1400" dirty="0"/>
          </a:p>
        </p:txBody>
      </p:sp>
      <p:sp>
        <p:nvSpPr>
          <p:cNvPr id="25" name="card"/>
          <p:cNvSpPr/>
          <p:nvPr/>
        </p:nvSpPr>
        <p:spPr>
          <a:xfrm>
            <a:off x="457200" y="2926080"/>
            <a:ext cx="4206240" cy="1691640"/>
          </a:xfrm>
          <a:prstGeom prst="roundRect">
            <a:avLst>
              <a:gd name="adj" fmla="val 6486"/>
            </a:avLst>
          </a:prstGeom>
          <a:solidFill>
            <a:schemeClr val="tx2"/>
          </a:solidFill>
          <a:ln w="12700">
            <a:solidFill>
              <a:schemeClr val="accent4"/>
            </a:solidFill>
            <a:prstDash val="solid"/>
          </a:ln>
        </p:spPr>
        <p:txBody>
          <a:bodyPr/>
          <a:lstStyle/>
          <a:p>
            <a:endParaRPr lang="en-US"/>
          </a:p>
        </p:txBody>
      </p:sp>
      <p:sp>
        <p:nvSpPr>
          <p:cNvPr id="26" name="Text 19"/>
          <p:cNvSpPr txBox="1"/>
          <p:nvPr/>
        </p:nvSpPr>
        <p:spPr>
          <a:xfrm>
            <a:off x="594360" y="3017520"/>
            <a:ext cx="3931920" cy="640080"/>
          </a:xfrm>
          <a:prstGeom prst="rect">
            <a:avLst/>
          </a:prstGeom>
          <a:noFill/>
          <a:ln/>
        </p:spPr>
        <p:txBody>
          <a:bodyPr wrap="square" lIns="0" tIns="0" rIns="0" bIns="0" rtlCol="0" anchor="ctr"/>
          <a:lstStyle/>
          <a:p>
            <a:pPr marL="0" indent="0" algn="l">
              <a:buNone/>
            </a:pPr>
            <a:r>
              <a:rPr lang="en-US" sz="4000" b="1" dirty="0">
                <a:solidFill>
                  <a:schemeClr val="accent2"/>
                </a:solidFill>
              </a:rPr>
              <a:t>45%</a:t>
            </a:r>
            <a:endParaRPr lang="en-US" sz="4000" dirty="0"/>
          </a:p>
        </p:txBody>
      </p:sp>
      <p:sp>
        <p:nvSpPr>
          <p:cNvPr id="27" name="Text 20"/>
          <p:cNvSpPr txBox="1"/>
          <p:nvPr/>
        </p:nvSpPr>
        <p:spPr>
          <a:xfrm>
            <a:off x="594360" y="3703320"/>
            <a:ext cx="3931920" cy="868680"/>
          </a:xfrm>
          <a:prstGeom prst="rect">
            <a:avLst/>
          </a:prstGeom>
          <a:noFill/>
          <a:ln/>
        </p:spPr>
        <p:txBody>
          <a:bodyPr wrap="square" lIns="0" tIns="0" rIns="0" bIns="0" rtlCol="0" anchor="t"/>
          <a:lstStyle/>
          <a:p>
            <a:pPr marL="0" indent="0" algn="l">
              <a:buNone/>
            </a:pPr>
            <a:r>
              <a:rPr lang="en-US" sz="1400" dirty="0">
                <a:solidFill>
                  <a:schemeClr val="bg1"/>
                </a:solidFill>
              </a:rPr>
              <a:t>Combined steering FL / FR / BL / BR: the inner side slows to 45% of speed instead of reversing (STEER_RATIO)</a:t>
            </a:r>
            <a:endParaRPr lang="en-US" sz="1400" dirty="0"/>
          </a:p>
        </p:txBody>
      </p:sp>
      <p:sp>
        <p:nvSpPr>
          <p:cNvPr id="28" name="card"/>
          <p:cNvSpPr/>
          <p:nvPr/>
        </p:nvSpPr>
        <p:spPr>
          <a:xfrm>
            <a:off x="4846320" y="2926080"/>
            <a:ext cx="3840480" cy="1691640"/>
          </a:xfrm>
          <a:prstGeom prst="roundRect">
            <a:avLst>
              <a:gd name="adj" fmla="val 6486"/>
            </a:avLst>
          </a:prstGeom>
          <a:solidFill>
            <a:schemeClr val="tx2"/>
          </a:solidFill>
          <a:ln w="12700">
            <a:solidFill>
              <a:schemeClr val="accent4"/>
            </a:solidFill>
            <a:prstDash val="solid"/>
          </a:ln>
        </p:spPr>
        <p:txBody>
          <a:bodyPr/>
          <a:lstStyle/>
          <a:p>
            <a:endParaRPr lang="en-US"/>
          </a:p>
        </p:txBody>
      </p:sp>
      <p:sp>
        <p:nvSpPr>
          <p:cNvPr id="29" name="Text 22"/>
          <p:cNvSpPr txBox="1"/>
          <p:nvPr/>
        </p:nvSpPr>
        <p:spPr>
          <a:xfrm>
            <a:off x="4983480" y="3017520"/>
            <a:ext cx="3566160" cy="640080"/>
          </a:xfrm>
          <a:prstGeom prst="rect">
            <a:avLst/>
          </a:prstGeom>
          <a:noFill/>
          <a:ln/>
        </p:spPr>
        <p:txBody>
          <a:bodyPr wrap="square" lIns="0" tIns="0" rIns="0" bIns="0" rtlCol="0" anchor="ctr"/>
          <a:lstStyle/>
          <a:p>
            <a:pPr marL="0" indent="0" algn="l">
              <a:buNone/>
            </a:pPr>
            <a:r>
              <a:rPr lang="en-US" sz="4000" b="1" dirty="0">
                <a:solidFill>
                  <a:schemeClr val="accent6"/>
                </a:solidFill>
              </a:rPr>
              <a:t>450ms</a:t>
            </a:r>
            <a:endParaRPr lang="en-US" sz="4000" dirty="0"/>
          </a:p>
        </p:txBody>
      </p:sp>
      <p:sp>
        <p:nvSpPr>
          <p:cNvPr id="30" name="Text 23"/>
          <p:cNvSpPr txBox="1"/>
          <p:nvPr/>
        </p:nvSpPr>
        <p:spPr>
          <a:xfrm>
            <a:off x="4983480" y="3703320"/>
            <a:ext cx="3566160" cy="868680"/>
          </a:xfrm>
          <a:prstGeom prst="rect">
            <a:avLst/>
          </a:prstGeom>
          <a:noFill/>
          <a:ln/>
        </p:spPr>
        <p:txBody>
          <a:bodyPr wrap="square" lIns="0" tIns="0" rIns="0" bIns="0" rtlCol="0" anchor="t"/>
          <a:lstStyle/>
          <a:p>
            <a:pPr marL="0" indent="0" algn="l">
              <a:buNone/>
            </a:pPr>
            <a:r>
              <a:rPr lang="en-US" sz="1400" dirty="0">
                <a:solidFill>
                  <a:schemeClr val="bg1"/>
                </a:solidFill>
              </a:rPr>
              <a:t>Failsafe: if no new command arrives within 450 ms, the robot stops by itself (CONTROL_TIMEOUT)</a:t>
            </a:r>
            <a:endParaRPr lang="en-US" sz="1400" dirty="0"/>
          </a:p>
        </p:txBody>
      </p:sp>
      <p:sp>
        <p:nvSpPr>
          <p:cNvPr id="31"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WebSocket Commands</a:t>
            </a:r>
            <a:endParaRPr lang="en-US" sz="3400" dirty="0"/>
          </a:p>
        </p:txBody>
      </p:sp>
      <p:sp>
        <p:nvSpPr>
          <p:cNvPr id="3" name="icon-bg FaTerminal"/>
          <p:cNvSpPr/>
          <p:nvPr/>
        </p:nvSpPr>
        <p:spPr>
          <a:xfrm>
            <a:off x="457200" y="320040"/>
            <a:ext cx="685800" cy="685800"/>
          </a:xfrm>
          <a:prstGeom prst="ellipse">
            <a:avLst/>
          </a:prstGeom>
          <a:solidFill>
            <a:schemeClr val="accent1"/>
          </a:solidFill>
          <a:ln w="12700">
            <a:solidFill>
              <a:schemeClr val="accent1"/>
            </a:solidFill>
            <a:prstDash val="solid"/>
          </a:ln>
        </p:spPr>
        <p:txBody>
          <a:bodyPr/>
          <a:lstStyle/>
          <a:p>
            <a:endParaRPr lang="en-US"/>
          </a:p>
        </p:txBody>
      </p:sp>
      <p:pic>
        <p:nvPicPr>
          <p:cNvPr id="4" name="Image 0" descr="FaTerminal"/>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8229600" cy="457200"/>
          </a:xfrm>
          <a:prstGeom prst="roundRect">
            <a:avLst>
              <a:gd name="adj" fmla="val 24000"/>
            </a:avLst>
          </a:prstGeom>
          <a:solidFill>
            <a:schemeClr val="tx2"/>
          </a:solidFill>
          <a:ln w="12700">
            <a:solidFill>
              <a:schemeClr val="accent4"/>
            </a:solidFill>
            <a:prstDash val="solid"/>
          </a:ln>
        </p:spPr>
        <p:txBody>
          <a:bodyPr/>
          <a:lstStyle/>
          <a:p>
            <a:endParaRPr lang="en-US"/>
          </a:p>
        </p:txBody>
      </p:sp>
      <p:sp>
        <p:nvSpPr>
          <p:cNvPr id="6" name="pill"/>
          <p:cNvSpPr/>
          <p:nvPr/>
        </p:nvSpPr>
        <p:spPr>
          <a:xfrm>
            <a:off x="594360" y="1371600"/>
            <a:ext cx="1691640" cy="365760"/>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7" name="Text 4"/>
          <p:cNvSpPr txBox="1"/>
          <p:nvPr/>
        </p:nvSpPr>
        <p:spPr>
          <a:xfrm>
            <a:off x="594360" y="1371600"/>
            <a:ext cx="1691640" cy="365760"/>
          </a:xfrm>
          <a:prstGeom prst="rect">
            <a:avLst/>
          </a:prstGeom>
          <a:noFill/>
          <a:ln/>
        </p:spPr>
        <p:txBody>
          <a:bodyPr wrap="square" lIns="0" tIns="0" rIns="0" bIns="0" rtlCol="0" anchor="ctr"/>
          <a:lstStyle/>
          <a:p>
            <a:pPr marL="0" indent="0" algn="ctr">
              <a:buNone/>
            </a:pPr>
            <a:r>
              <a:rPr lang="en-US" sz="1400" b="1" dirty="0">
                <a:solidFill>
                  <a:schemeClr val="bg1"/>
                </a:solidFill>
              </a:rPr>
              <a:t>Movement</a:t>
            </a:r>
            <a:endParaRPr lang="en-US" sz="1400" dirty="0"/>
          </a:p>
        </p:txBody>
      </p:sp>
      <p:sp>
        <p:nvSpPr>
          <p:cNvPr id="8" name="Text 5"/>
          <p:cNvSpPr txBox="1"/>
          <p:nvPr/>
        </p:nvSpPr>
        <p:spPr>
          <a:xfrm>
            <a:off x="2514600" y="1325880"/>
            <a:ext cx="5943600" cy="457200"/>
          </a:xfrm>
          <a:prstGeom prst="rect">
            <a:avLst/>
          </a:prstGeom>
          <a:noFill/>
          <a:ln/>
        </p:spPr>
        <p:txBody>
          <a:bodyPr wrap="square" lIns="0" tIns="0" rIns="0" bIns="0" rtlCol="0" anchor="ctr"/>
          <a:lstStyle/>
          <a:p>
            <a:pPr marL="0" indent="0" algn="l">
              <a:buNone/>
            </a:pPr>
            <a:r>
              <a:rPr lang="en-US" sz="1400" dirty="0">
                <a:solidFill>
                  <a:schemeClr val="bg1"/>
                </a:solidFill>
                <a:latin typeface="Courier New" pitchFamily="34" charset="0"/>
                <a:ea typeface="Courier New" pitchFamily="34" charset="-122"/>
                <a:cs typeface="Courier New" pitchFamily="34" charset="-120"/>
              </a:rPr>
              <a:t>F   B   L   R   S   FL   FR   BL   BR</a:t>
            </a:r>
            <a:endParaRPr lang="en-US" sz="1400" dirty="0"/>
          </a:p>
        </p:txBody>
      </p:sp>
      <p:sp>
        <p:nvSpPr>
          <p:cNvPr id="9" name="card"/>
          <p:cNvSpPr/>
          <p:nvPr/>
        </p:nvSpPr>
        <p:spPr>
          <a:xfrm>
            <a:off x="457200" y="1874520"/>
            <a:ext cx="8229600" cy="457200"/>
          </a:xfrm>
          <a:prstGeom prst="roundRect">
            <a:avLst>
              <a:gd name="adj" fmla="val 24000"/>
            </a:avLst>
          </a:prstGeom>
          <a:solidFill>
            <a:schemeClr val="tx2"/>
          </a:solidFill>
          <a:ln w="12700">
            <a:solidFill>
              <a:schemeClr val="accent4"/>
            </a:solidFill>
            <a:prstDash val="solid"/>
          </a:ln>
        </p:spPr>
        <p:txBody>
          <a:bodyPr/>
          <a:lstStyle/>
          <a:p>
            <a:endParaRPr lang="en-US"/>
          </a:p>
        </p:txBody>
      </p:sp>
      <p:sp>
        <p:nvSpPr>
          <p:cNvPr id="10" name="pill"/>
          <p:cNvSpPr/>
          <p:nvPr/>
        </p:nvSpPr>
        <p:spPr>
          <a:xfrm>
            <a:off x="594360" y="1920240"/>
            <a:ext cx="1691640" cy="365760"/>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94360" y="1920240"/>
            <a:ext cx="1691640" cy="365760"/>
          </a:xfrm>
          <a:prstGeom prst="rect">
            <a:avLst/>
          </a:prstGeom>
          <a:noFill/>
          <a:ln/>
        </p:spPr>
        <p:txBody>
          <a:bodyPr wrap="square" lIns="0" tIns="0" rIns="0" bIns="0" rtlCol="0" anchor="ctr"/>
          <a:lstStyle/>
          <a:p>
            <a:pPr marL="0" indent="0" algn="ctr">
              <a:buNone/>
            </a:pPr>
            <a:r>
              <a:rPr lang="en-US" sz="1400" b="1" dirty="0">
                <a:solidFill>
                  <a:schemeClr val="tx1"/>
                </a:solidFill>
              </a:rPr>
              <a:t>Speed</a:t>
            </a:r>
            <a:endParaRPr lang="en-US" sz="1400" dirty="0"/>
          </a:p>
        </p:txBody>
      </p:sp>
      <p:sp>
        <p:nvSpPr>
          <p:cNvPr id="12" name="Text 9"/>
          <p:cNvSpPr txBox="1"/>
          <p:nvPr/>
        </p:nvSpPr>
        <p:spPr>
          <a:xfrm>
            <a:off x="2514600" y="1874520"/>
            <a:ext cx="5943600" cy="457200"/>
          </a:xfrm>
          <a:prstGeom prst="rect">
            <a:avLst/>
          </a:prstGeom>
          <a:noFill/>
          <a:ln/>
        </p:spPr>
        <p:txBody>
          <a:bodyPr wrap="square" lIns="0" tIns="0" rIns="0" bIns="0" rtlCol="0" anchor="ctr"/>
          <a:lstStyle/>
          <a:p>
            <a:pPr marL="0" indent="0" algn="l">
              <a:buNone/>
            </a:pPr>
            <a:r>
              <a:rPr lang="en-US" sz="1400" dirty="0">
                <a:solidFill>
                  <a:schemeClr val="bg1"/>
                </a:solidFill>
                <a:latin typeface="Courier New" pitchFamily="34" charset="0"/>
                <a:ea typeface="Courier New" pitchFamily="34" charset="-122"/>
                <a:cs typeface="Courier New" pitchFamily="34" charset="-120"/>
              </a:rPr>
              <a:t>SPD:200        (0 - 255)</a:t>
            </a:r>
            <a:endParaRPr lang="en-US" sz="1400" dirty="0"/>
          </a:p>
        </p:txBody>
      </p:sp>
      <p:sp>
        <p:nvSpPr>
          <p:cNvPr id="13" name="card"/>
          <p:cNvSpPr/>
          <p:nvPr/>
        </p:nvSpPr>
        <p:spPr>
          <a:xfrm>
            <a:off x="457200" y="2423160"/>
            <a:ext cx="8229600" cy="457200"/>
          </a:xfrm>
          <a:prstGeom prst="roundRect">
            <a:avLst>
              <a:gd name="adj" fmla="val 24000"/>
            </a:avLst>
          </a:prstGeom>
          <a:solidFill>
            <a:schemeClr val="tx2"/>
          </a:solidFill>
          <a:ln w="12700">
            <a:solidFill>
              <a:schemeClr val="accent4"/>
            </a:solidFill>
            <a:prstDash val="solid"/>
          </a:ln>
        </p:spPr>
        <p:txBody>
          <a:bodyPr/>
          <a:lstStyle/>
          <a:p>
            <a:endParaRPr lang="en-US"/>
          </a:p>
        </p:txBody>
      </p:sp>
      <p:sp>
        <p:nvSpPr>
          <p:cNvPr id="14" name="pill"/>
          <p:cNvSpPr/>
          <p:nvPr/>
        </p:nvSpPr>
        <p:spPr>
          <a:xfrm>
            <a:off x="594360" y="2468880"/>
            <a:ext cx="1691640" cy="365760"/>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15" name="Text 12"/>
          <p:cNvSpPr txBox="1"/>
          <p:nvPr/>
        </p:nvSpPr>
        <p:spPr>
          <a:xfrm>
            <a:off x="594360" y="2468880"/>
            <a:ext cx="1691640" cy="365760"/>
          </a:xfrm>
          <a:prstGeom prst="rect">
            <a:avLst/>
          </a:prstGeom>
          <a:noFill/>
          <a:ln/>
        </p:spPr>
        <p:txBody>
          <a:bodyPr wrap="square" lIns="0" tIns="0" rIns="0" bIns="0" rtlCol="0" anchor="ctr"/>
          <a:lstStyle/>
          <a:p>
            <a:pPr marL="0" indent="0" algn="ctr">
              <a:buNone/>
            </a:pPr>
            <a:r>
              <a:rPr lang="en-US" sz="1400" b="1" dirty="0">
                <a:solidFill>
                  <a:schemeClr val="bg1"/>
                </a:solidFill>
              </a:rPr>
              <a:t>Autonomous</a:t>
            </a:r>
            <a:endParaRPr lang="en-US" sz="1400" dirty="0"/>
          </a:p>
        </p:txBody>
      </p:sp>
      <p:sp>
        <p:nvSpPr>
          <p:cNvPr id="16" name="Text 13"/>
          <p:cNvSpPr txBox="1"/>
          <p:nvPr/>
        </p:nvSpPr>
        <p:spPr>
          <a:xfrm>
            <a:off x="2514600" y="2423160"/>
            <a:ext cx="5943600" cy="457200"/>
          </a:xfrm>
          <a:prstGeom prst="rect">
            <a:avLst/>
          </a:prstGeom>
          <a:noFill/>
          <a:ln/>
        </p:spPr>
        <p:txBody>
          <a:bodyPr wrap="square" lIns="0" tIns="0" rIns="0" bIns="0" rtlCol="0" anchor="ctr"/>
          <a:lstStyle/>
          <a:p>
            <a:pPr marL="0" indent="0" algn="l">
              <a:buNone/>
            </a:pPr>
            <a:r>
              <a:rPr lang="en-US" sz="1400" dirty="0">
                <a:solidFill>
                  <a:schemeClr val="bg1"/>
                </a:solidFill>
                <a:latin typeface="Courier New" pitchFamily="34" charset="0"/>
                <a:ea typeface="Courier New" pitchFamily="34" charset="-122"/>
                <a:cs typeface="Courier New" pitchFamily="34" charset="-120"/>
              </a:rPr>
              <a:t>AUTO:ON   AUTO:OFF</a:t>
            </a:r>
            <a:endParaRPr lang="en-US" sz="1400" dirty="0"/>
          </a:p>
        </p:txBody>
      </p:sp>
      <p:sp>
        <p:nvSpPr>
          <p:cNvPr id="17" name="card"/>
          <p:cNvSpPr/>
          <p:nvPr/>
        </p:nvSpPr>
        <p:spPr>
          <a:xfrm>
            <a:off x="457200" y="2971800"/>
            <a:ext cx="8229600" cy="457200"/>
          </a:xfrm>
          <a:prstGeom prst="roundRect">
            <a:avLst>
              <a:gd name="adj" fmla="val 24000"/>
            </a:avLst>
          </a:prstGeom>
          <a:solidFill>
            <a:schemeClr val="tx2"/>
          </a:solidFill>
          <a:ln w="12700">
            <a:solidFill>
              <a:schemeClr val="accent4"/>
            </a:solidFill>
            <a:prstDash val="solid"/>
          </a:ln>
        </p:spPr>
        <p:txBody>
          <a:bodyPr/>
          <a:lstStyle/>
          <a:p>
            <a:endParaRPr lang="en-US"/>
          </a:p>
        </p:txBody>
      </p:sp>
      <p:sp>
        <p:nvSpPr>
          <p:cNvPr id="18" name="pill"/>
          <p:cNvSpPr/>
          <p:nvPr/>
        </p:nvSpPr>
        <p:spPr>
          <a:xfrm>
            <a:off x="594360" y="3017520"/>
            <a:ext cx="1691640" cy="365760"/>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19" name="Text 16"/>
          <p:cNvSpPr txBox="1"/>
          <p:nvPr/>
        </p:nvSpPr>
        <p:spPr>
          <a:xfrm>
            <a:off x="594360" y="3017520"/>
            <a:ext cx="1691640" cy="365760"/>
          </a:xfrm>
          <a:prstGeom prst="rect">
            <a:avLst/>
          </a:prstGeom>
          <a:noFill/>
          <a:ln/>
        </p:spPr>
        <p:txBody>
          <a:bodyPr wrap="square" lIns="0" tIns="0" rIns="0" bIns="0" rtlCol="0" anchor="ctr"/>
          <a:lstStyle/>
          <a:p>
            <a:pPr marL="0" indent="0" algn="ctr">
              <a:buNone/>
            </a:pPr>
            <a:r>
              <a:rPr lang="en-US" sz="1400" b="1" dirty="0">
                <a:solidFill>
                  <a:schemeClr val="tx1"/>
                </a:solidFill>
              </a:rPr>
              <a:t>Camera</a:t>
            </a:r>
            <a:endParaRPr lang="en-US" sz="1400" dirty="0"/>
          </a:p>
        </p:txBody>
      </p:sp>
      <p:sp>
        <p:nvSpPr>
          <p:cNvPr id="20" name="Text 17"/>
          <p:cNvSpPr txBox="1"/>
          <p:nvPr/>
        </p:nvSpPr>
        <p:spPr>
          <a:xfrm>
            <a:off x="2514600" y="2971800"/>
            <a:ext cx="5943600" cy="457200"/>
          </a:xfrm>
          <a:prstGeom prst="rect">
            <a:avLst/>
          </a:prstGeom>
          <a:noFill/>
          <a:ln/>
        </p:spPr>
        <p:txBody>
          <a:bodyPr wrap="square" lIns="0" tIns="0" rIns="0" bIns="0" rtlCol="0" anchor="ctr"/>
          <a:lstStyle/>
          <a:p>
            <a:pPr marL="0" indent="0" algn="l">
              <a:buNone/>
            </a:pPr>
            <a:r>
              <a:rPr lang="en-US" sz="1400" dirty="0">
                <a:solidFill>
                  <a:schemeClr val="bg1"/>
                </a:solidFill>
                <a:latin typeface="Courier New" pitchFamily="34" charset="0"/>
                <a:ea typeface="Courier New" pitchFamily="34" charset="-122"/>
                <a:cs typeface="Courier New" pitchFamily="34" charset="-120"/>
              </a:rPr>
              <a:t>CAM:ON   CAM:OFF   FLASH:ON   FLASH:OFF</a:t>
            </a:r>
            <a:endParaRPr lang="en-US" sz="1400" dirty="0"/>
          </a:p>
        </p:txBody>
      </p:sp>
      <p:sp>
        <p:nvSpPr>
          <p:cNvPr id="21" name="card"/>
          <p:cNvSpPr/>
          <p:nvPr/>
        </p:nvSpPr>
        <p:spPr>
          <a:xfrm>
            <a:off x="457200" y="3520440"/>
            <a:ext cx="8229600" cy="457200"/>
          </a:xfrm>
          <a:prstGeom prst="roundRect">
            <a:avLst>
              <a:gd name="adj" fmla="val 24000"/>
            </a:avLst>
          </a:prstGeom>
          <a:solidFill>
            <a:schemeClr val="tx2"/>
          </a:solidFill>
          <a:ln w="12700">
            <a:solidFill>
              <a:schemeClr val="accent4"/>
            </a:solidFill>
            <a:prstDash val="solid"/>
          </a:ln>
        </p:spPr>
        <p:txBody>
          <a:bodyPr/>
          <a:lstStyle/>
          <a:p>
            <a:endParaRPr lang="en-US"/>
          </a:p>
        </p:txBody>
      </p:sp>
      <p:sp>
        <p:nvSpPr>
          <p:cNvPr id="22" name="pill"/>
          <p:cNvSpPr/>
          <p:nvPr/>
        </p:nvSpPr>
        <p:spPr>
          <a:xfrm>
            <a:off x="594360" y="3566160"/>
            <a:ext cx="1691640" cy="365760"/>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23" name="Text 20"/>
          <p:cNvSpPr txBox="1"/>
          <p:nvPr/>
        </p:nvSpPr>
        <p:spPr>
          <a:xfrm>
            <a:off x="594360" y="3566160"/>
            <a:ext cx="1691640" cy="365760"/>
          </a:xfrm>
          <a:prstGeom prst="rect">
            <a:avLst/>
          </a:prstGeom>
          <a:noFill/>
          <a:ln/>
        </p:spPr>
        <p:txBody>
          <a:bodyPr wrap="square" lIns="0" tIns="0" rIns="0" bIns="0" rtlCol="0" anchor="ctr"/>
          <a:lstStyle/>
          <a:p>
            <a:pPr marL="0" indent="0" algn="ctr">
              <a:buNone/>
            </a:pPr>
            <a:r>
              <a:rPr lang="en-US" sz="1400" b="1" dirty="0">
                <a:solidFill>
                  <a:schemeClr val="bg1"/>
                </a:solidFill>
              </a:rPr>
              <a:t>Gripper</a:t>
            </a:r>
            <a:endParaRPr lang="en-US" sz="1400" dirty="0"/>
          </a:p>
        </p:txBody>
      </p:sp>
      <p:sp>
        <p:nvSpPr>
          <p:cNvPr id="24" name="Text 21"/>
          <p:cNvSpPr txBox="1"/>
          <p:nvPr/>
        </p:nvSpPr>
        <p:spPr>
          <a:xfrm>
            <a:off x="2514600" y="3520440"/>
            <a:ext cx="5943600" cy="457200"/>
          </a:xfrm>
          <a:prstGeom prst="rect">
            <a:avLst/>
          </a:prstGeom>
          <a:noFill/>
          <a:ln/>
        </p:spPr>
        <p:txBody>
          <a:bodyPr wrap="square" lIns="0" tIns="0" rIns="0" bIns="0" rtlCol="0" anchor="ctr"/>
          <a:lstStyle/>
          <a:p>
            <a:pPr marL="0" indent="0" algn="l">
              <a:buNone/>
            </a:pPr>
            <a:r>
              <a:rPr lang="en-US" sz="1400" dirty="0">
                <a:solidFill>
                  <a:schemeClr val="bg1"/>
                </a:solidFill>
                <a:latin typeface="Courier New" pitchFamily="34" charset="0"/>
                <a:ea typeface="Courier New" pitchFamily="34" charset="-122"/>
                <a:cs typeface="Courier New" pitchFamily="34" charset="-120"/>
              </a:rPr>
              <a:t>GRIP:OPEN   GRIP:CLOSE</a:t>
            </a:r>
            <a:endParaRPr lang="en-US" sz="1400" dirty="0"/>
          </a:p>
        </p:txBody>
      </p:sp>
      <p:sp>
        <p:nvSpPr>
          <p:cNvPr id="25" name="card"/>
          <p:cNvSpPr/>
          <p:nvPr/>
        </p:nvSpPr>
        <p:spPr>
          <a:xfrm>
            <a:off x="457200" y="4069080"/>
            <a:ext cx="8229600" cy="457200"/>
          </a:xfrm>
          <a:prstGeom prst="roundRect">
            <a:avLst>
              <a:gd name="adj" fmla="val 24000"/>
            </a:avLst>
          </a:prstGeom>
          <a:solidFill>
            <a:schemeClr val="tx2"/>
          </a:solidFill>
          <a:ln w="12700">
            <a:solidFill>
              <a:schemeClr val="accent4"/>
            </a:solidFill>
            <a:prstDash val="solid"/>
          </a:ln>
        </p:spPr>
        <p:txBody>
          <a:bodyPr/>
          <a:lstStyle/>
          <a:p>
            <a:endParaRPr lang="en-US"/>
          </a:p>
        </p:txBody>
      </p:sp>
      <p:sp>
        <p:nvSpPr>
          <p:cNvPr id="26" name="pill"/>
          <p:cNvSpPr/>
          <p:nvPr/>
        </p:nvSpPr>
        <p:spPr>
          <a:xfrm>
            <a:off x="594360" y="4114800"/>
            <a:ext cx="1691640" cy="365760"/>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27" name="Text 24"/>
          <p:cNvSpPr txBox="1"/>
          <p:nvPr/>
        </p:nvSpPr>
        <p:spPr>
          <a:xfrm>
            <a:off x="594360" y="4114800"/>
            <a:ext cx="1691640" cy="365760"/>
          </a:xfrm>
          <a:prstGeom prst="rect">
            <a:avLst/>
          </a:prstGeom>
          <a:noFill/>
          <a:ln/>
        </p:spPr>
        <p:txBody>
          <a:bodyPr wrap="square" lIns="0" tIns="0" rIns="0" bIns="0" rtlCol="0" anchor="ctr"/>
          <a:lstStyle/>
          <a:p>
            <a:pPr marL="0" indent="0" algn="ctr">
              <a:buNone/>
            </a:pPr>
            <a:r>
              <a:rPr lang="en-US" sz="1400" b="1" dirty="0">
                <a:solidFill>
                  <a:schemeClr val="tx1"/>
                </a:solidFill>
              </a:rPr>
              <a:t>System</a:t>
            </a:r>
            <a:endParaRPr lang="en-US" sz="1400" dirty="0"/>
          </a:p>
        </p:txBody>
      </p:sp>
      <p:sp>
        <p:nvSpPr>
          <p:cNvPr id="28" name="Text 25"/>
          <p:cNvSpPr txBox="1"/>
          <p:nvPr/>
        </p:nvSpPr>
        <p:spPr>
          <a:xfrm>
            <a:off x="2514600" y="4069080"/>
            <a:ext cx="5943600" cy="457200"/>
          </a:xfrm>
          <a:prstGeom prst="rect">
            <a:avLst/>
          </a:prstGeom>
          <a:noFill/>
          <a:ln/>
        </p:spPr>
        <p:txBody>
          <a:bodyPr wrap="square" lIns="0" tIns="0" rIns="0" bIns="0" rtlCol="0" anchor="ctr"/>
          <a:lstStyle/>
          <a:p>
            <a:pPr marL="0" indent="0" algn="l">
              <a:buNone/>
            </a:pPr>
            <a:r>
              <a:rPr lang="en-US" sz="1400" dirty="0">
                <a:solidFill>
                  <a:schemeClr val="bg1"/>
                </a:solidFill>
                <a:latin typeface="Courier New" pitchFamily="34" charset="0"/>
                <a:ea typeface="Courier New" pitchFamily="34" charset="-122"/>
                <a:cs typeface="Courier New" pitchFamily="34" charset="-120"/>
              </a:rPr>
              <a:t>HELLO → status      PING:t → PONG:t</a:t>
            </a:r>
            <a:endParaRPr lang="en-US" sz="1400" dirty="0"/>
          </a:p>
        </p:txBody>
      </p:sp>
      <p:sp>
        <p:nvSpPr>
          <p:cNvPr id="29"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943600" y="914400"/>
            <a:ext cx="2926080" cy="2011680"/>
          </a:xfrm>
          <a:prstGeom prst="rect">
            <a:avLst/>
          </a:prstGeom>
          <a:noFill/>
          <a:ln/>
        </p:spPr>
        <p:txBody>
          <a:bodyPr wrap="square" lIns="0" tIns="0" rIns="0" bIns="0" rtlCol="0" anchor="ctr"/>
          <a:lstStyle/>
          <a:p>
            <a:pPr marL="0" indent="0" algn="ctr">
              <a:buNone/>
            </a:pPr>
            <a:r>
              <a:rPr lang="en-US" sz="11000" b="1" dirty="0">
                <a:solidFill>
                  <a:schemeClr val="bg1"/>
                </a:solidFill>
              </a:rPr>
              <a:t>02</a:t>
            </a:r>
            <a:endParaRPr lang="en-US" sz="11000" dirty="0"/>
          </a:p>
        </p:txBody>
      </p:sp>
      <p:sp>
        <p:nvSpPr>
          <p:cNvPr id="3" name="icon-bg FaDesktop"/>
          <p:cNvSpPr/>
          <p:nvPr/>
        </p:nvSpPr>
        <p:spPr>
          <a:xfrm>
            <a:off x="6903720" y="3200400"/>
            <a:ext cx="1005840" cy="100584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Desktop"/>
          <p:cNvPicPr>
            <a:picLocks noChangeAspect="1"/>
          </p:cNvPicPr>
          <p:nvPr/>
        </p:nvPicPr>
        <p:blipFill>
          <a:blip r:embed="rId3"/>
          <a:stretch>
            <a:fillRect/>
          </a:stretch>
        </p:blipFill>
        <p:spPr>
          <a:xfrm>
            <a:off x="7155180" y="3451860"/>
            <a:ext cx="502920" cy="502920"/>
          </a:xfrm>
          <a:prstGeom prst="rect">
            <a:avLst/>
          </a:prstGeom>
        </p:spPr>
      </p:pic>
      <p:sp>
        <p:nvSpPr>
          <p:cNvPr id="5" name="Text 1"/>
          <p:cNvSpPr>
            <a:spLocks noGrp="1"/>
          </p:cNvSpPr>
          <p:nvPr>
            <p:ph type="title" idx="101" hasCustomPrompt="1"/>
          </p:nvPr>
        </p:nvSpPr>
        <p:spPr>
          <a:xfrm>
            <a:off x="457200" y="1554480"/>
            <a:ext cx="4846320" cy="1280160"/>
          </a:xfrm>
          <a:prstGeom prst="rect">
            <a:avLst/>
          </a:prstGeom>
          <a:noFill/>
          <a:ln/>
        </p:spPr>
        <p:txBody>
          <a:bodyPr wrap="square" lIns="0" tIns="0" rIns="0" bIns="0" rtlCol="0" anchor="ctr"/>
          <a:lstStyle/>
          <a:p>
            <a:pPr marL="0" indent="0" algn="l">
              <a:buNone/>
            </a:pPr>
            <a:r>
              <a:rPr lang="en-US" sz="4400" b="1" dirty="0">
                <a:solidFill>
                  <a:schemeClr val="bg1"/>
                </a:solidFill>
              </a:rPr>
              <a:t>Dashboard</a:t>
            </a:r>
            <a:endParaRPr lang="en-US" sz="4400" dirty="0"/>
          </a:p>
        </p:txBody>
      </p:sp>
      <p:sp>
        <p:nvSpPr>
          <p:cNvPr id="6" name="Text 1"/>
          <p:cNvSpPr>
            <a:spLocks noGrp="1"/>
          </p:cNvSpPr>
          <p:nvPr>
            <p:ph type="body" idx="102" hasCustomPrompt="1"/>
          </p:nvPr>
        </p:nvSpPr>
        <p:spPr>
          <a:xfrm>
            <a:off x="457200" y="2971800"/>
            <a:ext cx="4846320" cy="914400"/>
          </a:xfrm>
          <a:prstGeom prst="rect">
            <a:avLst/>
          </a:prstGeom>
          <a:noFill/>
          <a:ln/>
        </p:spPr>
        <p:txBody>
          <a:bodyPr wrap="square" lIns="0" tIns="0" rIns="0" bIns="0" rtlCol="0" anchor="t"/>
          <a:lstStyle/>
          <a:p>
            <a:pPr marL="0" indent="0" algn="l">
              <a:buNone/>
            </a:pPr>
            <a:r>
              <a:rPr lang="en-US" sz="1800" dirty="0">
                <a:solidFill>
                  <a:schemeClr val="accent2"/>
                </a:solidFill>
              </a:rPr>
              <a:t>An HTML page stored in PROGMEM and served by the ESP32</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Dashboard Components</a:t>
            </a:r>
            <a:endParaRPr lang="en-US" sz="3400" dirty="0"/>
          </a:p>
        </p:txBody>
      </p:sp>
      <p:sp>
        <p:nvSpPr>
          <p:cNvPr id="3" name="icon-bg FaThLarge"/>
          <p:cNvSpPr/>
          <p:nvPr/>
        </p:nvSpPr>
        <p:spPr>
          <a:xfrm>
            <a:off x="457200" y="320040"/>
            <a:ext cx="685800" cy="68580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ThLarge"/>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6" name="icon-bg FaInfoCircle"/>
          <p:cNvSpPr/>
          <p:nvPr/>
        </p:nvSpPr>
        <p:spPr>
          <a:xfrm>
            <a:off x="594360" y="1463040"/>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7" name="Image 1" descr="FaInfoCircle"/>
          <p:cNvPicPr>
            <a:picLocks noChangeAspect="1"/>
          </p:cNvPicPr>
          <p:nvPr/>
        </p:nvPicPr>
        <p:blipFill>
          <a:blip r:embed="rId4"/>
          <a:stretch>
            <a:fillRect/>
          </a:stretch>
        </p:blipFill>
        <p:spPr>
          <a:xfrm>
            <a:off x="720090" y="1588770"/>
            <a:ext cx="251460" cy="251460"/>
          </a:xfrm>
          <a:prstGeom prst="rect">
            <a:avLst/>
          </a:prstGeom>
        </p:spPr>
      </p:pic>
      <p:sp>
        <p:nvSpPr>
          <p:cNvPr id="8" name="Text 4"/>
          <p:cNvSpPr txBox="1"/>
          <p:nvPr/>
        </p:nvSpPr>
        <p:spPr>
          <a:xfrm>
            <a:off x="1188720" y="1463040"/>
            <a:ext cx="1783080" cy="502920"/>
          </a:xfrm>
          <a:prstGeom prst="rect">
            <a:avLst/>
          </a:prstGeom>
          <a:noFill/>
          <a:ln/>
        </p:spPr>
        <p:txBody>
          <a:bodyPr wrap="square" lIns="0" tIns="0" rIns="0" bIns="0" rtlCol="0" anchor="ctr"/>
          <a:lstStyle/>
          <a:p>
            <a:pPr marL="0" indent="0" algn="l">
              <a:buNone/>
            </a:pPr>
            <a:r>
              <a:rPr lang="en-US" sz="1600" b="1" dirty="0">
                <a:solidFill>
                  <a:schemeClr val="accent2"/>
                </a:solidFill>
              </a:rPr>
              <a:t>Robot status</a:t>
            </a:r>
            <a:endParaRPr lang="en-US" sz="1600" dirty="0"/>
          </a:p>
        </p:txBody>
      </p:sp>
      <p:sp>
        <p:nvSpPr>
          <p:cNvPr id="9" name="Text 5"/>
          <p:cNvSpPr txBox="1"/>
          <p:nvPr/>
        </p:nvSpPr>
        <p:spPr>
          <a:xfrm>
            <a:off x="594360" y="2103120"/>
            <a:ext cx="2377440" cy="731520"/>
          </a:xfrm>
          <a:prstGeom prst="rect">
            <a:avLst/>
          </a:prstGeom>
          <a:noFill/>
          <a:ln/>
        </p:spPr>
        <p:txBody>
          <a:bodyPr wrap="square" lIns="0" tIns="0" rIns="0" bIns="0" rtlCol="0" anchor="t"/>
          <a:lstStyle/>
          <a:p>
            <a:pPr marL="0" indent="0" algn="l">
              <a:buNone/>
            </a:pPr>
            <a:r>
              <a:rPr lang="en-US" sz="1400" dirty="0">
                <a:solidFill>
                  <a:schemeClr val="bg1"/>
                </a:solidFill>
              </a:rPr>
              <a:t>Current state plus WS, RTT and client count</a:t>
            </a:r>
            <a:endParaRPr lang="en-US" sz="1400" dirty="0"/>
          </a:p>
        </p:txBody>
      </p:sp>
      <p:sp>
        <p:nvSpPr>
          <p:cNvPr id="10" name="card"/>
          <p:cNvSpPr/>
          <p:nvPr/>
        </p:nvSpPr>
        <p:spPr>
          <a:xfrm>
            <a:off x="3246120" y="132588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11" name="icon-bg FaTachometerAlt"/>
          <p:cNvSpPr/>
          <p:nvPr/>
        </p:nvSpPr>
        <p:spPr>
          <a:xfrm>
            <a:off x="3383280" y="1463040"/>
            <a:ext cx="502920" cy="502920"/>
          </a:xfrm>
          <a:prstGeom prst="ellipse">
            <a:avLst/>
          </a:prstGeom>
          <a:solidFill>
            <a:schemeClr val="accent2"/>
          </a:solidFill>
          <a:ln w="12700">
            <a:solidFill>
              <a:schemeClr val="accent2"/>
            </a:solidFill>
            <a:prstDash val="solid"/>
          </a:ln>
        </p:spPr>
        <p:txBody>
          <a:bodyPr/>
          <a:lstStyle/>
          <a:p>
            <a:endParaRPr lang="en-US"/>
          </a:p>
        </p:txBody>
      </p:sp>
      <p:pic>
        <p:nvPicPr>
          <p:cNvPr id="12" name="Image 2" descr="FaTachometerAlt"/>
          <p:cNvPicPr>
            <a:picLocks noChangeAspect="1"/>
          </p:cNvPicPr>
          <p:nvPr/>
        </p:nvPicPr>
        <p:blipFill>
          <a:blip r:embed="rId5"/>
          <a:stretch>
            <a:fillRect/>
          </a:stretch>
        </p:blipFill>
        <p:spPr>
          <a:xfrm>
            <a:off x="3509010" y="1588770"/>
            <a:ext cx="251460" cy="251460"/>
          </a:xfrm>
          <a:prstGeom prst="rect">
            <a:avLst/>
          </a:prstGeom>
        </p:spPr>
      </p:pic>
      <p:sp>
        <p:nvSpPr>
          <p:cNvPr id="13" name="Text 8"/>
          <p:cNvSpPr txBox="1"/>
          <p:nvPr/>
        </p:nvSpPr>
        <p:spPr>
          <a:xfrm>
            <a:off x="3977640" y="1463040"/>
            <a:ext cx="1783080" cy="502920"/>
          </a:xfrm>
          <a:prstGeom prst="rect">
            <a:avLst/>
          </a:prstGeom>
          <a:noFill/>
          <a:ln/>
        </p:spPr>
        <p:txBody>
          <a:bodyPr wrap="square" lIns="0" tIns="0" rIns="0" bIns="0" rtlCol="0" anchor="ctr"/>
          <a:lstStyle/>
          <a:p>
            <a:pPr marL="0" indent="0" algn="l">
              <a:buNone/>
            </a:pPr>
            <a:r>
              <a:rPr lang="en-US" sz="1600" b="1" dirty="0">
                <a:solidFill>
                  <a:schemeClr val="accent2"/>
                </a:solidFill>
              </a:rPr>
              <a:t>Speed</a:t>
            </a:r>
            <a:endParaRPr lang="en-US" sz="1600" dirty="0"/>
          </a:p>
        </p:txBody>
      </p:sp>
      <p:sp>
        <p:nvSpPr>
          <p:cNvPr id="14" name="Text 9"/>
          <p:cNvSpPr txBox="1"/>
          <p:nvPr/>
        </p:nvSpPr>
        <p:spPr>
          <a:xfrm>
            <a:off x="3383280" y="2103120"/>
            <a:ext cx="2377440" cy="731520"/>
          </a:xfrm>
          <a:prstGeom prst="rect">
            <a:avLst/>
          </a:prstGeom>
          <a:noFill/>
          <a:ln/>
        </p:spPr>
        <p:txBody>
          <a:bodyPr wrap="square" lIns="0" tIns="0" rIns="0" bIns="0" rtlCol="0" anchor="t"/>
          <a:lstStyle/>
          <a:p>
            <a:pPr marL="0" indent="0" algn="l">
              <a:buNone/>
            </a:pPr>
            <a:r>
              <a:rPr lang="en-US" sz="1400" dirty="0">
                <a:solidFill>
                  <a:schemeClr val="bg1"/>
                </a:solidFill>
              </a:rPr>
              <a:t>Slider from 0 to 255 with + and − buttons</a:t>
            </a:r>
            <a:endParaRPr lang="en-US" sz="1400" dirty="0"/>
          </a:p>
        </p:txBody>
      </p:sp>
      <p:sp>
        <p:nvSpPr>
          <p:cNvPr id="15" name="card"/>
          <p:cNvSpPr/>
          <p:nvPr/>
        </p:nvSpPr>
        <p:spPr>
          <a:xfrm>
            <a:off x="6035040" y="132588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16" name="icon-bg FaArrowsAlt"/>
          <p:cNvSpPr/>
          <p:nvPr/>
        </p:nvSpPr>
        <p:spPr>
          <a:xfrm>
            <a:off x="6172200" y="1463040"/>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17" name="Image 3" descr="FaArrowsAlt"/>
          <p:cNvPicPr>
            <a:picLocks noChangeAspect="1"/>
          </p:cNvPicPr>
          <p:nvPr/>
        </p:nvPicPr>
        <p:blipFill>
          <a:blip r:embed="rId6"/>
          <a:stretch>
            <a:fillRect/>
          </a:stretch>
        </p:blipFill>
        <p:spPr>
          <a:xfrm>
            <a:off x="6297930" y="1588770"/>
            <a:ext cx="251460" cy="251460"/>
          </a:xfrm>
          <a:prstGeom prst="rect">
            <a:avLst/>
          </a:prstGeom>
        </p:spPr>
      </p:pic>
      <p:sp>
        <p:nvSpPr>
          <p:cNvPr id="18" name="Text 12"/>
          <p:cNvSpPr txBox="1"/>
          <p:nvPr/>
        </p:nvSpPr>
        <p:spPr>
          <a:xfrm>
            <a:off x="6766560" y="1463040"/>
            <a:ext cx="1783080" cy="502920"/>
          </a:xfrm>
          <a:prstGeom prst="rect">
            <a:avLst/>
          </a:prstGeom>
          <a:noFill/>
          <a:ln/>
        </p:spPr>
        <p:txBody>
          <a:bodyPr wrap="square" lIns="0" tIns="0" rIns="0" bIns="0" rtlCol="0" anchor="ctr"/>
          <a:lstStyle/>
          <a:p>
            <a:pPr marL="0" indent="0" algn="l">
              <a:buNone/>
            </a:pPr>
            <a:r>
              <a:rPr lang="en-US" sz="1600" b="1" dirty="0">
                <a:solidFill>
                  <a:schemeClr val="accent2"/>
                </a:solidFill>
              </a:rPr>
              <a:t>Arrow controls</a:t>
            </a:r>
            <a:endParaRPr lang="en-US" sz="1600" dirty="0"/>
          </a:p>
        </p:txBody>
      </p:sp>
      <p:sp>
        <p:nvSpPr>
          <p:cNvPr id="19" name="Text 13"/>
          <p:cNvSpPr txBox="1"/>
          <p:nvPr/>
        </p:nvSpPr>
        <p:spPr>
          <a:xfrm>
            <a:off x="6172200" y="2103120"/>
            <a:ext cx="2377440" cy="731520"/>
          </a:xfrm>
          <a:prstGeom prst="rect">
            <a:avLst/>
          </a:prstGeom>
          <a:noFill/>
          <a:ln/>
        </p:spPr>
        <p:txBody>
          <a:bodyPr wrap="square" lIns="0" tIns="0" rIns="0" bIns="0" rtlCol="0" anchor="t"/>
          <a:lstStyle/>
          <a:p>
            <a:pPr marL="0" indent="0" algn="l">
              <a:buNone/>
            </a:pPr>
            <a:r>
              <a:rPr lang="en-US" sz="1400" dirty="0">
                <a:solidFill>
                  <a:schemeClr val="bg1"/>
                </a:solidFill>
              </a:rPr>
              <a:t>Press and hold arrows, plus a red STOP button</a:t>
            </a:r>
            <a:endParaRPr lang="en-US" sz="1400" dirty="0"/>
          </a:p>
        </p:txBody>
      </p:sp>
      <p:sp>
        <p:nvSpPr>
          <p:cNvPr id="20" name="card"/>
          <p:cNvSpPr/>
          <p:nvPr/>
        </p:nvSpPr>
        <p:spPr>
          <a:xfrm>
            <a:off x="457200" y="306324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21" name="icon-bg FaExchangeAlt"/>
          <p:cNvSpPr/>
          <p:nvPr/>
        </p:nvSpPr>
        <p:spPr>
          <a:xfrm>
            <a:off x="594360" y="3200400"/>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22" name="Image 4" descr="FaExchangeAlt"/>
          <p:cNvPicPr>
            <a:picLocks noChangeAspect="1"/>
          </p:cNvPicPr>
          <p:nvPr/>
        </p:nvPicPr>
        <p:blipFill>
          <a:blip r:embed="rId7"/>
          <a:stretch>
            <a:fillRect/>
          </a:stretch>
        </p:blipFill>
        <p:spPr>
          <a:xfrm>
            <a:off x="720090" y="3326130"/>
            <a:ext cx="251460" cy="251460"/>
          </a:xfrm>
          <a:prstGeom prst="rect">
            <a:avLst/>
          </a:prstGeom>
        </p:spPr>
      </p:pic>
      <p:sp>
        <p:nvSpPr>
          <p:cNvPr id="23" name="Text 16"/>
          <p:cNvSpPr txBox="1"/>
          <p:nvPr/>
        </p:nvSpPr>
        <p:spPr>
          <a:xfrm>
            <a:off x="1188720" y="3200400"/>
            <a:ext cx="1783080" cy="502920"/>
          </a:xfrm>
          <a:prstGeom prst="rect">
            <a:avLst/>
          </a:prstGeom>
          <a:noFill/>
          <a:ln/>
        </p:spPr>
        <p:txBody>
          <a:bodyPr wrap="square" lIns="0" tIns="0" rIns="0" bIns="0" rtlCol="0" anchor="ctr"/>
          <a:lstStyle/>
          <a:p>
            <a:pPr marL="0" indent="0" algn="l">
              <a:buNone/>
            </a:pPr>
            <a:r>
              <a:rPr lang="en-US" sz="1600" b="1" dirty="0">
                <a:solidFill>
                  <a:schemeClr val="accent2"/>
                </a:solidFill>
              </a:rPr>
              <a:t>Control direction</a:t>
            </a:r>
            <a:endParaRPr lang="en-US" sz="1600" dirty="0"/>
          </a:p>
        </p:txBody>
      </p:sp>
      <p:sp>
        <p:nvSpPr>
          <p:cNvPr id="24" name="Text 17"/>
          <p:cNvSpPr txBox="1"/>
          <p:nvPr/>
        </p:nvSpPr>
        <p:spPr>
          <a:xfrm>
            <a:off x="594360" y="3840480"/>
            <a:ext cx="2377440" cy="731520"/>
          </a:xfrm>
          <a:prstGeom prst="rect">
            <a:avLst/>
          </a:prstGeom>
          <a:noFill/>
          <a:ln/>
        </p:spPr>
        <p:txBody>
          <a:bodyPr wrap="square" lIns="0" tIns="0" rIns="0" bIns="0" rtlCol="0" anchor="t"/>
          <a:lstStyle/>
          <a:p>
            <a:pPr marL="0" indent="0" algn="l">
              <a:buNone/>
            </a:pPr>
            <a:r>
              <a:rPr lang="en-US" sz="1400" dirty="0">
                <a:solidFill>
                  <a:schemeClr val="bg1"/>
                </a:solidFill>
              </a:rPr>
              <a:t>Reverse button swaps forward and backward</a:t>
            </a:r>
            <a:endParaRPr lang="en-US" sz="1400" dirty="0"/>
          </a:p>
        </p:txBody>
      </p:sp>
      <p:sp>
        <p:nvSpPr>
          <p:cNvPr id="25" name="card"/>
          <p:cNvSpPr/>
          <p:nvPr/>
        </p:nvSpPr>
        <p:spPr>
          <a:xfrm>
            <a:off x="3246120" y="306324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26" name="icon-bg FaRobot"/>
          <p:cNvSpPr/>
          <p:nvPr/>
        </p:nvSpPr>
        <p:spPr>
          <a:xfrm>
            <a:off x="3383280" y="3200400"/>
            <a:ext cx="502920" cy="502920"/>
          </a:xfrm>
          <a:prstGeom prst="ellipse">
            <a:avLst/>
          </a:prstGeom>
          <a:solidFill>
            <a:schemeClr val="accent2"/>
          </a:solidFill>
          <a:ln w="12700">
            <a:solidFill>
              <a:schemeClr val="accent2"/>
            </a:solidFill>
            <a:prstDash val="solid"/>
          </a:ln>
        </p:spPr>
        <p:txBody>
          <a:bodyPr/>
          <a:lstStyle/>
          <a:p>
            <a:endParaRPr lang="en-US"/>
          </a:p>
        </p:txBody>
      </p:sp>
      <p:pic>
        <p:nvPicPr>
          <p:cNvPr id="27" name="Image 5" descr="FaRobot"/>
          <p:cNvPicPr>
            <a:picLocks noChangeAspect="1"/>
          </p:cNvPicPr>
          <p:nvPr/>
        </p:nvPicPr>
        <p:blipFill>
          <a:blip r:embed="rId8"/>
          <a:stretch>
            <a:fillRect/>
          </a:stretch>
        </p:blipFill>
        <p:spPr>
          <a:xfrm>
            <a:off x="3509010" y="3326130"/>
            <a:ext cx="251460" cy="251460"/>
          </a:xfrm>
          <a:prstGeom prst="rect">
            <a:avLst/>
          </a:prstGeom>
        </p:spPr>
      </p:pic>
      <p:sp>
        <p:nvSpPr>
          <p:cNvPr id="28" name="Text 20"/>
          <p:cNvSpPr txBox="1"/>
          <p:nvPr/>
        </p:nvSpPr>
        <p:spPr>
          <a:xfrm>
            <a:off x="3977640" y="3200400"/>
            <a:ext cx="1783080" cy="502920"/>
          </a:xfrm>
          <a:prstGeom prst="rect">
            <a:avLst/>
          </a:prstGeom>
          <a:noFill/>
          <a:ln/>
        </p:spPr>
        <p:txBody>
          <a:bodyPr wrap="square" lIns="0" tIns="0" rIns="0" bIns="0" rtlCol="0" anchor="ctr"/>
          <a:lstStyle/>
          <a:p>
            <a:pPr marL="0" indent="0" algn="l">
              <a:buNone/>
            </a:pPr>
            <a:r>
              <a:rPr lang="en-US" sz="1600" b="1" dirty="0">
                <a:solidFill>
                  <a:schemeClr val="accent2"/>
                </a:solidFill>
              </a:rPr>
              <a:t>Autonomous</a:t>
            </a:r>
            <a:endParaRPr lang="en-US" sz="1600" dirty="0"/>
          </a:p>
        </p:txBody>
      </p:sp>
      <p:sp>
        <p:nvSpPr>
          <p:cNvPr id="29" name="Text 21"/>
          <p:cNvSpPr txBox="1"/>
          <p:nvPr/>
        </p:nvSpPr>
        <p:spPr>
          <a:xfrm>
            <a:off x="3383280" y="3840480"/>
            <a:ext cx="2377440" cy="731520"/>
          </a:xfrm>
          <a:prstGeom prst="rect">
            <a:avLst/>
          </a:prstGeom>
          <a:noFill/>
          <a:ln/>
        </p:spPr>
        <p:txBody>
          <a:bodyPr wrap="square" lIns="0" tIns="0" rIns="0" bIns="0" rtlCol="0" anchor="t"/>
          <a:lstStyle/>
          <a:p>
            <a:pPr marL="0" indent="0" algn="l">
              <a:buNone/>
            </a:pPr>
            <a:r>
              <a:rPr lang="en-US" sz="1400" dirty="0">
                <a:solidFill>
                  <a:schemeClr val="bg1"/>
                </a:solidFill>
              </a:rPr>
              <a:t>ON / OFF and the four sensor readings</a:t>
            </a:r>
            <a:endParaRPr lang="en-US" sz="1400" dirty="0"/>
          </a:p>
        </p:txBody>
      </p:sp>
      <p:sp>
        <p:nvSpPr>
          <p:cNvPr id="30" name="card"/>
          <p:cNvSpPr/>
          <p:nvPr/>
        </p:nvSpPr>
        <p:spPr>
          <a:xfrm>
            <a:off x="6035040" y="306324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31" name="icon-bg FaCamera"/>
          <p:cNvSpPr/>
          <p:nvPr/>
        </p:nvSpPr>
        <p:spPr>
          <a:xfrm>
            <a:off x="6172200" y="3200400"/>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32" name="Image 6" descr="FaCamera"/>
          <p:cNvPicPr>
            <a:picLocks noChangeAspect="1"/>
          </p:cNvPicPr>
          <p:nvPr/>
        </p:nvPicPr>
        <p:blipFill>
          <a:blip r:embed="rId9"/>
          <a:stretch>
            <a:fillRect/>
          </a:stretch>
        </p:blipFill>
        <p:spPr>
          <a:xfrm>
            <a:off x="6297930" y="3326130"/>
            <a:ext cx="251460" cy="251460"/>
          </a:xfrm>
          <a:prstGeom prst="rect">
            <a:avLst/>
          </a:prstGeom>
        </p:spPr>
      </p:pic>
      <p:sp>
        <p:nvSpPr>
          <p:cNvPr id="33" name="Text 24"/>
          <p:cNvSpPr txBox="1"/>
          <p:nvPr/>
        </p:nvSpPr>
        <p:spPr>
          <a:xfrm>
            <a:off x="6766560" y="3200400"/>
            <a:ext cx="1783080" cy="502920"/>
          </a:xfrm>
          <a:prstGeom prst="rect">
            <a:avLst/>
          </a:prstGeom>
          <a:noFill/>
          <a:ln/>
        </p:spPr>
        <p:txBody>
          <a:bodyPr wrap="square" lIns="0" tIns="0" rIns="0" bIns="0" rtlCol="0" anchor="ctr"/>
          <a:lstStyle/>
          <a:p>
            <a:pPr marL="0" indent="0" algn="l">
              <a:buNone/>
            </a:pPr>
            <a:r>
              <a:rPr lang="en-US" sz="1600" b="1" dirty="0">
                <a:solidFill>
                  <a:schemeClr val="accent2"/>
                </a:solidFill>
              </a:rPr>
              <a:t>Camera + gripper</a:t>
            </a:r>
            <a:endParaRPr lang="en-US" sz="1600" dirty="0"/>
          </a:p>
        </p:txBody>
      </p:sp>
      <p:sp>
        <p:nvSpPr>
          <p:cNvPr id="34" name="Text 25"/>
          <p:cNvSpPr txBox="1"/>
          <p:nvPr/>
        </p:nvSpPr>
        <p:spPr>
          <a:xfrm>
            <a:off x="6172200" y="3840480"/>
            <a:ext cx="2377440" cy="731520"/>
          </a:xfrm>
          <a:prstGeom prst="rect">
            <a:avLst/>
          </a:prstGeom>
          <a:noFill/>
          <a:ln/>
        </p:spPr>
        <p:txBody>
          <a:bodyPr wrap="square" lIns="0" tIns="0" rIns="0" bIns="0" rtlCol="0" anchor="t"/>
          <a:lstStyle/>
          <a:p>
            <a:pPr marL="0" indent="0" algn="l">
              <a:buNone/>
            </a:pPr>
            <a:r>
              <a:rPr lang="en-US" sz="1400" dirty="0">
                <a:solidFill>
                  <a:schemeClr val="bg1"/>
                </a:solidFill>
              </a:rPr>
              <a:t>Camera, flash, detection result, grip open / close</a:t>
            </a:r>
            <a:endParaRPr lang="en-US" sz="1400" dirty="0"/>
          </a:p>
        </p:txBody>
      </p:sp>
      <p:sp>
        <p:nvSpPr>
          <p:cNvPr id="3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Keyboard Shortcuts</a:t>
            </a:r>
            <a:endParaRPr lang="en-US" sz="3400" dirty="0"/>
          </a:p>
        </p:txBody>
      </p:sp>
      <p:sp>
        <p:nvSpPr>
          <p:cNvPr id="3" name="icon-bg FaKeyboard"/>
          <p:cNvSpPr/>
          <p:nvPr/>
        </p:nvSpPr>
        <p:spPr>
          <a:xfrm>
            <a:off x="457200" y="320040"/>
            <a:ext cx="685800" cy="685800"/>
          </a:xfrm>
          <a:prstGeom prst="ellipse">
            <a:avLst/>
          </a:prstGeom>
          <a:solidFill>
            <a:schemeClr val="accent1"/>
          </a:solidFill>
          <a:ln w="12700">
            <a:solidFill>
              <a:schemeClr val="accent1"/>
            </a:solidFill>
            <a:prstDash val="solid"/>
          </a:ln>
        </p:spPr>
        <p:txBody>
          <a:bodyPr/>
          <a:lstStyle/>
          <a:p>
            <a:endParaRPr lang="en-US"/>
          </a:p>
        </p:txBody>
      </p:sp>
      <p:pic>
        <p:nvPicPr>
          <p:cNvPr id="4" name="Image 0" descr="FaKeyboard"/>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402336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6" name="key ← ↑ ↓ →"/>
          <p:cNvSpPr/>
          <p:nvPr/>
        </p:nvSpPr>
        <p:spPr>
          <a:xfrm>
            <a:off x="594360" y="1435608"/>
            <a:ext cx="1188720" cy="493776"/>
          </a:xfrm>
          <a:prstGeom prst="roundRect">
            <a:avLst>
              <a:gd name="adj" fmla="val 14815"/>
            </a:avLst>
          </a:prstGeom>
          <a:solidFill>
            <a:schemeClr val="accent2"/>
          </a:solidFill>
          <a:ln w="9525">
            <a:solidFill>
              <a:schemeClr val="bg1"/>
            </a:solidFill>
            <a:prstDash val="solid"/>
          </a:ln>
        </p:spPr>
        <p:txBody>
          <a:bodyPr/>
          <a:lstStyle/>
          <a:p>
            <a:endParaRPr lang="en-US"/>
          </a:p>
        </p:txBody>
      </p:sp>
      <p:sp>
        <p:nvSpPr>
          <p:cNvPr id="7" name="Text 4"/>
          <p:cNvSpPr txBox="1"/>
          <p:nvPr/>
        </p:nvSpPr>
        <p:spPr>
          <a:xfrm>
            <a:off x="594360" y="1435608"/>
            <a:ext cx="1188720" cy="493776"/>
          </a:xfrm>
          <a:prstGeom prst="rect">
            <a:avLst/>
          </a:prstGeom>
          <a:noFill/>
          <a:ln/>
        </p:spPr>
        <p:txBody>
          <a:bodyPr wrap="square" lIns="0" tIns="0" rIns="0" bIns="0" rtlCol="0" anchor="ctr"/>
          <a:lstStyle/>
          <a:p>
            <a:pPr marL="0" indent="0" algn="ctr">
              <a:buNone/>
            </a:pPr>
            <a:r>
              <a:rPr lang="en-US" sz="1400" b="1" dirty="0">
                <a:solidFill>
                  <a:schemeClr val="tx1"/>
                </a:solidFill>
              </a:rPr>
              <a:t>← ↑ ↓ →</a:t>
            </a:r>
            <a:endParaRPr lang="en-US" sz="1400" dirty="0"/>
          </a:p>
        </p:txBody>
      </p:sp>
      <p:sp>
        <p:nvSpPr>
          <p:cNvPr id="8" name="Text 5"/>
          <p:cNvSpPr txBox="1"/>
          <p:nvPr/>
        </p:nvSpPr>
        <p:spPr>
          <a:xfrm>
            <a:off x="1965960" y="1325880"/>
            <a:ext cx="2377440" cy="713232"/>
          </a:xfrm>
          <a:prstGeom prst="rect">
            <a:avLst/>
          </a:prstGeom>
          <a:noFill/>
          <a:ln/>
        </p:spPr>
        <p:txBody>
          <a:bodyPr wrap="square" lIns="0" tIns="0" rIns="0" bIns="0" rtlCol="0" anchor="ctr"/>
          <a:lstStyle/>
          <a:p>
            <a:pPr marL="0" indent="0" algn="l">
              <a:buNone/>
            </a:pPr>
            <a:r>
              <a:rPr lang="en-US" sz="1400" dirty="0">
                <a:solidFill>
                  <a:schemeClr val="bg1"/>
                </a:solidFill>
              </a:rPr>
              <a:t>Move the robot</a:t>
            </a:r>
            <a:endParaRPr lang="en-US" sz="1400" dirty="0"/>
          </a:p>
        </p:txBody>
      </p:sp>
      <p:sp>
        <p:nvSpPr>
          <p:cNvPr id="9" name="card"/>
          <p:cNvSpPr/>
          <p:nvPr/>
        </p:nvSpPr>
        <p:spPr>
          <a:xfrm>
            <a:off x="4663440" y="1325880"/>
            <a:ext cx="402336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10" name="key SPACE"/>
          <p:cNvSpPr/>
          <p:nvPr/>
        </p:nvSpPr>
        <p:spPr>
          <a:xfrm>
            <a:off x="4800600" y="1435608"/>
            <a:ext cx="1005840" cy="493776"/>
          </a:xfrm>
          <a:prstGeom prst="roundRect">
            <a:avLst>
              <a:gd name="adj" fmla="val 14815"/>
            </a:avLst>
          </a:prstGeom>
          <a:solidFill>
            <a:schemeClr val="accent1"/>
          </a:solidFill>
          <a:ln w="9525">
            <a:solidFill>
              <a:schemeClr val="bg1"/>
            </a:solidFill>
            <a:prstDash val="solid"/>
          </a:ln>
        </p:spPr>
        <p:txBody>
          <a:bodyPr/>
          <a:lstStyle/>
          <a:p>
            <a:endParaRPr lang="en-US"/>
          </a:p>
        </p:txBody>
      </p:sp>
      <p:sp>
        <p:nvSpPr>
          <p:cNvPr id="11" name="Text 8"/>
          <p:cNvSpPr txBox="1"/>
          <p:nvPr/>
        </p:nvSpPr>
        <p:spPr>
          <a:xfrm>
            <a:off x="4800600" y="1435608"/>
            <a:ext cx="1005840" cy="493776"/>
          </a:xfrm>
          <a:prstGeom prst="rect">
            <a:avLst/>
          </a:prstGeom>
          <a:noFill/>
          <a:ln/>
        </p:spPr>
        <p:txBody>
          <a:bodyPr wrap="square" lIns="0" tIns="0" rIns="0" bIns="0" rtlCol="0" anchor="ctr"/>
          <a:lstStyle/>
          <a:p>
            <a:pPr marL="0" indent="0" algn="ctr">
              <a:buNone/>
            </a:pPr>
            <a:r>
              <a:rPr lang="en-US" sz="1400" b="1" dirty="0">
                <a:solidFill>
                  <a:schemeClr val="bg1"/>
                </a:solidFill>
              </a:rPr>
              <a:t>SPACE</a:t>
            </a:r>
            <a:endParaRPr lang="en-US" sz="1400" dirty="0"/>
          </a:p>
        </p:txBody>
      </p:sp>
      <p:sp>
        <p:nvSpPr>
          <p:cNvPr id="12" name="Text 9"/>
          <p:cNvSpPr txBox="1"/>
          <p:nvPr/>
        </p:nvSpPr>
        <p:spPr>
          <a:xfrm>
            <a:off x="5989320" y="1325880"/>
            <a:ext cx="2560320" cy="713232"/>
          </a:xfrm>
          <a:prstGeom prst="rect">
            <a:avLst/>
          </a:prstGeom>
          <a:noFill/>
          <a:ln/>
        </p:spPr>
        <p:txBody>
          <a:bodyPr wrap="square" lIns="0" tIns="0" rIns="0" bIns="0" rtlCol="0" anchor="ctr"/>
          <a:lstStyle/>
          <a:p>
            <a:pPr marL="0" indent="0" algn="l">
              <a:buNone/>
            </a:pPr>
            <a:r>
              <a:rPr lang="en-US" sz="1400" dirty="0">
                <a:solidFill>
                  <a:schemeClr val="bg1"/>
                </a:solidFill>
              </a:rPr>
              <a:t>Emergency stop</a:t>
            </a:r>
            <a:endParaRPr lang="en-US" sz="1400" dirty="0"/>
          </a:p>
        </p:txBody>
      </p:sp>
      <p:sp>
        <p:nvSpPr>
          <p:cNvPr id="13" name="card"/>
          <p:cNvSpPr/>
          <p:nvPr/>
        </p:nvSpPr>
        <p:spPr>
          <a:xfrm>
            <a:off x="457200" y="2148840"/>
            <a:ext cx="402336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14" name="key G"/>
          <p:cNvSpPr/>
          <p:nvPr/>
        </p:nvSpPr>
        <p:spPr>
          <a:xfrm>
            <a:off x="594360" y="2258568"/>
            <a:ext cx="502920" cy="493776"/>
          </a:xfrm>
          <a:prstGeom prst="roundRect">
            <a:avLst>
              <a:gd name="adj" fmla="val 14815"/>
            </a:avLst>
          </a:prstGeom>
          <a:solidFill>
            <a:schemeClr val="accent2"/>
          </a:solidFill>
          <a:ln w="9525">
            <a:solidFill>
              <a:schemeClr val="bg1"/>
            </a:solidFill>
            <a:prstDash val="solid"/>
          </a:ln>
        </p:spPr>
        <p:txBody>
          <a:bodyPr/>
          <a:lstStyle/>
          <a:p>
            <a:endParaRPr lang="en-US"/>
          </a:p>
        </p:txBody>
      </p:sp>
      <p:sp>
        <p:nvSpPr>
          <p:cNvPr id="15" name="Text 12"/>
          <p:cNvSpPr txBox="1"/>
          <p:nvPr/>
        </p:nvSpPr>
        <p:spPr>
          <a:xfrm>
            <a:off x="594360" y="2258568"/>
            <a:ext cx="502920" cy="493776"/>
          </a:xfrm>
          <a:prstGeom prst="rect">
            <a:avLst/>
          </a:prstGeom>
          <a:noFill/>
          <a:ln/>
        </p:spPr>
        <p:txBody>
          <a:bodyPr wrap="square" lIns="0" tIns="0" rIns="0" bIns="0" rtlCol="0" anchor="ctr"/>
          <a:lstStyle/>
          <a:p>
            <a:pPr marL="0" indent="0" algn="ctr">
              <a:buNone/>
            </a:pPr>
            <a:r>
              <a:rPr lang="en-US" sz="1800" b="1" dirty="0">
                <a:solidFill>
                  <a:schemeClr val="tx1"/>
                </a:solidFill>
              </a:rPr>
              <a:t>G</a:t>
            </a:r>
            <a:endParaRPr lang="en-US" sz="1800" dirty="0"/>
          </a:p>
        </p:txBody>
      </p:sp>
      <p:sp>
        <p:nvSpPr>
          <p:cNvPr id="16" name="key R"/>
          <p:cNvSpPr/>
          <p:nvPr/>
        </p:nvSpPr>
        <p:spPr>
          <a:xfrm>
            <a:off x="1188720" y="2258568"/>
            <a:ext cx="502920" cy="493776"/>
          </a:xfrm>
          <a:prstGeom prst="roundRect">
            <a:avLst>
              <a:gd name="adj" fmla="val 14815"/>
            </a:avLst>
          </a:prstGeom>
          <a:solidFill>
            <a:schemeClr val="accent2"/>
          </a:solidFill>
          <a:ln w="9525">
            <a:solidFill>
              <a:schemeClr val="bg1"/>
            </a:solidFill>
            <a:prstDash val="solid"/>
          </a:ln>
        </p:spPr>
        <p:txBody>
          <a:bodyPr/>
          <a:lstStyle/>
          <a:p>
            <a:endParaRPr lang="en-US"/>
          </a:p>
        </p:txBody>
      </p:sp>
      <p:sp>
        <p:nvSpPr>
          <p:cNvPr id="17" name="Text 14"/>
          <p:cNvSpPr txBox="1"/>
          <p:nvPr/>
        </p:nvSpPr>
        <p:spPr>
          <a:xfrm>
            <a:off x="1188720" y="2258568"/>
            <a:ext cx="502920" cy="493776"/>
          </a:xfrm>
          <a:prstGeom prst="rect">
            <a:avLst/>
          </a:prstGeom>
          <a:noFill/>
          <a:ln/>
        </p:spPr>
        <p:txBody>
          <a:bodyPr wrap="square" lIns="0" tIns="0" rIns="0" bIns="0" rtlCol="0" anchor="ctr"/>
          <a:lstStyle/>
          <a:p>
            <a:pPr marL="0" indent="0" algn="ctr">
              <a:buNone/>
            </a:pPr>
            <a:r>
              <a:rPr lang="en-US" sz="1800" b="1" dirty="0">
                <a:solidFill>
                  <a:schemeClr val="tx1"/>
                </a:solidFill>
              </a:rPr>
              <a:t>R</a:t>
            </a:r>
            <a:endParaRPr lang="en-US" sz="1800" dirty="0"/>
          </a:p>
        </p:txBody>
      </p:sp>
      <p:sp>
        <p:nvSpPr>
          <p:cNvPr id="18" name="Text 15"/>
          <p:cNvSpPr txBox="1"/>
          <p:nvPr/>
        </p:nvSpPr>
        <p:spPr>
          <a:xfrm>
            <a:off x="1874520" y="2148840"/>
            <a:ext cx="2468880" cy="713232"/>
          </a:xfrm>
          <a:prstGeom prst="rect">
            <a:avLst/>
          </a:prstGeom>
          <a:noFill/>
          <a:ln/>
        </p:spPr>
        <p:txBody>
          <a:bodyPr wrap="square" lIns="0" tIns="0" rIns="0" bIns="0" rtlCol="0" anchor="ctr"/>
          <a:lstStyle/>
          <a:p>
            <a:pPr marL="0" indent="0" algn="l">
              <a:buNone/>
            </a:pPr>
            <a:r>
              <a:rPr lang="en-US" sz="1400" dirty="0">
                <a:solidFill>
                  <a:schemeClr val="bg1"/>
                </a:solidFill>
              </a:rPr>
              <a:t>Gripper: open / close</a:t>
            </a:r>
            <a:endParaRPr lang="en-US" sz="1400" dirty="0"/>
          </a:p>
        </p:txBody>
      </p:sp>
      <p:sp>
        <p:nvSpPr>
          <p:cNvPr id="19" name="card"/>
          <p:cNvSpPr/>
          <p:nvPr/>
        </p:nvSpPr>
        <p:spPr>
          <a:xfrm>
            <a:off x="4663440" y="2148840"/>
            <a:ext cx="402336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20" name="key C"/>
          <p:cNvSpPr/>
          <p:nvPr/>
        </p:nvSpPr>
        <p:spPr>
          <a:xfrm>
            <a:off x="4800600" y="2258568"/>
            <a:ext cx="502920" cy="493776"/>
          </a:xfrm>
          <a:prstGeom prst="roundRect">
            <a:avLst>
              <a:gd name="adj" fmla="val 14815"/>
            </a:avLst>
          </a:prstGeom>
          <a:solidFill>
            <a:schemeClr val="accent2"/>
          </a:solidFill>
          <a:ln w="9525">
            <a:solidFill>
              <a:schemeClr val="bg1"/>
            </a:solidFill>
            <a:prstDash val="solid"/>
          </a:ln>
        </p:spPr>
        <p:txBody>
          <a:bodyPr/>
          <a:lstStyle/>
          <a:p>
            <a:endParaRPr lang="en-US"/>
          </a:p>
        </p:txBody>
      </p:sp>
      <p:sp>
        <p:nvSpPr>
          <p:cNvPr id="21" name="Text 18"/>
          <p:cNvSpPr txBox="1"/>
          <p:nvPr/>
        </p:nvSpPr>
        <p:spPr>
          <a:xfrm>
            <a:off x="4800600" y="2258568"/>
            <a:ext cx="502920" cy="493776"/>
          </a:xfrm>
          <a:prstGeom prst="rect">
            <a:avLst/>
          </a:prstGeom>
          <a:noFill/>
          <a:ln/>
        </p:spPr>
        <p:txBody>
          <a:bodyPr wrap="square" lIns="0" tIns="0" rIns="0" bIns="0" rtlCol="0" anchor="ctr"/>
          <a:lstStyle/>
          <a:p>
            <a:pPr marL="0" indent="0" algn="ctr">
              <a:buNone/>
            </a:pPr>
            <a:r>
              <a:rPr lang="en-US" sz="1800" b="1" dirty="0">
                <a:solidFill>
                  <a:schemeClr val="tx1"/>
                </a:solidFill>
              </a:rPr>
              <a:t>C</a:t>
            </a:r>
            <a:endParaRPr lang="en-US" sz="1800" dirty="0"/>
          </a:p>
        </p:txBody>
      </p:sp>
      <p:sp>
        <p:nvSpPr>
          <p:cNvPr id="22" name="key D"/>
          <p:cNvSpPr/>
          <p:nvPr/>
        </p:nvSpPr>
        <p:spPr>
          <a:xfrm>
            <a:off x="5394960" y="2258568"/>
            <a:ext cx="502920" cy="493776"/>
          </a:xfrm>
          <a:prstGeom prst="roundRect">
            <a:avLst>
              <a:gd name="adj" fmla="val 14815"/>
            </a:avLst>
          </a:prstGeom>
          <a:solidFill>
            <a:schemeClr val="accent2"/>
          </a:solidFill>
          <a:ln w="9525">
            <a:solidFill>
              <a:schemeClr val="bg1"/>
            </a:solidFill>
            <a:prstDash val="solid"/>
          </a:ln>
        </p:spPr>
        <p:txBody>
          <a:bodyPr/>
          <a:lstStyle/>
          <a:p>
            <a:endParaRPr lang="en-US"/>
          </a:p>
        </p:txBody>
      </p:sp>
      <p:sp>
        <p:nvSpPr>
          <p:cNvPr id="23" name="Text 20"/>
          <p:cNvSpPr txBox="1"/>
          <p:nvPr/>
        </p:nvSpPr>
        <p:spPr>
          <a:xfrm>
            <a:off x="5394960" y="2258568"/>
            <a:ext cx="502920" cy="493776"/>
          </a:xfrm>
          <a:prstGeom prst="rect">
            <a:avLst/>
          </a:prstGeom>
          <a:noFill/>
          <a:ln/>
        </p:spPr>
        <p:txBody>
          <a:bodyPr wrap="square" lIns="0" tIns="0" rIns="0" bIns="0" rtlCol="0" anchor="ctr"/>
          <a:lstStyle/>
          <a:p>
            <a:pPr marL="0" indent="0" algn="ctr">
              <a:buNone/>
            </a:pPr>
            <a:r>
              <a:rPr lang="en-US" sz="1800" b="1" dirty="0">
                <a:solidFill>
                  <a:schemeClr val="tx1"/>
                </a:solidFill>
              </a:rPr>
              <a:t>D</a:t>
            </a:r>
            <a:endParaRPr lang="en-US" sz="1800" dirty="0"/>
          </a:p>
        </p:txBody>
      </p:sp>
      <p:sp>
        <p:nvSpPr>
          <p:cNvPr id="24" name="Text 21"/>
          <p:cNvSpPr txBox="1"/>
          <p:nvPr/>
        </p:nvSpPr>
        <p:spPr>
          <a:xfrm>
            <a:off x="6080760" y="2148840"/>
            <a:ext cx="2468880" cy="713232"/>
          </a:xfrm>
          <a:prstGeom prst="rect">
            <a:avLst/>
          </a:prstGeom>
          <a:noFill/>
          <a:ln/>
        </p:spPr>
        <p:txBody>
          <a:bodyPr wrap="square" lIns="0" tIns="0" rIns="0" bIns="0" rtlCol="0" anchor="ctr"/>
          <a:lstStyle/>
          <a:p>
            <a:pPr marL="0" indent="0" algn="l">
              <a:buNone/>
            </a:pPr>
            <a:r>
              <a:rPr lang="en-US" sz="1400" dirty="0">
                <a:solidFill>
                  <a:schemeClr val="bg1"/>
                </a:solidFill>
              </a:rPr>
              <a:t>Camera: on / off</a:t>
            </a:r>
            <a:endParaRPr lang="en-US" sz="1400" dirty="0"/>
          </a:p>
        </p:txBody>
      </p:sp>
      <p:sp>
        <p:nvSpPr>
          <p:cNvPr id="25" name="card"/>
          <p:cNvSpPr/>
          <p:nvPr/>
        </p:nvSpPr>
        <p:spPr>
          <a:xfrm>
            <a:off x="457200" y="2971800"/>
            <a:ext cx="402336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26" name="key E"/>
          <p:cNvSpPr/>
          <p:nvPr/>
        </p:nvSpPr>
        <p:spPr>
          <a:xfrm>
            <a:off x="594360" y="3081528"/>
            <a:ext cx="502920" cy="493776"/>
          </a:xfrm>
          <a:prstGeom prst="roundRect">
            <a:avLst>
              <a:gd name="adj" fmla="val 14815"/>
            </a:avLst>
          </a:prstGeom>
          <a:solidFill>
            <a:schemeClr val="accent2"/>
          </a:solidFill>
          <a:ln w="9525">
            <a:solidFill>
              <a:schemeClr val="bg1"/>
            </a:solidFill>
            <a:prstDash val="solid"/>
          </a:ln>
        </p:spPr>
        <p:txBody>
          <a:bodyPr/>
          <a:lstStyle/>
          <a:p>
            <a:endParaRPr lang="en-US"/>
          </a:p>
        </p:txBody>
      </p:sp>
      <p:sp>
        <p:nvSpPr>
          <p:cNvPr id="27" name="Text 24"/>
          <p:cNvSpPr txBox="1"/>
          <p:nvPr/>
        </p:nvSpPr>
        <p:spPr>
          <a:xfrm>
            <a:off x="594360" y="3081528"/>
            <a:ext cx="502920" cy="493776"/>
          </a:xfrm>
          <a:prstGeom prst="rect">
            <a:avLst/>
          </a:prstGeom>
          <a:noFill/>
          <a:ln/>
        </p:spPr>
        <p:txBody>
          <a:bodyPr wrap="square" lIns="0" tIns="0" rIns="0" bIns="0" rtlCol="0" anchor="ctr"/>
          <a:lstStyle/>
          <a:p>
            <a:pPr marL="0" indent="0" algn="ctr">
              <a:buNone/>
            </a:pPr>
            <a:r>
              <a:rPr lang="en-US" sz="1800" b="1" dirty="0">
                <a:solidFill>
                  <a:schemeClr val="tx1"/>
                </a:solidFill>
              </a:rPr>
              <a:t>E</a:t>
            </a:r>
            <a:endParaRPr lang="en-US" sz="1800" dirty="0"/>
          </a:p>
        </p:txBody>
      </p:sp>
      <p:sp>
        <p:nvSpPr>
          <p:cNvPr id="28" name="key W"/>
          <p:cNvSpPr/>
          <p:nvPr/>
        </p:nvSpPr>
        <p:spPr>
          <a:xfrm>
            <a:off x="1188720" y="3081528"/>
            <a:ext cx="502920" cy="493776"/>
          </a:xfrm>
          <a:prstGeom prst="roundRect">
            <a:avLst>
              <a:gd name="adj" fmla="val 14815"/>
            </a:avLst>
          </a:prstGeom>
          <a:solidFill>
            <a:schemeClr val="accent2"/>
          </a:solidFill>
          <a:ln w="9525">
            <a:solidFill>
              <a:schemeClr val="bg1"/>
            </a:solidFill>
            <a:prstDash val="solid"/>
          </a:ln>
        </p:spPr>
        <p:txBody>
          <a:bodyPr/>
          <a:lstStyle/>
          <a:p>
            <a:endParaRPr lang="en-US"/>
          </a:p>
        </p:txBody>
      </p:sp>
      <p:sp>
        <p:nvSpPr>
          <p:cNvPr id="29" name="Text 26"/>
          <p:cNvSpPr txBox="1"/>
          <p:nvPr/>
        </p:nvSpPr>
        <p:spPr>
          <a:xfrm>
            <a:off x="1188720" y="3081528"/>
            <a:ext cx="502920" cy="493776"/>
          </a:xfrm>
          <a:prstGeom prst="rect">
            <a:avLst/>
          </a:prstGeom>
          <a:noFill/>
          <a:ln/>
        </p:spPr>
        <p:txBody>
          <a:bodyPr wrap="square" lIns="0" tIns="0" rIns="0" bIns="0" rtlCol="0" anchor="ctr"/>
          <a:lstStyle/>
          <a:p>
            <a:pPr marL="0" indent="0" algn="ctr">
              <a:buNone/>
            </a:pPr>
            <a:r>
              <a:rPr lang="en-US" sz="1800" b="1" dirty="0">
                <a:solidFill>
                  <a:schemeClr val="tx1"/>
                </a:solidFill>
              </a:rPr>
              <a:t>W</a:t>
            </a:r>
            <a:endParaRPr lang="en-US" sz="1800" dirty="0"/>
          </a:p>
        </p:txBody>
      </p:sp>
      <p:sp>
        <p:nvSpPr>
          <p:cNvPr id="30" name="Text 27"/>
          <p:cNvSpPr txBox="1"/>
          <p:nvPr/>
        </p:nvSpPr>
        <p:spPr>
          <a:xfrm>
            <a:off x="1874520" y="2971800"/>
            <a:ext cx="2468880" cy="713232"/>
          </a:xfrm>
          <a:prstGeom prst="rect">
            <a:avLst/>
          </a:prstGeom>
          <a:noFill/>
          <a:ln/>
        </p:spPr>
        <p:txBody>
          <a:bodyPr wrap="square" lIns="0" tIns="0" rIns="0" bIns="0" rtlCol="0" anchor="ctr"/>
          <a:lstStyle/>
          <a:p>
            <a:pPr marL="0" indent="0" algn="l">
              <a:buNone/>
            </a:pPr>
            <a:r>
              <a:rPr lang="en-US" sz="1400" dirty="0">
                <a:solidFill>
                  <a:schemeClr val="bg1"/>
                </a:solidFill>
              </a:rPr>
              <a:t>Flash: on / off</a:t>
            </a:r>
            <a:endParaRPr lang="en-US" sz="1400" dirty="0"/>
          </a:p>
        </p:txBody>
      </p:sp>
      <p:sp>
        <p:nvSpPr>
          <p:cNvPr id="31" name="card"/>
          <p:cNvSpPr/>
          <p:nvPr/>
        </p:nvSpPr>
        <p:spPr>
          <a:xfrm>
            <a:off x="4663440" y="2971800"/>
            <a:ext cx="402336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32" name="key V"/>
          <p:cNvSpPr/>
          <p:nvPr/>
        </p:nvSpPr>
        <p:spPr>
          <a:xfrm>
            <a:off x="4800600" y="3081528"/>
            <a:ext cx="502920" cy="493776"/>
          </a:xfrm>
          <a:prstGeom prst="roundRect">
            <a:avLst>
              <a:gd name="adj" fmla="val 14815"/>
            </a:avLst>
          </a:prstGeom>
          <a:solidFill>
            <a:schemeClr val="accent2"/>
          </a:solidFill>
          <a:ln w="9525">
            <a:solidFill>
              <a:schemeClr val="bg1"/>
            </a:solidFill>
            <a:prstDash val="solid"/>
          </a:ln>
        </p:spPr>
        <p:txBody>
          <a:bodyPr/>
          <a:lstStyle/>
          <a:p>
            <a:endParaRPr lang="en-US"/>
          </a:p>
        </p:txBody>
      </p:sp>
      <p:sp>
        <p:nvSpPr>
          <p:cNvPr id="33" name="Text 30"/>
          <p:cNvSpPr txBox="1"/>
          <p:nvPr/>
        </p:nvSpPr>
        <p:spPr>
          <a:xfrm>
            <a:off x="4800600" y="3081528"/>
            <a:ext cx="502920" cy="493776"/>
          </a:xfrm>
          <a:prstGeom prst="rect">
            <a:avLst/>
          </a:prstGeom>
          <a:noFill/>
          <a:ln/>
        </p:spPr>
        <p:txBody>
          <a:bodyPr wrap="square" lIns="0" tIns="0" rIns="0" bIns="0" rtlCol="0" anchor="ctr"/>
          <a:lstStyle/>
          <a:p>
            <a:pPr marL="0" indent="0" algn="ctr">
              <a:buNone/>
            </a:pPr>
            <a:r>
              <a:rPr lang="en-US" sz="1800" b="1" dirty="0">
                <a:solidFill>
                  <a:schemeClr val="tx1"/>
                </a:solidFill>
              </a:rPr>
              <a:t>V</a:t>
            </a:r>
            <a:endParaRPr lang="en-US" sz="1800" dirty="0"/>
          </a:p>
        </p:txBody>
      </p:sp>
      <p:sp>
        <p:nvSpPr>
          <p:cNvPr id="34" name="Text 31"/>
          <p:cNvSpPr txBox="1"/>
          <p:nvPr/>
        </p:nvSpPr>
        <p:spPr>
          <a:xfrm>
            <a:off x="5486400" y="2971800"/>
            <a:ext cx="3063240" cy="713232"/>
          </a:xfrm>
          <a:prstGeom prst="rect">
            <a:avLst/>
          </a:prstGeom>
          <a:noFill/>
          <a:ln/>
        </p:spPr>
        <p:txBody>
          <a:bodyPr wrap="square" lIns="0" tIns="0" rIns="0" bIns="0" rtlCol="0" anchor="ctr"/>
          <a:lstStyle/>
          <a:p>
            <a:pPr marL="0" indent="0" algn="l">
              <a:buNone/>
            </a:pPr>
            <a:r>
              <a:rPr lang="en-US" sz="1400" dirty="0">
                <a:solidFill>
                  <a:schemeClr val="bg1"/>
                </a:solidFill>
              </a:rPr>
              <a:t>Reverse controls</a:t>
            </a:r>
            <a:endParaRPr lang="en-US" sz="1400" dirty="0"/>
          </a:p>
        </p:txBody>
      </p:sp>
      <p:sp>
        <p:nvSpPr>
          <p:cNvPr id="35" name="card"/>
          <p:cNvSpPr/>
          <p:nvPr/>
        </p:nvSpPr>
        <p:spPr>
          <a:xfrm>
            <a:off x="457200" y="3794760"/>
            <a:ext cx="402336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36" name="key A"/>
          <p:cNvSpPr/>
          <p:nvPr/>
        </p:nvSpPr>
        <p:spPr>
          <a:xfrm>
            <a:off x="594360" y="3904488"/>
            <a:ext cx="502920" cy="493776"/>
          </a:xfrm>
          <a:prstGeom prst="roundRect">
            <a:avLst>
              <a:gd name="adj" fmla="val 14815"/>
            </a:avLst>
          </a:prstGeom>
          <a:solidFill>
            <a:schemeClr val="accent2"/>
          </a:solidFill>
          <a:ln w="9525">
            <a:solidFill>
              <a:schemeClr val="bg1"/>
            </a:solidFill>
            <a:prstDash val="solid"/>
          </a:ln>
        </p:spPr>
        <p:txBody>
          <a:bodyPr/>
          <a:lstStyle/>
          <a:p>
            <a:endParaRPr lang="en-US"/>
          </a:p>
        </p:txBody>
      </p:sp>
      <p:sp>
        <p:nvSpPr>
          <p:cNvPr id="37" name="Text 34"/>
          <p:cNvSpPr txBox="1"/>
          <p:nvPr/>
        </p:nvSpPr>
        <p:spPr>
          <a:xfrm>
            <a:off x="594360" y="3904488"/>
            <a:ext cx="502920" cy="493776"/>
          </a:xfrm>
          <a:prstGeom prst="rect">
            <a:avLst/>
          </a:prstGeom>
          <a:noFill/>
          <a:ln/>
        </p:spPr>
        <p:txBody>
          <a:bodyPr wrap="square" lIns="0" tIns="0" rIns="0" bIns="0" rtlCol="0" anchor="ctr"/>
          <a:lstStyle/>
          <a:p>
            <a:pPr marL="0" indent="0" algn="ctr">
              <a:buNone/>
            </a:pPr>
            <a:r>
              <a:rPr lang="en-US" sz="1800" b="1" dirty="0">
                <a:solidFill>
                  <a:schemeClr val="tx1"/>
                </a:solidFill>
              </a:rPr>
              <a:t>A</a:t>
            </a:r>
            <a:endParaRPr lang="en-US" sz="1800" dirty="0"/>
          </a:p>
        </p:txBody>
      </p:sp>
      <p:sp>
        <p:nvSpPr>
          <p:cNvPr id="38" name="key Q"/>
          <p:cNvSpPr/>
          <p:nvPr/>
        </p:nvSpPr>
        <p:spPr>
          <a:xfrm>
            <a:off x="1188720" y="3904488"/>
            <a:ext cx="502920" cy="493776"/>
          </a:xfrm>
          <a:prstGeom prst="roundRect">
            <a:avLst>
              <a:gd name="adj" fmla="val 14815"/>
            </a:avLst>
          </a:prstGeom>
          <a:solidFill>
            <a:schemeClr val="accent1"/>
          </a:solidFill>
          <a:ln w="9525">
            <a:solidFill>
              <a:schemeClr val="bg1"/>
            </a:solidFill>
            <a:prstDash val="solid"/>
          </a:ln>
        </p:spPr>
        <p:txBody>
          <a:bodyPr/>
          <a:lstStyle/>
          <a:p>
            <a:endParaRPr lang="en-US"/>
          </a:p>
        </p:txBody>
      </p:sp>
      <p:sp>
        <p:nvSpPr>
          <p:cNvPr id="39" name="Text 36"/>
          <p:cNvSpPr txBox="1"/>
          <p:nvPr/>
        </p:nvSpPr>
        <p:spPr>
          <a:xfrm>
            <a:off x="1188720" y="3904488"/>
            <a:ext cx="502920" cy="493776"/>
          </a:xfrm>
          <a:prstGeom prst="rect">
            <a:avLst/>
          </a:prstGeom>
          <a:noFill/>
          <a:ln/>
        </p:spPr>
        <p:txBody>
          <a:bodyPr wrap="square" lIns="0" tIns="0" rIns="0" bIns="0" rtlCol="0" anchor="ctr"/>
          <a:lstStyle/>
          <a:p>
            <a:pPr marL="0" indent="0" algn="ctr">
              <a:buNone/>
            </a:pPr>
            <a:r>
              <a:rPr lang="en-US" sz="1800" b="1" dirty="0">
                <a:solidFill>
                  <a:schemeClr val="bg1"/>
                </a:solidFill>
              </a:rPr>
              <a:t>Q</a:t>
            </a:r>
            <a:endParaRPr lang="en-US" sz="1800" dirty="0"/>
          </a:p>
        </p:txBody>
      </p:sp>
      <p:sp>
        <p:nvSpPr>
          <p:cNvPr id="40" name="Text 37"/>
          <p:cNvSpPr txBox="1"/>
          <p:nvPr/>
        </p:nvSpPr>
        <p:spPr>
          <a:xfrm>
            <a:off x="1874520" y="3794760"/>
            <a:ext cx="2468880" cy="713232"/>
          </a:xfrm>
          <a:prstGeom prst="rect">
            <a:avLst/>
          </a:prstGeom>
          <a:noFill/>
          <a:ln/>
        </p:spPr>
        <p:txBody>
          <a:bodyPr wrap="square" lIns="0" tIns="0" rIns="0" bIns="0" rtlCol="0" anchor="ctr"/>
          <a:lstStyle/>
          <a:p>
            <a:pPr marL="0" indent="0" algn="l">
              <a:buNone/>
            </a:pPr>
            <a:r>
              <a:rPr lang="en-US" sz="1400" dirty="0">
                <a:solidFill>
                  <a:schemeClr val="bg1"/>
                </a:solidFill>
              </a:rPr>
              <a:t>Autonomous: on / off</a:t>
            </a:r>
            <a:endParaRPr lang="en-US" sz="1400" dirty="0"/>
          </a:p>
        </p:txBody>
      </p:sp>
      <p:sp>
        <p:nvSpPr>
          <p:cNvPr id="41" name="card"/>
          <p:cNvSpPr/>
          <p:nvPr/>
        </p:nvSpPr>
        <p:spPr>
          <a:xfrm>
            <a:off x="4663440" y="3794760"/>
            <a:ext cx="4023360" cy="713232"/>
          </a:xfrm>
          <a:prstGeom prst="roundRect">
            <a:avLst>
              <a:gd name="adj" fmla="val 15385"/>
            </a:avLst>
          </a:prstGeom>
          <a:solidFill>
            <a:schemeClr val="tx2"/>
          </a:solidFill>
          <a:ln w="12700">
            <a:solidFill>
              <a:schemeClr val="accent4"/>
            </a:solidFill>
            <a:prstDash val="solid"/>
          </a:ln>
        </p:spPr>
        <p:txBody>
          <a:bodyPr/>
          <a:lstStyle/>
          <a:p>
            <a:endParaRPr lang="en-US"/>
          </a:p>
        </p:txBody>
      </p:sp>
      <p:sp>
        <p:nvSpPr>
          <p:cNvPr id="42" name="key +"/>
          <p:cNvSpPr/>
          <p:nvPr/>
        </p:nvSpPr>
        <p:spPr>
          <a:xfrm>
            <a:off x="4800600" y="3904488"/>
            <a:ext cx="502920" cy="493776"/>
          </a:xfrm>
          <a:prstGeom prst="roundRect">
            <a:avLst>
              <a:gd name="adj" fmla="val 14815"/>
            </a:avLst>
          </a:prstGeom>
          <a:solidFill>
            <a:schemeClr val="accent2"/>
          </a:solidFill>
          <a:ln w="9525">
            <a:solidFill>
              <a:schemeClr val="bg1"/>
            </a:solidFill>
            <a:prstDash val="solid"/>
          </a:ln>
        </p:spPr>
        <p:txBody>
          <a:bodyPr/>
          <a:lstStyle/>
          <a:p>
            <a:endParaRPr lang="en-US"/>
          </a:p>
        </p:txBody>
      </p:sp>
      <p:sp>
        <p:nvSpPr>
          <p:cNvPr id="43" name="Text 40"/>
          <p:cNvSpPr txBox="1"/>
          <p:nvPr/>
        </p:nvSpPr>
        <p:spPr>
          <a:xfrm>
            <a:off x="4800600" y="3904488"/>
            <a:ext cx="502920" cy="493776"/>
          </a:xfrm>
          <a:prstGeom prst="rect">
            <a:avLst/>
          </a:prstGeom>
          <a:noFill/>
          <a:ln/>
        </p:spPr>
        <p:txBody>
          <a:bodyPr wrap="square" lIns="0" tIns="0" rIns="0" bIns="0" rtlCol="0" anchor="ctr"/>
          <a:lstStyle/>
          <a:p>
            <a:pPr marL="0" indent="0" algn="ctr">
              <a:buNone/>
            </a:pPr>
            <a:r>
              <a:rPr lang="en-US" sz="1800" b="1" dirty="0">
                <a:solidFill>
                  <a:schemeClr val="tx1"/>
                </a:solidFill>
              </a:rPr>
              <a:t>+</a:t>
            </a:r>
            <a:endParaRPr lang="en-US" sz="1800" dirty="0"/>
          </a:p>
        </p:txBody>
      </p:sp>
      <p:sp>
        <p:nvSpPr>
          <p:cNvPr id="44" name="key −"/>
          <p:cNvSpPr/>
          <p:nvPr/>
        </p:nvSpPr>
        <p:spPr>
          <a:xfrm>
            <a:off x="5394960" y="3904488"/>
            <a:ext cx="502920" cy="493776"/>
          </a:xfrm>
          <a:prstGeom prst="roundRect">
            <a:avLst>
              <a:gd name="adj" fmla="val 14815"/>
            </a:avLst>
          </a:prstGeom>
          <a:solidFill>
            <a:schemeClr val="accent2"/>
          </a:solidFill>
          <a:ln w="9525">
            <a:solidFill>
              <a:schemeClr val="bg1"/>
            </a:solidFill>
            <a:prstDash val="solid"/>
          </a:ln>
        </p:spPr>
        <p:txBody>
          <a:bodyPr/>
          <a:lstStyle/>
          <a:p>
            <a:endParaRPr lang="en-US"/>
          </a:p>
        </p:txBody>
      </p:sp>
      <p:sp>
        <p:nvSpPr>
          <p:cNvPr id="45" name="Text 42"/>
          <p:cNvSpPr txBox="1"/>
          <p:nvPr/>
        </p:nvSpPr>
        <p:spPr>
          <a:xfrm>
            <a:off x="5394960" y="3904488"/>
            <a:ext cx="502920" cy="493776"/>
          </a:xfrm>
          <a:prstGeom prst="rect">
            <a:avLst/>
          </a:prstGeom>
          <a:noFill/>
          <a:ln/>
        </p:spPr>
        <p:txBody>
          <a:bodyPr wrap="square" lIns="0" tIns="0" rIns="0" bIns="0" rtlCol="0" anchor="ctr"/>
          <a:lstStyle/>
          <a:p>
            <a:pPr marL="0" indent="0" algn="ctr">
              <a:buNone/>
            </a:pPr>
            <a:r>
              <a:rPr lang="en-US" sz="1800" b="1" dirty="0">
                <a:solidFill>
                  <a:schemeClr val="tx1"/>
                </a:solidFill>
              </a:rPr>
              <a:t>−</a:t>
            </a:r>
            <a:endParaRPr lang="en-US" sz="1800" dirty="0"/>
          </a:p>
        </p:txBody>
      </p:sp>
      <p:sp>
        <p:nvSpPr>
          <p:cNvPr id="46" name="Text 43"/>
          <p:cNvSpPr txBox="1"/>
          <p:nvPr/>
        </p:nvSpPr>
        <p:spPr>
          <a:xfrm>
            <a:off x="6080760" y="3794760"/>
            <a:ext cx="2468880" cy="713232"/>
          </a:xfrm>
          <a:prstGeom prst="rect">
            <a:avLst/>
          </a:prstGeom>
          <a:noFill/>
          <a:ln/>
        </p:spPr>
        <p:txBody>
          <a:bodyPr wrap="square" lIns="0" tIns="0" rIns="0" bIns="0" rtlCol="0" anchor="ctr"/>
          <a:lstStyle/>
          <a:p>
            <a:pPr marL="0" indent="0" algn="l">
              <a:buNone/>
            </a:pPr>
            <a:r>
              <a:rPr lang="en-US" sz="1400" dirty="0">
                <a:solidFill>
                  <a:schemeClr val="bg1"/>
                </a:solidFill>
              </a:rPr>
              <a:t>Speed: up / down</a:t>
            </a:r>
            <a:endParaRPr lang="en-US" sz="1400" dirty="0"/>
          </a:p>
        </p:txBody>
      </p:sp>
      <p:sp>
        <p:nvSpPr>
          <p:cNvPr id="47"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Dashboard ⇄ Robot</a:t>
            </a:r>
            <a:endParaRPr lang="en-US" sz="3400" dirty="0"/>
          </a:p>
        </p:txBody>
      </p:sp>
      <p:sp>
        <p:nvSpPr>
          <p:cNvPr id="3" name="icon-bg FaExchangeAlt"/>
          <p:cNvSpPr/>
          <p:nvPr/>
        </p:nvSpPr>
        <p:spPr>
          <a:xfrm>
            <a:off x="457200" y="320040"/>
            <a:ext cx="685800" cy="68580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ExchangeAlt"/>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1920240" cy="1920240"/>
          </a:xfrm>
          <a:prstGeom prst="roundRect">
            <a:avLst>
              <a:gd name="adj" fmla="val 5714"/>
            </a:avLst>
          </a:prstGeom>
          <a:solidFill>
            <a:schemeClr val="tx2"/>
          </a:solidFill>
          <a:ln w="12700">
            <a:solidFill>
              <a:schemeClr val="accent4"/>
            </a:solidFill>
            <a:prstDash val="solid"/>
          </a:ln>
        </p:spPr>
        <p:txBody>
          <a:bodyPr/>
          <a:lstStyle/>
          <a:p>
            <a:endParaRPr lang="en-US"/>
          </a:p>
        </p:txBody>
      </p:sp>
      <p:sp>
        <p:nvSpPr>
          <p:cNvPr id="6" name="step badge"/>
          <p:cNvSpPr/>
          <p:nvPr/>
        </p:nvSpPr>
        <p:spPr>
          <a:xfrm>
            <a:off x="594360" y="1444752"/>
            <a:ext cx="502920" cy="502920"/>
          </a:xfrm>
          <a:prstGeom prst="ellipse">
            <a:avLst/>
          </a:prstGeom>
          <a:solidFill>
            <a:schemeClr val="accent1"/>
          </a:solidFill>
          <a:ln w="12700">
            <a:solidFill>
              <a:schemeClr val="accent1"/>
            </a:solidFill>
            <a:prstDash val="solid"/>
          </a:ln>
        </p:spPr>
        <p:txBody>
          <a:bodyPr/>
          <a:lstStyle/>
          <a:p>
            <a:endParaRPr lang="en-US"/>
          </a:p>
        </p:txBody>
      </p:sp>
      <p:sp>
        <p:nvSpPr>
          <p:cNvPr id="7" name="Text 4"/>
          <p:cNvSpPr txBox="1"/>
          <p:nvPr/>
        </p:nvSpPr>
        <p:spPr>
          <a:xfrm>
            <a:off x="594360" y="1444752"/>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8" name="Text 5"/>
          <p:cNvSpPr txBox="1"/>
          <p:nvPr/>
        </p:nvSpPr>
        <p:spPr>
          <a:xfrm>
            <a:off x="566928" y="2057400"/>
            <a:ext cx="1700784" cy="320040"/>
          </a:xfrm>
          <a:prstGeom prst="rect">
            <a:avLst/>
          </a:prstGeom>
          <a:noFill/>
          <a:ln/>
        </p:spPr>
        <p:txBody>
          <a:bodyPr wrap="square" lIns="0" tIns="0" rIns="0" bIns="0" rtlCol="0" anchor="t"/>
          <a:lstStyle/>
          <a:p>
            <a:pPr marL="0" indent="0" algn="l">
              <a:buNone/>
            </a:pPr>
            <a:r>
              <a:rPr lang="en-US" sz="1500" b="1" dirty="0">
                <a:solidFill>
                  <a:schemeClr val="accent2"/>
                </a:solidFill>
              </a:rPr>
              <a:t>Auto-connect</a:t>
            </a:r>
            <a:endParaRPr lang="en-US" sz="1500" dirty="0"/>
          </a:p>
        </p:txBody>
      </p:sp>
      <p:sp>
        <p:nvSpPr>
          <p:cNvPr id="9" name="Text 6"/>
          <p:cNvSpPr txBox="1"/>
          <p:nvPr/>
        </p:nvSpPr>
        <p:spPr>
          <a:xfrm>
            <a:off x="566928" y="2395728"/>
            <a:ext cx="1700784" cy="822960"/>
          </a:xfrm>
          <a:prstGeom prst="rect">
            <a:avLst/>
          </a:prstGeom>
          <a:noFill/>
          <a:ln/>
        </p:spPr>
        <p:txBody>
          <a:bodyPr wrap="square" lIns="0" tIns="0" rIns="0" bIns="0" rtlCol="0" anchor="t"/>
          <a:lstStyle/>
          <a:p>
            <a:pPr marL="0" indent="0" algn="l">
              <a:buNone/>
            </a:pPr>
            <a:r>
              <a:rPr lang="en-US" sz="1400" dirty="0">
                <a:solidFill>
                  <a:schemeClr val="bg1"/>
                </a:solidFill>
              </a:rPr>
              <a:t>WebSocket on port 81, retry every 300 ms</a:t>
            </a:r>
            <a:endParaRPr lang="en-US" sz="1400" dirty="0"/>
          </a:p>
        </p:txBody>
      </p:sp>
      <p:sp>
        <p:nvSpPr>
          <p:cNvPr id="10" name="card"/>
          <p:cNvSpPr/>
          <p:nvPr/>
        </p:nvSpPr>
        <p:spPr>
          <a:xfrm>
            <a:off x="2560320" y="1325880"/>
            <a:ext cx="1920240" cy="1920240"/>
          </a:xfrm>
          <a:prstGeom prst="roundRect">
            <a:avLst>
              <a:gd name="adj" fmla="val 5714"/>
            </a:avLst>
          </a:prstGeom>
          <a:solidFill>
            <a:schemeClr val="tx2"/>
          </a:solidFill>
          <a:ln w="12700">
            <a:solidFill>
              <a:schemeClr val="accent4"/>
            </a:solidFill>
            <a:prstDash val="solid"/>
          </a:ln>
        </p:spPr>
        <p:txBody>
          <a:bodyPr/>
          <a:lstStyle/>
          <a:p>
            <a:endParaRPr lang="en-US"/>
          </a:p>
        </p:txBody>
      </p:sp>
      <p:sp>
        <p:nvSpPr>
          <p:cNvPr id="11" name="step badge"/>
          <p:cNvSpPr/>
          <p:nvPr/>
        </p:nvSpPr>
        <p:spPr>
          <a:xfrm>
            <a:off x="2697480" y="1444752"/>
            <a:ext cx="502920" cy="502920"/>
          </a:xfrm>
          <a:prstGeom prst="ellipse">
            <a:avLst/>
          </a:prstGeom>
          <a:solidFill>
            <a:schemeClr val="accent2"/>
          </a:solidFill>
          <a:ln w="12700">
            <a:solidFill>
              <a:schemeClr val="accent2"/>
            </a:solidFill>
            <a:prstDash val="solid"/>
          </a:ln>
        </p:spPr>
        <p:txBody>
          <a:bodyPr/>
          <a:lstStyle/>
          <a:p>
            <a:endParaRPr lang="en-US"/>
          </a:p>
        </p:txBody>
      </p:sp>
      <p:sp>
        <p:nvSpPr>
          <p:cNvPr id="12" name="Text 9"/>
          <p:cNvSpPr txBox="1"/>
          <p:nvPr/>
        </p:nvSpPr>
        <p:spPr>
          <a:xfrm>
            <a:off x="2697480" y="1444752"/>
            <a:ext cx="502920" cy="50292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3" name="Text 10"/>
          <p:cNvSpPr txBox="1"/>
          <p:nvPr/>
        </p:nvSpPr>
        <p:spPr>
          <a:xfrm>
            <a:off x="2670048" y="2057400"/>
            <a:ext cx="1700784" cy="320040"/>
          </a:xfrm>
          <a:prstGeom prst="rect">
            <a:avLst/>
          </a:prstGeom>
          <a:noFill/>
          <a:ln/>
        </p:spPr>
        <p:txBody>
          <a:bodyPr wrap="square" lIns="0" tIns="0" rIns="0" bIns="0" rtlCol="0" anchor="t"/>
          <a:lstStyle/>
          <a:p>
            <a:pPr marL="0" indent="0" algn="l">
              <a:buNone/>
            </a:pPr>
            <a:r>
              <a:rPr lang="en-US" sz="1500" b="1" dirty="0">
                <a:solidFill>
                  <a:schemeClr val="accent2"/>
                </a:solidFill>
              </a:rPr>
              <a:t>Commands</a:t>
            </a:r>
            <a:endParaRPr lang="en-US" sz="1500" dirty="0"/>
          </a:p>
        </p:txBody>
      </p:sp>
      <p:sp>
        <p:nvSpPr>
          <p:cNvPr id="14" name="Text 11"/>
          <p:cNvSpPr txBox="1"/>
          <p:nvPr/>
        </p:nvSpPr>
        <p:spPr>
          <a:xfrm>
            <a:off x="2670048" y="2395728"/>
            <a:ext cx="1700784" cy="822960"/>
          </a:xfrm>
          <a:prstGeom prst="rect">
            <a:avLst/>
          </a:prstGeom>
          <a:noFill/>
          <a:ln/>
        </p:spPr>
        <p:txBody>
          <a:bodyPr wrap="square" lIns="0" tIns="0" rIns="0" bIns="0" rtlCol="0" anchor="t"/>
          <a:lstStyle/>
          <a:p>
            <a:pPr marL="0" indent="0" algn="l">
              <a:buNone/>
            </a:pPr>
            <a:r>
              <a:rPr lang="en-US" sz="1400" dirty="0">
                <a:solidFill>
                  <a:schemeClr val="bg1"/>
                </a:solidFill>
              </a:rPr>
              <a:t>Sent on change, plus a keepalive every 100 ms</a:t>
            </a:r>
            <a:endParaRPr lang="en-US" sz="1400" dirty="0"/>
          </a:p>
        </p:txBody>
      </p:sp>
      <p:sp>
        <p:nvSpPr>
          <p:cNvPr id="15" name="card"/>
          <p:cNvSpPr/>
          <p:nvPr/>
        </p:nvSpPr>
        <p:spPr>
          <a:xfrm>
            <a:off x="4663440" y="1325880"/>
            <a:ext cx="1920240" cy="1920240"/>
          </a:xfrm>
          <a:prstGeom prst="roundRect">
            <a:avLst>
              <a:gd name="adj" fmla="val 5714"/>
            </a:avLst>
          </a:prstGeom>
          <a:solidFill>
            <a:schemeClr val="tx2"/>
          </a:solidFill>
          <a:ln w="12700">
            <a:solidFill>
              <a:schemeClr val="accent4"/>
            </a:solidFill>
            <a:prstDash val="solid"/>
          </a:ln>
        </p:spPr>
        <p:txBody>
          <a:bodyPr/>
          <a:lstStyle/>
          <a:p>
            <a:endParaRPr lang="en-US"/>
          </a:p>
        </p:txBody>
      </p:sp>
      <p:sp>
        <p:nvSpPr>
          <p:cNvPr id="16" name="step badge"/>
          <p:cNvSpPr/>
          <p:nvPr/>
        </p:nvSpPr>
        <p:spPr>
          <a:xfrm>
            <a:off x="4800600" y="1444752"/>
            <a:ext cx="502920" cy="502920"/>
          </a:xfrm>
          <a:prstGeom prst="ellipse">
            <a:avLst/>
          </a:prstGeom>
          <a:solidFill>
            <a:schemeClr val="accent1"/>
          </a:solidFill>
          <a:ln w="12700">
            <a:solidFill>
              <a:schemeClr val="accent1"/>
            </a:solidFill>
            <a:prstDash val="solid"/>
          </a:ln>
        </p:spPr>
        <p:txBody>
          <a:bodyPr/>
          <a:lstStyle/>
          <a:p>
            <a:endParaRPr lang="en-US"/>
          </a:p>
        </p:txBody>
      </p:sp>
      <p:sp>
        <p:nvSpPr>
          <p:cNvPr id="17" name="Text 14"/>
          <p:cNvSpPr txBox="1"/>
          <p:nvPr/>
        </p:nvSpPr>
        <p:spPr>
          <a:xfrm>
            <a:off x="4800600" y="1444752"/>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8" name="Text 15"/>
          <p:cNvSpPr txBox="1"/>
          <p:nvPr/>
        </p:nvSpPr>
        <p:spPr>
          <a:xfrm>
            <a:off x="4773168" y="2057400"/>
            <a:ext cx="1700784" cy="320040"/>
          </a:xfrm>
          <a:prstGeom prst="rect">
            <a:avLst/>
          </a:prstGeom>
          <a:noFill/>
          <a:ln/>
        </p:spPr>
        <p:txBody>
          <a:bodyPr wrap="square" lIns="0" tIns="0" rIns="0" bIns="0" rtlCol="0" anchor="t"/>
          <a:lstStyle/>
          <a:p>
            <a:pPr marL="0" indent="0" algn="l">
              <a:buNone/>
            </a:pPr>
            <a:r>
              <a:rPr lang="en-US" sz="1500" b="1" dirty="0">
                <a:solidFill>
                  <a:schemeClr val="accent2"/>
                </a:solidFill>
              </a:rPr>
              <a:t>Live status</a:t>
            </a:r>
            <a:endParaRPr lang="en-US" sz="1500" dirty="0"/>
          </a:p>
        </p:txBody>
      </p:sp>
      <p:sp>
        <p:nvSpPr>
          <p:cNvPr id="19" name="Text 16"/>
          <p:cNvSpPr txBox="1"/>
          <p:nvPr/>
        </p:nvSpPr>
        <p:spPr>
          <a:xfrm>
            <a:off x="4773168" y="2395728"/>
            <a:ext cx="1700784" cy="822960"/>
          </a:xfrm>
          <a:prstGeom prst="rect">
            <a:avLst/>
          </a:prstGeom>
          <a:noFill/>
          <a:ln/>
        </p:spPr>
        <p:txBody>
          <a:bodyPr wrap="square" lIns="0" tIns="0" rIns="0" bIns="0" rtlCol="0" anchor="t"/>
          <a:lstStyle/>
          <a:p>
            <a:pPr marL="0" indent="0" algn="l">
              <a:buNone/>
            </a:pPr>
            <a:r>
              <a:rPr lang="en-US" sz="1400" dirty="0">
                <a:solidFill>
                  <a:schemeClr val="bg1"/>
                </a:solidFill>
              </a:rPr>
              <a:t>Status JSON every 50 ms, RTT every second</a:t>
            </a:r>
            <a:endParaRPr lang="en-US" sz="1400" dirty="0"/>
          </a:p>
        </p:txBody>
      </p:sp>
      <p:sp>
        <p:nvSpPr>
          <p:cNvPr id="20" name="card"/>
          <p:cNvSpPr/>
          <p:nvPr/>
        </p:nvSpPr>
        <p:spPr>
          <a:xfrm>
            <a:off x="6766560" y="1325880"/>
            <a:ext cx="1920240" cy="1920240"/>
          </a:xfrm>
          <a:prstGeom prst="roundRect">
            <a:avLst>
              <a:gd name="adj" fmla="val 5714"/>
            </a:avLst>
          </a:prstGeom>
          <a:solidFill>
            <a:schemeClr val="tx2"/>
          </a:solidFill>
          <a:ln w="12700">
            <a:solidFill>
              <a:schemeClr val="accent4"/>
            </a:solidFill>
            <a:prstDash val="solid"/>
          </a:ln>
        </p:spPr>
        <p:txBody>
          <a:bodyPr/>
          <a:lstStyle/>
          <a:p>
            <a:endParaRPr lang="en-US"/>
          </a:p>
        </p:txBody>
      </p:sp>
      <p:sp>
        <p:nvSpPr>
          <p:cNvPr id="21" name="step badge"/>
          <p:cNvSpPr/>
          <p:nvPr/>
        </p:nvSpPr>
        <p:spPr>
          <a:xfrm>
            <a:off x="6903720" y="1444752"/>
            <a:ext cx="502920" cy="50292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6903720" y="1444752"/>
            <a:ext cx="502920" cy="50292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23" name="Text 20"/>
          <p:cNvSpPr txBox="1"/>
          <p:nvPr/>
        </p:nvSpPr>
        <p:spPr>
          <a:xfrm>
            <a:off x="6876288" y="2057400"/>
            <a:ext cx="1700784" cy="320040"/>
          </a:xfrm>
          <a:prstGeom prst="rect">
            <a:avLst/>
          </a:prstGeom>
          <a:noFill/>
          <a:ln/>
        </p:spPr>
        <p:txBody>
          <a:bodyPr wrap="square" lIns="0" tIns="0" rIns="0" bIns="0" rtlCol="0" anchor="t"/>
          <a:lstStyle/>
          <a:p>
            <a:pPr marL="0" indent="0" algn="l">
              <a:buNone/>
            </a:pPr>
            <a:r>
              <a:rPr lang="en-US" sz="1500" b="1" dirty="0">
                <a:solidFill>
                  <a:schemeClr val="accent2"/>
                </a:solidFill>
              </a:rPr>
              <a:t>Page safety</a:t>
            </a:r>
            <a:endParaRPr lang="en-US" sz="1500" dirty="0"/>
          </a:p>
        </p:txBody>
      </p:sp>
      <p:sp>
        <p:nvSpPr>
          <p:cNvPr id="24" name="Text 21"/>
          <p:cNvSpPr txBox="1"/>
          <p:nvPr/>
        </p:nvSpPr>
        <p:spPr>
          <a:xfrm>
            <a:off x="6876288" y="2395728"/>
            <a:ext cx="1700784" cy="822960"/>
          </a:xfrm>
          <a:prstGeom prst="rect">
            <a:avLst/>
          </a:prstGeom>
          <a:noFill/>
          <a:ln/>
        </p:spPr>
        <p:txBody>
          <a:bodyPr wrap="square" lIns="0" tIns="0" rIns="0" bIns="0" rtlCol="0" anchor="t"/>
          <a:lstStyle/>
          <a:p>
            <a:pPr marL="0" indent="0" algn="l">
              <a:buNone/>
            </a:pPr>
            <a:r>
              <a:rPr lang="en-US" sz="1400" dirty="0">
                <a:solidFill>
                  <a:schemeClr val="bg1"/>
                </a:solidFill>
              </a:rPr>
              <a:t>Losing focus or hiding the tab sends S</a:t>
            </a:r>
            <a:endParaRPr lang="en-US" sz="1400" dirty="0"/>
          </a:p>
        </p:txBody>
      </p:sp>
      <p:sp>
        <p:nvSpPr>
          <p:cNvPr id="25" name="card"/>
          <p:cNvSpPr/>
          <p:nvPr/>
        </p:nvSpPr>
        <p:spPr>
          <a:xfrm>
            <a:off x="457200" y="3429000"/>
            <a:ext cx="8229600" cy="1097280"/>
          </a:xfrm>
          <a:prstGeom prst="roundRect">
            <a:avLst>
              <a:gd name="adj" fmla="val 10000"/>
            </a:avLst>
          </a:prstGeom>
          <a:solidFill>
            <a:schemeClr val="tx2"/>
          </a:solidFill>
          <a:ln w="12700">
            <a:solidFill>
              <a:schemeClr val="accent2"/>
            </a:solidFill>
            <a:prstDash val="solid"/>
          </a:ln>
        </p:spPr>
        <p:txBody>
          <a:bodyPr/>
          <a:lstStyle/>
          <a:p>
            <a:endParaRPr lang="en-US"/>
          </a:p>
        </p:txBody>
      </p:sp>
      <p:sp>
        <p:nvSpPr>
          <p:cNvPr id="26" name="Text 23"/>
          <p:cNvSpPr txBox="1"/>
          <p:nvPr/>
        </p:nvSpPr>
        <p:spPr>
          <a:xfrm>
            <a:off x="640080" y="3493008"/>
            <a:ext cx="2560320" cy="274320"/>
          </a:xfrm>
          <a:prstGeom prst="rect">
            <a:avLst/>
          </a:prstGeom>
          <a:noFill/>
          <a:ln/>
        </p:spPr>
        <p:txBody>
          <a:bodyPr wrap="square" lIns="0" tIns="0" rIns="0" bIns="0" rtlCol="0" anchor="t"/>
          <a:lstStyle/>
          <a:p>
            <a:pPr marL="0" indent="0" algn="l">
              <a:buNone/>
            </a:pPr>
            <a:r>
              <a:rPr lang="en-US" sz="1200" b="1" dirty="0">
                <a:solidFill>
                  <a:schemeClr val="accent2"/>
                </a:solidFill>
              </a:rPr>
              <a:t>Status JSON example</a:t>
            </a:r>
            <a:endParaRPr lang="en-US" sz="1200" dirty="0"/>
          </a:p>
        </p:txBody>
      </p:sp>
      <p:sp>
        <p:nvSpPr>
          <p:cNvPr id="27" name="Text 24"/>
          <p:cNvSpPr txBox="1"/>
          <p:nvPr/>
        </p:nvSpPr>
        <p:spPr>
          <a:xfrm>
            <a:off x="640080" y="3840480"/>
            <a:ext cx="7863840" cy="640080"/>
          </a:xfrm>
          <a:prstGeom prst="rect">
            <a:avLst/>
          </a:prstGeom>
          <a:noFill/>
          <a:ln/>
        </p:spPr>
        <p:txBody>
          <a:bodyPr wrap="square" lIns="0" tIns="0" rIns="0" bIns="0" rtlCol="0" anchor="t"/>
          <a:lstStyle/>
          <a:p>
            <a:pPr marL="0" indent="0" algn="l">
              <a:buNone/>
            </a:pPr>
            <a:r>
              <a:rPr lang="en-US" sz="1200" dirty="0">
                <a:solidFill>
                  <a:schemeClr val="bg1"/>
                </a:solidFill>
                <a:latin typeface="Courier New" pitchFamily="34" charset="0"/>
                <a:ea typeface="Courier New" pitchFamily="34" charset="-122"/>
                <a:cs typeface="Courier New" pitchFamily="34" charset="-120"/>
              </a:rPr>
              <a:t>{"robot":"AUTO FORWARD","auto":true,"autoState":"FORWARD",</a:t>
            </a:r>
            <a:endParaRPr lang="en-US" sz="1200" dirty="0"/>
          </a:p>
          <a:p>
            <a:pPr marL="0" indent="0" algn="l">
              <a:buNone/>
            </a:pPr>
            <a:r>
              <a:rPr lang="en-US" sz="1200" dirty="0">
                <a:solidFill>
                  <a:schemeClr val="bg1"/>
                </a:solidFill>
                <a:latin typeface="Courier New" pitchFamily="34" charset="0"/>
                <a:ea typeface="Courier New" pitchFamily="34" charset="-122"/>
                <a:cs typeface="Courier New" pitchFamily="34" charset="-120"/>
              </a:rPr>
              <a:t> "lf":24.1,"rf":24.3,"ls":18.7,"rs":18.9,"lfGap":false,...}</a:t>
            </a:r>
            <a:endParaRPr lang="en-US" sz="1200" dirty="0"/>
          </a:p>
        </p:txBody>
      </p:sp>
      <p:sp>
        <p:nvSpPr>
          <p:cNvPr id="28"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943600" y="914400"/>
            <a:ext cx="2926080" cy="2011680"/>
          </a:xfrm>
          <a:prstGeom prst="rect">
            <a:avLst/>
          </a:prstGeom>
          <a:noFill/>
          <a:ln/>
        </p:spPr>
        <p:txBody>
          <a:bodyPr wrap="square" lIns="0" tIns="0" rIns="0" bIns="0" rtlCol="0" anchor="ctr"/>
          <a:lstStyle/>
          <a:p>
            <a:pPr marL="0" indent="0" algn="ctr">
              <a:buNone/>
            </a:pPr>
            <a:r>
              <a:rPr lang="en-US" sz="11000" b="1" dirty="0">
                <a:solidFill>
                  <a:schemeClr val="bg1"/>
                </a:solidFill>
              </a:rPr>
              <a:t>03</a:t>
            </a:r>
            <a:endParaRPr lang="en-US" sz="11000" dirty="0"/>
          </a:p>
        </p:txBody>
      </p:sp>
      <p:sp>
        <p:nvSpPr>
          <p:cNvPr id="3" name="icon-bg FaRobot"/>
          <p:cNvSpPr/>
          <p:nvPr/>
        </p:nvSpPr>
        <p:spPr>
          <a:xfrm>
            <a:off x="6903720" y="3200400"/>
            <a:ext cx="1005840" cy="100584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Robot"/>
          <p:cNvPicPr>
            <a:picLocks noChangeAspect="1"/>
          </p:cNvPicPr>
          <p:nvPr/>
        </p:nvPicPr>
        <p:blipFill>
          <a:blip r:embed="rId3"/>
          <a:stretch>
            <a:fillRect/>
          </a:stretch>
        </p:blipFill>
        <p:spPr>
          <a:xfrm>
            <a:off x="7155180" y="3451860"/>
            <a:ext cx="502920" cy="502920"/>
          </a:xfrm>
          <a:prstGeom prst="rect">
            <a:avLst/>
          </a:prstGeom>
        </p:spPr>
      </p:pic>
      <p:sp>
        <p:nvSpPr>
          <p:cNvPr id="5" name="Text 1"/>
          <p:cNvSpPr>
            <a:spLocks noGrp="1"/>
          </p:cNvSpPr>
          <p:nvPr>
            <p:ph type="title" idx="101" hasCustomPrompt="1"/>
          </p:nvPr>
        </p:nvSpPr>
        <p:spPr>
          <a:xfrm>
            <a:off x="457200" y="1554480"/>
            <a:ext cx="4846320" cy="1280160"/>
          </a:xfrm>
          <a:prstGeom prst="rect">
            <a:avLst/>
          </a:prstGeom>
          <a:noFill/>
          <a:ln/>
        </p:spPr>
        <p:txBody>
          <a:bodyPr wrap="square" lIns="0" tIns="0" rIns="0" bIns="0" rtlCol="0" anchor="ctr"/>
          <a:lstStyle/>
          <a:p>
            <a:pPr marL="0" indent="0" algn="l">
              <a:buNone/>
            </a:pPr>
            <a:r>
              <a:rPr lang="en-US" sz="4400" b="1" dirty="0">
                <a:solidFill>
                  <a:schemeClr val="bg1"/>
                </a:solidFill>
              </a:rPr>
              <a:t>Autonomous</a:t>
            </a:r>
            <a:endParaRPr lang="en-US" sz="4400" dirty="0"/>
          </a:p>
        </p:txBody>
      </p:sp>
      <p:sp>
        <p:nvSpPr>
          <p:cNvPr id="6" name="Text 1"/>
          <p:cNvSpPr>
            <a:spLocks noGrp="1"/>
          </p:cNvSpPr>
          <p:nvPr>
            <p:ph type="body" idx="102" hasCustomPrompt="1"/>
          </p:nvPr>
        </p:nvSpPr>
        <p:spPr>
          <a:xfrm>
            <a:off x="457200" y="2971800"/>
            <a:ext cx="4846320" cy="914400"/>
          </a:xfrm>
          <a:prstGeom prst="rect">
            <a:avLst/>
          </a:prstGeom>
          <a:noFill/>
          <a:ln/>
        </p:spPr>
        <p:txBody>
          <a:bodyPr wrap="square" lIns="0" tIns="0" rIns="0" bIns="0" rtlCol="0" anchor="t"/>
          <a:lstStyle/>
          <a:p>
            <a:pPr marL="0" indent="0" algn="l">
              <a:buNone/>
            </a:pPr>
            <a:r>
              <a:rPr lang="en-US" sz="1800" dirty="0">
                <a:solidFill>
                  <a:schemeClr val="accent2"/>
                </a:solidFill>
              </a:rPr>
              <a:t>Raised track, no walls: don’t fall off the edge</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How Autonomous Works</a:t>
            </a:r>
            <a:endParaRPr lang="en-US" sz="3400" dirty="0"/>
          </a:p>
        </p:txBody>
      </p:sp>
      <p:sp>
        <p:nvSpPr>
          <p:cNvPr id="3" name="icon-bg FaRobot"/>
          <p:cNvSpPr/>
          <p:nvPr/>
        </p:nvSpPr>
        <p:spPr>
          <a:xfrm>
            <a:off x="457200" y="320040"/>
            <a:ext cx="685800" cy="685800"/>
          </a:xfrm>
          <a:prstGeom prst="ellipse">
            <a:avLst/>
          </a:prstGeom>
          <a:solidFill>
            <a:schemeClr val="accent1"/>
          </a:solidFill>
          <a:ln w="12700">
            <a:solidFill>
              <a:schemeClr val="accent1"/>
            </a:solidFill>
            <a:prstDash val="solid"/>
          </a:ln>
        </p:spPr>
        <p:txBody>
          <a:bodyPr/>
          <a:lstStyle/>
          <a:p>
            <a:endParaRPr lang="en-US"/>
          </a:p>
        </p:txBody>
      </p:sp>
      <p:pic>
        <p:nvPicPr>
          <p:cNvPr id="4" name="Image 0" descr="FaRobot"/>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5120640" y="1325880"/>
            <a:ext cx="3566160" cy="3291840"/>
          </a:xfrm>
          <a:prstGeom prst="roundRect">
            <a:avLst>
              <a:gd name="adj" fmla="val 3333"/>
            </a:avLst>
          </a:prstGeom>
          <a:solidFill>
            <a:schemeClr val="tx2"/>
          </a:solidFill>
          <a:ln w="12700">
            <a:solidFill>
              <a:schemeClr val="accent4"/>
            </a:solidFill>
            <a:prstDash val="solid"/>
          </a:ln>
        </p:spPr>
        <p:txBody>
          <a:bodyPr/>
          <a:lstStyle/>
          <a:p>
            <a:endParaRPr lang="en-US"/>
          </a:p>
        </p:txBody>
      </p:sp>
      <p:sp>
        <p:nvSpPr>
          <p:cNvPr id="6" name="track"/>
          <p:cNvSpPr/>
          <p:nvPr/>
        </p:nvSpPr>
        <p:spPr>
          <a:xfrm>
            <a:off x="5577840" y="1463040"/>
            <a:ext cx="2651760" cy="3017520"/>
          </a:xfrm>
          <a:prstGeom prst="rect">
            <a:avLst/>
          </a:prstGeom>
          <a:solidFill>
            <a:schemeClr val="accent4"/>
          </a:solidFill>
          <a:ln w="25400">
            <a:solidFill>
              <a:schemeClr val="accent6"/>
            </a:solidFill>
            <a:prstDash val="dash"/>
          </a:ln>
        </p:spPr>
        <p:txBody>
          <a:bodyPr/>
          <a:lstStyle/>
          <a:p>
            <a:endParaRPr lang="en-US"/>
          </a:p>
        </p:txBody>
      </p:sp>
      <p:sp>
        <p:nvSpPr>
          <p:cNvPr id="7" name="Text 4"/>
          <p:cNvSpPr txBox="1"/>
          <p:nvPr/>
        </p:nvSpPr>
        <p:spPr>
          <a:xfrm>
            <a:off x="5166360" y="4160520"/>
            <a:ext cx="411480" cy="274320"/>
          </a:xfrm>
          <a:prstGeom prst="rect">
            <a:avLst/>
          </a:prstGeom>
          <a:noFill/>
          <a:ln/>
        </p:spPr>
        <p:txBody>
          <a:bodyPr wrap="square" lIns="0" tIns="0" rIns="0" bIns="0" rtlCol="0" anchor="t"/>
          <a:lstStyle/>
          <a:p>
            <a:pPr marL="0" indent="0" algn="ctr">
              <a:buNone/>
            </a:pPr>
            <a:r>
              <a:rPr lang="en-US" sz="1200" dirty="0">
                <a:solidFill>
                  <a:schemeClr val="accent6"/>
                </a:solidFill>
              </a:rPr>
              <a:t>edge</a:t>
            </a:r>
            <a:endParaRPr lang="en-US" sz="1200" dirty="0"/>
          </a:p>
        </p:txBody>
      </p:sp>
      <p:sp>
        <p:nvSpPr>
          <p:cNvPr id="8" name="Text 5"/>
          <p:cNvSpPr txBox="1"/>
          <p:nvPr/>
        </p:nvSpPr>
        <p:spPr>
          <a:xfrm>
            <a:off x="8229600" y="4160520"/>
            <a:ext cx="411480" cy="274320"/>
          </a:xfrm>
          <a:prstGeom prst="rect">
            <a:avLst/>
          </a:prstGeom>
          <a:noFill/>
          <a:ln/>
        </p:spPr>
        <p:txBody>
          <a:bodyPr wrap="square" lIns="0" tIns="0" rIns="0" bIns="0" rtlCol="0" anchor="t"/>
          <a:lstStyle/>
          <a:p>
            <a:pPr marL="0" indent="0" algn="ctr">
              <a:buNone/>
            </a:pPr>
            <a:r>
              <a:rPr lang="en-US" sz="1200" dirty="0">
                <a:solidFill>
                  <a:schemeClr val="accent6"/>
                </a:solidFill>
              </a:rPr>
              <a:t>edge</a:t>
            </a:r>
            <a:endParaRPr lang="en-US" sz="1200" dirty="0"/>
          </a:p>
        </p:txBody>
      </p:sp>
      <p:sp>
        <p:nvSpPr>
          <p:cNvPr id="9" name="robot body"/>
          <p:cNvSpPr/>
          <p:nvPr/>
        </p:nvSpPr>
        <p:spPr>
          <a:xfrm>
            <a:off x="6217920" y="2606040"/>
            <a:ext cx="1371600" cy="1554480"/>
          </a:xfrm>
          <a:prstGeom prst="roundRect">
            <a:avLst>
              <a:gd name="adj" fmla="val 6667"/>
            </a:avLst>
          </a:prstGeom>
          <a:solidFill>
            <a:schemeClr val="tx2"/>
          </a:solidFill>
          <a:ln w="19050">
            <a:solidFill>
              <a:schemeClr val="bg1"/>
            </a:solidFill>
            <a:prstDash val="solid"/>
          </a:ln>
        </p:spPr>
        <p:txBody>
          <a:bodyPr/>
          <a:lstStyle/>
          <a:p>
            <a:endParaRPr lang="en-US"/>
          </a:p>
        </p:txBody>
      </p:sp>
      <p:pic>
        <p:nvPicPr>
          <p:cNvPr id="10" name="Image 1" descr="forward"/>
          <p:cNvPicPr>
            <a:picLocks noChangeAspect="1"/>
          </p:cNvPicPr>
          <p:nvPr/>
        </p:nvPicPr>
        <p:blipFill>
          <a:blip r:embed="rId4"/>
          <a:stretch>
            <a:fillRect/>
          </a:stretch>
        </p:blipFill>
        <p:spPr>
          <a:xfrm>
            <a:off x="6675120" y="1645920"/>
            <a:ext cx="457200" cy="457200"/>
          </a:xfrm>
          <a:prstGeom prst="rect">
            <a:avLst/>
          </a:prstGeom>
        </p:spPr>
      </p:pic>
      <p:sp>
        <p:nvSpPr>
          <p:cNvPr id="11" name="sensor LF"/>
          <p:cNvSpPr/>
          <p:nvPr/>
        </p:nvSpPr>
        <p:spPr>
          <a:xfrm>
            <a:off x="6263640" y="2331720"/>
            <a:ext cx="365760" cy="365760"/>
          </a:xfrm>
          <a:prstGeom prst="ellipse">
            <a:avLst/>
          </a:prstGeom>
          <a:solidFill>
            <a:schemeClr val="accent2"/>
          </a:solidFill>
          <a:ln w="12700">
            <a:solidFill>
              <a:schemeClr val="accent2"/>
            </a:solidFill>
            <a:prstDash val="solid"/>
          </a:ln>
        </p:spPr>
        <p:txBody>
          <a:bodyPr/>
          <a:lstStyle/>
          <a:p>
            <a:endParaRPr lang="en-US"/>
          </a:p>
        </p:txBody>
      </p:sp>
      <p:sp>
        <p:nvSpPr>
          <p:cNvPr id="12" name="Text 8"/>
          <p:cNvSpPr txBox="1"/>
          <p:nvPr/>
        </p:nvSpPr>
        <p:spPr>
          <a:xfrm>
            <a:off x="6263640" y="2331720"/>
            <a:ext cx="365760" cy="365760"/>
          </a:xfrm>
          <a:prstGeom prst="rect">
            <a:avLst/>
          </a:prstGeom>
          <a:noFill/>
          <a:ln/>
        </p:spPr>
        <p:txBody>
          <a:bodyPr wrap="square" lIns="0" tIns="0" rIns="0" bIns="0" rtlCol="0" anchor="ctr"/>
          <a:lstStyle/>
          <a:p>
            <a:pPr marL="0" indent="0" algn="ctr">
              <a:buNone/>
            </a:pPr>
            <a:r>
              <a:rPr lang="en-US" sz="1100" b="1" dirty="0">
                <a:solidFill>
                  <a:schemeClr val="tx1"/>
                </a:solidFill>
              </a:rPr>
              <a:t>LF</a:t>
            </a:r>
            <a:endParaRPr lang="en-US" sz="1100" dirty="0"/>
          </a:p>
        </p:txBody>
      </p:sp>
      <p:sp>
        <p:nvSpPr>
          <p:cNvPr id="13" name="sensor RF"/>
          <p:cNvSpPr/>
          <p:nvPr/>
        </p:nvSpPr>
        <p:spPr>
          <a:xfrm>
            <a:off x="7269480" y="2331720"/>
            <a:ext cx="365760" cy="365760"/>
          </a:xfrm>
          <a:prstGeom prst="ellipse">
            <a:avLst/>
          </a:prstGeom>
          <a:solidFill>
            <a:schemeClr val="accent2"/>
          </a:solidFill>
          <a:ln w="12700">
            <a:solidFill>
              <a:schemeClr val="accent2"/>
            </a:solidFill>
            <a:prstDash val="solid"/>
          </a:ln>
        </p:spPr>
        <p:txBody>
          <a:bodyPr/>
          <a:lstStyle/>
          <a:p>
            <a:endParaRPr lang="en-US"/>
          </a:p>
        </p:txBody>
      </p:sp>
      <p:sp>
        <p:nvSpPr>
          <p:cNvPr id="14" name="Text 10"/>
          <p:cNvSpPr txBox="1"/>
          <p:nvPr/>
        </p:nvSpPr>
        <p:spPr>
          <a:xfrm>
            <a:off x="7269480" y="2331720"/>
            <a:ext cx="365760" cy="365760"/>
          </a:xfrm>
          <a:prstGeom prst="rect">
            <a:avLst/>
          </a:prstGeom>
          <a:noFill/>
          <a:ln/>
        </p:spPr>
        <p:txBody>
          <a:bodyPr wrap="square" lIns="0" tIns="0" rIns="0" bIns="0" rtlCol="0" anchor="ctr"/>
          <a:lstStyle/>
          <a:p>
            <a:pPr marL="0" indent="0" algn="ctr">
              <a:buNone/>
            </a:pPr>
            <a:r>
              <a:rPr lang="en-US" sz="1100" b="1" dirty="0">
                <a:solidFill>
                  <a:schemeClr val="tx1"/>
                </a:solidFill>
              </a:rPr>
              <a:t>RF</a:t>
            </a:r>
            <a:endParaRPr lang="en-US" sz="1100" dirty="0"/>
          </a:p>
        </p:txBody>
      </p:sp>
      <p:sp>
        <p:nvSpPr>
          <p:cNvPr id="15" name="sensor LS"/>
          <p:cNvSpPr/>
          <p:nvPr/>
        </p:nvSpPr>
        <p:spPr>
          <a:xfrm>
            <a:off x="5897880" y="3200400"/>
            <a:ext cx="365760" cy="365760"/>
          </a:xfrm>
          <a:prstGeom prst="ellipse">
            <a:avLst/>
          </a:prstGeom>
          <a:solidFill>
            <a:schemeClr val="accent2"/>
          </a:solidFill>
          <a:ln w="12700">
            <a:solidFill>
              <a:schemeClr val="accent2"/>
            </a:solidFill>
            <a:prstDash val="solid"/>
          </a:ln>
        </p:spPr>
        <p:txBody>
          <a:bodyPr/>
          <a:lstStyle/>
          <a:p>
            <a:endParaRPr lang="en-US"/>
          </a:p>
        </p:txBody>
      </p:sp>
      <p:sp>
        <p:nvSpPr>
          <p:cNvPr id="16" name="Text 12"/>
          <p:cNvSpPr txBox="1"/>
          <p:nvPr/>
        </p:nvSpPr>
        <p:spPr>
          <a:xfrm>
            <a:off x="5897880" y="3200400"/>
            <a:ext cx="365760" cy="365760"/>
          </a:xfrm>
          <a:prstGeom prst="rect">
            <a:avLst/>
          </a:prstGeom>
          <a:noFill/>
          <a:ln/>
        </p:spPr>
        <p:txBody>
          <a:bodyPr wrap="square" lIns="0" tIns="0" rIns="0" bIns="0" rtlCol="0" anchor="ctr"/>
          <a:lstStyle/>
          <a:p>
            <a:pPr marL="0" indent="0" algn="ctr">
              <a:buNone/>
            </a:pPr>
            <a:r>
              <a:rPr lang="en-US" sz="1100" b="1" dirty="0">
                <a:solidFill>
                  <a:schemeClr val="tx1"/>
                </a:solidFill>
              </a:rPr>
              <a:t>LS</a:t>
            </a:r>
            <a:endParaRPr lang="en-US" sz="1100" dirty="0"/>
          </a:p>
        </p:txBody>
      </p:sp>
      <p:sp>
        <p:nvSpPr>
          <p:cNvPr id="17" name="sensor RS"/>
          <p:cNvSpPr/>
          <p:nvPr/>
        </p:nvSpPr>
        <p:spPr>
          <a:xfrm>
            <a:off x="7635240" y="3200400"/>
            <a:ext cx="365760" cy="365760"/>
          </a:xfrm>
          <a:prstGeom prst="ellipse">
            <a:avLst/>
          </a:prstGeom>
          <a:solidFill>
            <a:schemeClr val="accent2"/>
          </a:solidFill>
          <a:ln w="12700">
            <a:solidFill>
              <a:schemeClr val="accent2"/>
            </a:solidFill>
            <a:prstDash val="solid"/>
          </a:ln>
        </p:spPr>
        <p:txBody>
          <a:bodyPr/>
          <a:lstStyle/>
          <a:p>
            <a:endParaRPr lang="en-US"/>
          </a:p>
        </p:txBody>
      </p:sp>
      <p:sp>
        <p:nvSpPr>
          <p:cNvPr id="18" name="Text 14"/>
          <p:cNvSpPr txBox="1"/>
          <p:nvPr/>
        </p:nvSpPr>
        <p:spPr>
          <a:xfrm>
            <a:off x="7635240" y="3200400"/>
            <a:ext cx="365760" cy="365760"/>
          </a:xfrm>
          <a:prstGeom prst="rect">
            <a:avLst/>
          </a:prstGeom>
          <a:noFill/>
          <a:ln/>
        </p:spPr>
        <p:txBody>
          <a:bodyPr wrap="square" lIns="0" tIns="0" rIns="0" bIns="0" rtlCol="0" anchor="ctr"/>
          <a:lstStyle/>
          <a:p>
            <a:pPr marL="0" indent="0" algn="ctr">
              <a:buNone/>
            </a:pPr>
            <a:r>
              <a:rPr lang="en-US" sz="1100" b="1" dirty="0">
                <a:solidFill>
                  <a:schemeClr val="tx1"/>
                </a:solidFill>
              </a:rPr>
              <a:t>RS</a:t>
            </a:r>
            <a:endParaRPr lang="en-US" sz="1100" dirty="0"/>
          </a:p>
        </p:txBody>
      </p:sp>
      <p:sp>
        <p:nvSpPr>
          <p:cNvPr id="19" name="card"/>
          <p:cNvSpPr/>
          <p:nvPr/>
        </p:nvSpPr>
        <p:spPr>
          <a:xfrm>
            <a:off x="457200" y="1325880"/>
            <a:ext cx="4389120" cy="640080"/>
          </a:xfrm>
          <a:prstGeom prst="roundRect">
            <a:avLst>
              <a:gd name="adj" fmla="val 17143"/>
            </a:avLst>
          </a:prstGeom>
          <a:solidFill>
            <a:schemeClr val="tx2"/>
          </a:solidFill>
          <a:ln w="12700">
            <a:solidFill>
              <a:schemeClr val="accent4"/>
            </a:solidFill>
            <a:prstDash val="solid"/>
          </a:ln>
        </p:spPr>
        <p:txBody>
          <a:bodyPr/>
          <a:lstStyle/>
          <a:p>
            <a:endParaRPr lang="en-US"/>
          </a:p>
        </p:txBody>
      </p:sp>
      <p:sp>
        <p:nvSpPr>
          <p:cNvPr id="20" name="icon-bg FaExclamationTriangle"/>
          <p:cNvSpPr/>
          <p:nvPr/>
        </p:nvSpPr>
        <p:spPr>
          <a:xfrm>
            <a:off x="548640" y="1417320"/>
            <a:ext cx="457200" cy="457200"/>
          </a:xfrm>
          <a:prstGeom prst="ellipse">
            <a:avLst/>
          </a:prstGeom>
          <a:solidFill>
            <a:schemeClr val="accent1"/>
          </a:solidFill>
          <a:ln w="12700">
            <a:solidFill>
              <a:schemeClr val="accent1"/>
            </a:solidFill>
            <a:prstDash val="solid"/>
          </a:ln>
        </p:spPr>
        <p:txBody>
          <a:bodyPr/>
          <a:lstStyle/>
          <a:p>
            <a:endParaRPr lang="en-US"/>
          </a:p>
        </p:txBody>
      </p:sp>
      <p:pic>
        <p:nvPicPr>
          <p:cNvPr id="21" name="Image 2" descr="FaExclamationTriangle"/>
          <p:cNvPicPr>
            <a:picLocks noChangeAspect="1"/>
          </p:cNvPicPr>
          <p:nvPr/>
        </p:nvPicPr>
        <p:blipFill>
          <a:blip r:embed="rId5"/>
          <a:stretch>
            <a:fillRect/>
          </a:stretch>
        </p:blipFill>
        <p:spPr>
          <a:xfrm>
            <a:off x="662940" y="1531620"/>
            <a:ext cx="228600" cy="228600"/>
          </a:xfrm>
          <a:prstGeom prst="rect">
            <a:avLst/>
          </a:prstGeom>
        </p:spPr>
      </p:pic>
      <p:sp>
        <p:nvSpPr>
          <p:cNvPr id="22" name="Text 17"/>
          <p:cNvSpPr txBox="1"/>
          <p:nvPr/>
        </p:nvSpPr>
        <p:spPr>
          <a:xfrm>
            <a:off x="1143000" y="1325880"/>
            <a:ext cx="3566160" cy="640080"/>
          </a:xfrm>
          <a:prstGeom prst="rect">
            <a:avLst/>
          </a:prstGeom>
          <a:noFill/>
          <a:ln/>
        </p:spPr>
        <p:txBody>
          <a:bodyPr wrap="square" lIns="0" tIns="0" rIns="0" bIns="0" rtlCol="0" anchor="ctr"/>
          <a:lstStyle/>
          <a:p>
            <a:pPr marL="0" indent="0" algn="l">
              <a:buNone/>
            </a:pPr>
            <a:r>
              <a:rPr lang="en-US" sz="1400" dirty="0">
                <a:solidFill>
                  <a:schemeClr val="bg1"/>
                </a:solidFill>
              </a:rPr>
              <a:t>The hazard is the edge, not a wall: no wall following</a:t>
            </a:r>
            <a:endParaRPr lang="en-US" sz="1400" dirty="0"/>
          </a:p>
        </p:txBody>
      </p:sp>
      <p:sp>
        <p:nvSpPr>
          <p:cNvPr id="23" name="card"/>
          <p:cNvSpPr/>
          <p:nvPr/>
        </p:nvSpPr>
        <p:spPr>
          <a:xfrm>
            <a:off x="457200" y="2057400"/>
            <a:ext cx="4389120" cy="640080"/>
          </a:xfrm>
          <a:prstGeom prst="roundRect">
            <a:avLst>
              <a:gd name="adj" fmla="val 17143"/>
            </a:avLst>
          </a:prstGeom>
          <a:solidFill>
            <a:schemeClr val="tx2"/>
          </a:solidFill>
          <a:ln w="12700">
            <a:solidFill>
              <a:schemeClr val="accent4"/>
            </a:solidFill>
            <a:prstDash val="solid"/>
          </a:ln>
        </p:spPr>
        <p:txBody>
          <a:bodyPr/>
          <a:lstStyle/>
          <a:p>
            <a:endParaRPr lang="en-US"/>
          </a:p>
        </p:txBody>
      </p:sp>
      <p:sp>
        <p:nvSpPr>
          <p:cNvPr id="24" name="icon-bg FaRulerVertical"/>
          <p:cNvSpPr/>
          <p:nvPr/>
        </p:nvSpPr>
        <p:spPr>
          <a:xfrm>
            <a:off x="548640" y="2148840"/>
            <a:ext cx="457200" cy="457200"/>
          </a:xfrm>
          <a:prstGeom prst="ellipse">
            <a:avLst/>
          </a:prstGeom>
          <a:solidFill>
            <a:schemeClr val="accent2"/>
          </a:solidFill>
          <a:ln w="12700">
            <a:solidFill>
              <a:schemeClr val="accent2"/>
            </a:solidFill>
            <a:prstDash val="solid"/>
          </a:ln>
        </p:spPr>
        <p:txBody>
          <a:bodyPr/>
          <a:lstStyle/>
          <a:p>
            <a:endParaRPr lang="en-US"/>
          </a:p>
        </p:txBody>
      </p:sp>
      <p:pic>
        <p:nvPicPr>
          <p:cNvPr id="25" name="Image 3" descr="FaRulerVertical"/>
          <p:cNvPicPr>
            <a:picLocks noChangeAspect="1"/>
          </p:cNvPicPr>
          <p:nvPr/>
        </p:nvPicPr>
        <p:blipFill>
          <a:blip r:embed="rId6"/>
          <a:stretch>
            <a:fillRect/>
          </a:stretch>
        </p:blipFill>
        <p:spPr>
          <a:xfrm>
            <a:off x="662940" y="2263140"/>
            <a:ext cx="228600" cy="228600"/>
          </a:xfrm>
          <a:prstGeom prst="rect">
            <a:avLst/>
          </a:prstGeom>
        </p:spPr>
      </p:pic>
      <p:sp>
        <p:nvSpPr>
          <p:cNvPr id="26" name="Text 20"/>
          <p:cNvSpPr txBox="1"/>
          <p:nvPr/>
        </p:nvSpPr>
        <p:spPr>
          <a:xfrm>
            <a:off x="1143000" y="2057400"/>
            <a:ext cx="3566160" cy="640080"/>
          </a:xfrm>
          <a:prstGeom prst="rect">
            <a:avLst/>
          </a:prstGeom>
          <a:noFill/>
          <a:ln/>
        </p:spPr>
        <p:txBody>
          <a:bodyPr wrap="square" lIns="0" tIns="0" rIns="0" bIns="0" rtlCol="0" anchor="ctr"/>
          <a:lstStyle/>
          <a:p>
            <a:pPr marL="0" indent="0" algn="l">
              <a:buNone/>
            </a:pPr>
            <a:r>
              <a:rPr lang="en-US" sz="1400" dirty="0">
                <a:solidFill>
                  <a:schemeClr val="bg1"/>
                </a:solidFill>
              </a:rPr>
              <a:t>4 HC-SR04 sensors aim at the ground: front LF/RF, side LS/RS</a:t>
            </a:r>
            <a:endParaRPr lang="en-US" sz="1400" dirty="0"/>
          </a:p>
        </p:txBody>
      </p:sp>
      <p:sp>
        <p:nvSpPr>
          <p:cNvPr id="27" name="card"/>
          <p:cNvSpPr/>
          <p:nvPr/>
        </p:nvSpPr>
        <p:spPr>
          <a:xfrm>
            <a:off x="457200" y="2788920"/>
            <a:ext cx="4389120" cy="640080"/>
          </a:xfrm>
          <a:prstGeom prst="roundRect">
            <a:avLst>
              <a:gd name="adj" fmla="val 17143"/>
            </a:avLst>
          </a:prstGeom>
          <a:solidFill>
            <a:schemeClr val="tx2"/>
          </a:solidFill>
          <a:ln w="12700">
            <a:solidFill>
              <a:schemeClr val="accent4"/>
            </a:solidFill>
            <a:prstDash val="solid"/>
          </a:ln>
        </p:spPr>
        <p:txBody>
          <a:bodyPr/>
          <a:lstStyle/>
          <a:p>
            <a:endParaRPr lang="en-US"/>
          </a:p>
        </p:txBody>
      </p:sp>
      <p:sp>
        <p:nvSpPr>
          <p:cNvPr id="28" name="icon-bg FaMicrochip"/>
          <p:cNvSpPr/>
          <p:nvPr/>
        </p:nvSpPr>
        <p:spPr>
          <a:xfrm>
            <a:off x="548640" y="2880360"/>
            <a:ext cx="457200" cy="457200"/>
          </a:xfrm>
          <a:prstGeom prst="ellipse">
            <a:avLst/>
          </a:prstGeom>
          <a:solidFill>
            <a:schemeClr val="accent1"/>
          </a:solidFill>
          <a:ln w="12700">
            <a:solidFill>
              <a:schemeClr val="accent1"/>
            </a:solidFill>
            <a:prstDash val="solid"/>
          </a:ln>
        </p:spPr>
        <p:txBody>
          <a:bodyPr/>
          <a:lstStyle/>
          <a:p>
            <a:endParaRPr lang="en-US"/>
          </a:p>
        </p:txBody>
      </p:sp>
      <p:pic>
        <p:nvPicPr>
          <p:cNvPr id="29" name="Image 4" descr="FaMicrochip"/>
          <p:cNvPicPr>
            <a:picLocks noChangeAspect="1"/>
          </p:cNvPicPr>
          <p:nvPr/>
        </p:nvPicPr>
        <p:blipFill>
          <a:blip r:embed="rId7"/>
          <a:stretch>
            <a:fillRect/>
          </a:stretch>
        </p:blipFill>
        <p:spPr>
          <a:xfrm>
            <a:off x="662940" y="2994660"/>
            <a:ext cx="228600" cy="228600"/>
          </a:xfrm>
          <a:prstGeom prst="rect">
            <a:avLst/>
          </a:prstGeom>
        </p:spPr>
      </p:pic>
      <p:sp>
        <p:nvSpPr>
          <p:cNvPr id="30" name="Text 23"/>
          <p:cNvSpPr txBox="1"/>
          <p:nvPr/>
        </p:nvSpPr>
        <p:spPr>
          <a:xfrm>
            <a:off x="1143000" y="2788920"/>
            <a:ext cx="3566160" cy="640080"/>
          </a:xfrm>
          <a:prstGeom prst="rect">
            <a:avLst/>
          </a:prstGeom>
          <a:noFill/>
          <a:ln/>
        </p:spPr>
        <p:txBody>
          <a:bodyPr wrap="square" lIns="0" tIns="0" rIns="0" bIns="0" rtlCol="0" anchor="ctr"/>
          <a:lstStyle/>
          <a:p>
            <a:pPr marL="0" indent="0" algn="l">
              <a:buNone/>
            </a:pPr>
            <a:r>
              <a:rPr lang="en-US" sz="1400" dirty="0">
                <a:solidFill>
                  <a:schemeClr val="bg1"/>
                </a:solidFill>
              </a:rPr>
              <a:t>ECHO must drop from 5 V to 3.3 V (2k / 3.9k divider)</a:t>
            </a:r>
            <a:endParaRPr lang="en-US" sz="1400" dirty="0"/>
          </a:p>
        </p:txBody>
      </p:sp>
      <p:sp>
        <p:nvSpPr>
          <p:cNvPr id="31" name="card"/>
          <p:cNvSpPr/>
          <p:nvPr/>
        </p:nvSpPr>
        <p:spPr>
          <a:xfrm>
            <a:off x="457200" y="3520440"/>
            <a:ext cx="4389120" cy="640080"/>
          </a:xfrm>
          <a:prstGeom prst="roundRect">
            <a:avLst>
              <a:gd name="adj" fmla="val 17143"/>
            </a:avLst>
          </a:prstGeom>
          <a:solidFill>
            <a:schemeClr val="tx2"/>
          </a:solidFill>
          <a:ln w="12700">
            <a:solidFill>
              <a:schemeClr val="accent4"/>
            </a:solidFill>
            <a:prstDash val="solid"/>
          </a:ln>
        </p:spPr>
        <p:txBody>
          <a:bodyPr/>
          <a:lstStyle/>
          <a:p>
            <a:endParaRPr lang="en-US"/>
          </a:p>
        </p:txBody>
      </p:sp>
      <p:sp>
        <p:nvSpPr>
          <p:cNvPr id="32" name="icon-bg FaCrosshairs"/>
          <p:cNvSpPr/>
          <p:nvPr/>
        </p:nvSpPr>
        <p:spPr>
          <a:xfrm>
            <a:off x="548640" y="3611880"/>
            <a:ext cx="457200" cy="457200"/>
          </a:xfrm>
          <a:prstGeom prst="ellipse">
            <a:avLst/>
          </a:prstGeom>
          <a:solidFill>
            <a:schemeClr val="accent2"/>
          </a:solidFill>
          <a:ln w="12700">
            <a:solidFill>
              <a:schemeClr val="accent2"/>
            </a:solidFill>
            <a:prstDash val="solid"/>
          </a:ln>
        </p:spPr>
        <p:txBody>
          <a:bodyPr/>
          <a:lstStyle/>
          <a:p>
            <a:endParaRPr lang="en-US"/>
          </a:p>
        </p:txBody>
      </p:sp>
      <p:pic>
        <p:nvPicPr>
          <p:cNvPr id="33" name="Image 5" descr="FaCrosshairs"/>
          <p:cNvPicPr>
            <a:picLocks noChangeAspect="1"/>
          </p:cNvPicPr>
          <p:nvPr/>
        </p:nvPicPr>
        <p:blipFill>
          <a:blip r:embed="rId8"/>
          <a:stretch>
            <a:fillRect/>
          </a:stretch>
        </p:blipFill>
        <p:spPr>
          <a:xfrm>
            <a:off x="662940" y="3726180"/>
            <a:ext cx="228600" cy="228600"/>
          </a:xfrm>
          <a:prstGeom prst="rect">
            <a:avLst/>
          </a:prstGeom>
        </p:spPr>
      </p:pic>
      <p:sp>
        <p:nvSpPr>
          <p:cNvPr id="34" name="Text 26"/>
          <p:cNvSpPr txBox="1"/>
          <p:nvPr/>
        </p:nvSpPr>
        <p:spPr>
          <a:xfrm>
            <a:off x="1143000" y="3520440"/>
            <a:ext cx="3566160" cy="640080"/>
          </a:xfrm>
          <a:prstGeom prst="rect">
            <a:avLst/>
          </a:prstGeom>
          <a:noFill/>
          <a:ln/>
        </p:spPr>
        <p:txBody>
          <a:bodyPr wrap="square" lIns="0" tIns="0" rIns="0" bIns="0" rtlCol="0" anchor="ctr"/>
          <a:lstStyle/>
          <a:p>
            <a:pPr marL="0" indent="0" algn="l">
              <a:buNone/>
            </a:pPr>
            <a:r>
              <a:rPr lang="en-US" sz="1400" dirty="0">
                <a:solidFill>
                  <a:schemeClr val="bg1"/>
                </a:solidFill>
              </a:rPr>
              <a:t>On AUTO start, each sensor learns the normal ground distance</a:t>
            </a:r>
            <a:endParaRPr lang="en-US" sz="1400" dirty="0"/>
          </a:p>
        </p:txBody>
      </p:sp>
      <p:sp>
        <p:nvSpPr>
          <p:cNvPr id="35" name="card"/>
          <p:cNvSpPr/>
          <p:nvPr/>
        </p:nvSpPr>
        <p:spPr>
          <a:xfrm>
            <a:off x="457200" y="4297680"/>
            <a:ext cx="4389120" cy="411480"/>
          </a:xfrm>
          <a:prstGeom prst="roundRect">
            <a:avLst>
              <a:gd name="adj" fmla="val 26667"/>
            </a:avLst>
          </a:prstGeom>
          <a:solidFill>
            <a:schemeClr val="accent4"/>
          </a:solidFill>
          <a:ln w="12700">
            <a:solidFill>
              <a:schemeClr val="accent4"/>
            </a:solidFill>
            <a:prstDash val="solid"/>
          </a:ln>
        </p:spPr>
        <p:txBody>
          <a:bodyPr/>
          <a:lstStyle/>
          <a:p>
            <a:endParaRPr lang="en-US"/>
          </a:p>
        </p:txBody>
      </p:sp>
      <p:sp>
        <p:nvSpPr>
          <p:cNvPr id="36" name="Text 28"/>
          <p:cNvSpPr txBox="1"/>
          <p:nvPr/>
        </p:nvSpPr>
        <p:spPr>
          <a:xfrm>
            <a:off x="594360" y="4297680"/>
            <a:ext cx="4114800" cy="411480"/>
          </a:xfrm>
          <a:prstGeom prst="rect">
            <a:avLst/>
          </a:prstGeom>
          <a:noFill/>
          <a:ln/>
        </p:spPr>
        <p:txBody>
          <a:bodyPr wrap="square" lIns="0" tIns="0" rIns="0" bIns="0" rtlCol="0" anchor="ctr"/>
          <a:lstStyle/>
          <a:p>
            <a:pPr marL="0" indent="0" algn="ctr">
              <a:buNone/>
            </a:pPr>
            <a:r>
              <a:rPr lang="en-US" sz="1200" dirty="0">
                <a:solidFill>
                  <a:schemeClr val="bg1"/>
                </a:solidFill>
                <a:latin typeface="Courier New" pitchFamily="34" charset="0"/>
                <a:ea typeface="Courier New" pitchFamily="34" charset="-122"/>
                <a:cs typeface="Courier New" pitchFamily="34" charset="-120"/>
              </a:rPr>
              <a:t>LF 27/34 · RF 19/35 · LS 14/36 · RS 13/39</a:t>
            </a:r>
            <a:endParaRPr lang="en-US" sz="1200" dirty="0"/>
          </a:p>
        </p:txBody>
      </p:sp>
      <p:sp>
        <p:nvSpPr>
          <p:cNvPr id="37"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Filtering &amp; Calibration</a:t>
            </a:r>
            <a:endParaRPr lang="en-US" sz="3400" dirty="0"/>
          </a:p>
        </p:txBody>
      </p:sp>
      <p:sp>
        <p:nvSpPr>
          <p:cNvPr id="3" name="icon-bg FaFilter"/>
          <p:cNvSpPr/>
          <p:nvPr/>
        </p:nvSpPr>
        <p:spPr>
          <a:xfrm>
            <a:off x="457200" y="320040"/>
            <a:ext cx="685800" cy="68580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Filter"/>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1920240" cy="1828800"/>
          </a:xfrm>
          <a:prstGeom prst="roundRect">
            <a:avLst>
              <a:gd name="adj" fmla="val 6000"/>
            </a:avLst>
          </a:prstGeom>
          <a:solidFill>
            <a:schemeClr val="tx2"/>
          </a:solidFill>
          <a:ln w="12700">
            <a:solidFill>
              <a:schemeClr val="accent4"/>
            </a:solidFill>
            <a:prstDash val="solid"/>
          </a:ln>
        </p:spPr>
        <p:txBody>
          <a:bodyPr/>
          <a:lstStyle/>
          <a:p>
            <a:endParaRPr lang="en-US"/>
          </a:p>
        </p:txBody>
      </p:sp>
      <p:sp>
        <p:nvSpPr>
          <p:cNvPr id="6" name="step badge"/>
          <p:cNvSpPr/>
          <p:nvPr/>
        </p:nvSpPr>
        <p:spPr>
          <a:xfrm>
            <a:off x="640080" y="1444752"/>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7" name="Text 4"/>
          <p:cNvSpPr txBox="1"/>
          <p:nvPr/>
        </p:nvSpPr>
        <p:spPr>
          <a:xfrm>
            <a:off x="640080" y="1444752"/>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Text 5"/>
          <p:cNvSpPr txBox="1"/>
          <p:nvPr/>
        </p:nvSpPr>
        <p:spPr>
          <a:xfrm>
            <a:off x="566928" y="1993392"/>
            <a:ext cx="1700784" cy="320040"/>
          </a:xfrm>
          <a:prstGeom prst="rect">
            <a:avLst/>
          </a:prstGeom>
          <a:noFill/>
          <a:ln/>
        </p:spPr>
        <p:txBody>
          <a:bodyPr wrap="square" lIns="0" tIns="0" rIns="0" bIns="0" rtlCol="0" anchor="ctr"/>
          <a:lstStyle/>
          <a:p>
            <a:pPr marL="0" indent="0" algn="l">
              <a:buNone/>
            </a:pPr>
            <a:r>
              <a:rPr lang="en-US" sz="1500" b="1" dirty="0">
                <a:solidFill>
                  <a:schemeClr val="accent2"/>
                </a:solidFill>
              </a:rPr>
              <a:t>Calibrate</a:t>
            </a:r>
            <a:endParaRPr lang="en-US" sz="1500" dirty="0"/>
          </a:p>
        </p:txBody>
      </p:sp>
      <p:sp>
        <p:nvSpPr>
          <p:cNvPr id="9" name="Text 6"/>
          <p:cNvSpPr txBox="1"/>
          <p:nvPr/>
        </p:nvSpPr>
        <p:spPr>
          <a:xfrm>
            <a:off x="566928" y="2331720"/>
            <a:ext cx="1700784" cy="777240"/>
          </a:xfrm>
          <a:prstGeom prst="rect">
            <a:avLst/>
          </a:prstGeom>
          <a:noFill/>
          <a:ln/>
        </p:spPr>
        <p:txBody>
          <a:bodyPr wrap="square" lIns="0" tIns="0" rIns="0" bIns="0" rtlCol="0" anchor="t"/>
          <a:lstStyle/>
          <a:p>
            <a:pPr marL="0" indent="0" algn="l">
              <a:buNone/>
            </a:pPr>
            <a:r>
              <a:rPr lang="en-US" sz="1400" dirty="0">
                <a:solidFill>
                  <a:schemeClr val="bg1"/>
                </a:solidFill>
              </a:rPr>
              <a:t>5 readings set the ground baseline</a:t>
            </a:r>
            <a:endParaRPr lang="en-US" sz="1400" dirty="0"/>
          </a:p>
        </p:txBody>
      </p:sp>
      <p:sp>
        <p:nvSpPr>
          <p:cNvPr id="10" name="card"/>
          <p:cNvSpPr/>
          <p:nvPr/>
        </p:nvSpPr>
        <p:spPr>
          <a:xfrm>
            <a:off x="2560320" y="1325880"/>
            <a:ext cx="1920240" cy="1828800"/>
          </a:xfrm>
          <a:prstGeom prst="roundRect">
            <a:avLst>
              <a:gd name="adj" fmla="val 6000"/>
            </a:avLst>
          </a:prstGeom>
          <a:solidFill>
            <a:schemeClr val="tx2"/>
          </a:solidFill>
          <a:ln w="12700">
            <a:solidFill>
              <a:schemeClr val="accent4"/>
            </a:solidFill>
            <a:prstDash val="solid"/>
          </a:ln>
        </p:spPr>
        <p:txBody>
          <a:bodyPr/>
          <a:lstStyle/>
          <a:p>
            <a:endParaRPr lang="en-US"/>
          </a:p>
        </p:txBody>
      </p:sp>
      <p:sp>
        <p:nvSpPr>
          <p:cNvPr id="11" name="step badge"/>
          <p:cNvSpPr/>
          <p:nvPr/>
        </p:nvSpPr>
        <p:spPr>
          <a:xfrm>
            <a:off x="2743200" y="1444752"/>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2" name="Text 9"/>
          <p:cNvSpPr txBox="1"/>
          <p:nvPr/>
        </p:nvSpPr>
        <p:spPr>
          <a:xfrm>
            <a:off x="2743200" y="1444752"/>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3" name="Text 10"/>
          <p:cNvSpPr txBox="1"/>
          <p:nvPr/>
        </p:nvSpPr>
        <p:spPr>
          <a:xfrm>
            <a:off x="2670048" y="1993392"/>
            <a:ext cx="1700784" cy="320040"/>
          </a:xfrm>
          <a:prstGeom prst="rect">
            <a:avLst/>
          </a:prstGeom>
          <a:noFill/>
          <a:ln/>
        </p:spPr>
        <p:txBody>
          <a:bodyPr wrap="square" lIns="0" tIns="0" rIns="0" bIns="0" rtlCol="0" anchor="ctr"/>
          <a:lstStyle/>
          <a:p>
            <a:pPr marL="0" indent="0" algn="l">
              <a:buNone/>
            </a:pPr>
            <a:r>
              <a:rPr lang="en-US" sz="1500" b="1" dirty="0">
                <a:solidFill>
                  <a:schemeClr val="accent2"/>
                </a:solidFill>
              </a:rPr>
              <a:t>Median-of-5</a:t>
            </a:r>
            <a:endParaRPr lang="en-US" sz="1500" dirty="0"/>
          </a:p>
        </p:txBody>
      </p:sp>
      <p:sp>
        <p:nvSpPr>
          <p:cNvPr id="14" name="Text 11"/>
          <p:cNvSpPr txBox="1"/>
          <p:nvPr/>
        </p:nvSpPr>
        <p:spPr>
          <a:xfrm>
            <a:off x="2670048" y="2331720"/>
            <a:ext cx="1700784" cy="777240"/>
          </a:xfrm>
          <a:prstGeom prst="rect">
            <a:avLst/>
          </a:prstGeom>
          <a:noFill/>
          <a:ln/>
        </p:spPr>
        <p:txBody>
          <a:bodyPr wrap="square" lIns="0" tIns="0" rIns="0" bIns="0" rtlCol="0" anchor="t"/>
          <a:lstStyle/>
          <a:p>
            <a:pPr marL="0" indent="0" algn="l">
              <a:buNone/>
            </a:pPr>
            <a:r>
              <a:rPr lang="en-US" sz="1400" dirty="0">
                <a:solidFill>
                  <a:schemeClr val="bg1"/>
                </a:solidFill>
              </a:rPr>
              <a:t>Median of the last 5 readings removes spikes</a:t>
            </a:r>
            <a:endParaRPr lang="en-US" sz="1400" dirty="0"/>
          </a:p>
        </p:txBody>
      </p:sp>
      <p:sp>
        <p:nvSpPr>
          <p:cNvPr id="15" name="card"/>
          <p:cNvSpPr/>
          <p:nvPr/>
        </p:nvSpPr>
        <p:spPr>
          <a:xfrm>
            <a:off x="4663440" y="1325880"/>
            <a:ext cx="1920240" cy="1828800"/>
          </a:xfrm>
          <a:prstGeom prst="roundRect">
            <a:avLst>
              <a:gd name="adj" fmla="val 6000"/>
            </a:avLst>
          </a:prstGeom>
          <a:solidFill>
            <a:schemeClr val="tx2"/>
          </a:solidFill>
          <a:ln w="12700">
            <a:solidFill>
              <a:schemeClr val="accent4"/>
            </a:solidFill>
            <a:prstDash val="solid"/>
          </a:ln>
        </p:spPr>
        <p:txBody>
          <a:bodyPr/>
          <a:lstStyle/>
          <a:p>
            <a:endParaRPr lang="en-US"/>
          </a:p>
        </p:txBody>
      </p:sp>
      <p:sp>
        <p:nvSpPr>
          <p:cNvPr id="16" name="step badge"/>
          <p:cNvSpPr/>
          <p:nvPr/>
        </p:nvSpPr>
        <p:spPr>
          <a:xfrm>
            <a:off x="4846320" y="1444752"/>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17" name="Text 14"/>
          <p:cNvSpPr txBox="1"/>
          <p:nvPr/>
        </p:nvSpPr>
        <p:spPr>
          <a:xfrm>
            <a:off x="4846320" y="1444752"/>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8" name="Text 15"/>
          <p:cNvSpPr txBox="1"/>
          <p:nvPr/>
        </p:nvSpPr>
        <p:spPr>
          <a:xfrm>
            <a:off x="4773168" y="1993392"/>
            <a:ext cx="1700784" cy="320040"/>
          </a:xfrm>
          <a:prstGeom prst="rect">
            <a:avLst/>
          </a:prstGeom>
          <a:noFill/>
          <a:ln/>
        </p:spPr>
        <p:txBody>
          <a:bodyPr wrap="square" lIns="0" tIns="0" rIns="0" bIns="0" rtlCol="0" anchor="ctr"/>
          <a:lstStyle/>
          <a:p>
            <a:pPr marL="0" indent="0" algn="l">
              <a:buNone/>
            </a:pPr>
            <a:r>
              <a:rPr lang="en-US" sz="1500" b="1" dirty="0">
                <a:solidFill>
                  <a:schemeClr val="accent2"/>
                </a:solidFill>
              </a:rPr>
              <a:t>Delta</a:t>
            </a:r>
            <a:endParaRPr lang="en-US" sz="1500" dirty="0"/>
          </a:p>
        </p:txBody>
      </p:sp>
      <p:sp>
        <p:nvSpPr>
          <p:cNvPr id="19" name="Text 16"/>
          <p:cNvSpPr txBox="1"/>
          <p:nvPr/>
        </p:nvSpPr>
        <p:spPr>
          <a:xfrm>
            <a:off x="4773168" y="2331720"/>
            <a:ext cx="1700784" cy="777240"/>
          </a:xfrm>
          <a:prstGeom prst="rect">
            <a:avLst/>
          </a:prstGeom>
          <a:noFill/>
          <a:ln/>
        </p:spPr>
        <p:txBody>
          <a:bodyPr wrap="square" lIns="0" tIns="0" rIns="0" bIns="0" rtlCol="0" anchor="t"/>
          <a:lstStyle/>
          <a:p>
            <a:pPr marL="0" indent="0" algn="l">
              <a:buNone/>
            </a:pPr>
            <a:r>
              <a:rPr lang="en-US" sz="1400" dirty="0">
                <a:solidFill>
                  <a:schemeClr val="bg1"/>
                </a:solidFill>
              </a:rPr>
              <a:t>Reading minus baseline; a rise means an edge</a:t>
            </a:r>
            <a:endParaRPr lang="en-US" sz="1400" dirty="0"/>
          </a:p>
        </p:txBody>
      </p:sp>
      <p:sp>
        <p:nvSpPr>
          <p:cNvPr id="20" name="card"/>
          <p:cNvSpPr/>
          <p:nvPr/>
        </p:nvSpPr>
        <p:spPr>
          <a:xfrm>
            <a:off x="6766560" y="1325880"/>
            <a:ext cx="1920240" cy="1828800"/>
          </a:xfrm>
          <a:prstGeom prst="roundRect">
            <a:avLst>
              <a:gd name="adj" fmla="val 6000"/>
            </a:avLst>
          </a:prstGeom>
          <a:solidFill>
            <a:schemeClr val="tx2"/>
          </a:solidFill>
          <a:ln w="12700">
            <a:solidFill>
              <a:schemeClr val="accent4"/>
            </a:solidFill>
            <a:prstDash val="solid"/>
          </a:ln>
        </p:spPr>
        <p:txBody>
          <a:bodyPr/>
          <a:lstStyle/>
          <a:p>
            <a:endParaRPr lang="en-US"/>
          </a:p>
        </p:txBody>
      </p:sp>
      <p:sp>
        <p:nvSpPr>
          <p:cNvPr id="21" name="step badge"/>
          <p:cNvSpPr/>
          <p:nvPr/>
        </p:nvSpPr>
        <p:spPr>
          <a:xfrm>
            <a:off x="6949440" y="1444752"/>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6949440" y="1444752"/>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23" name="Text 20"/>
          <p:cNvSpPr txBox="1"/>
          <p:nvPr/>
        </p:nvSpPr>
        <p:spPr>
          <a:xfrm>
            <a:off x="6876288" y="1993392"/>
            <a:ext cx="1700784" cy="320040"/>
          </a:xfrm>
          <a:prstGeom prst="rect">
            <a:avLst/>
          </a:prstGeom>
          <a:noFill/>
          <a:ln/>
        </p:spPr>
        <p:txBody>
          <a:bodyPr wrap="square" lIns="0" tIns="0" rIns="0" bIns="0" rtlCol="0" anchor="ctr"/>
          <a:lstStyle/>
          <a:p>
            <a:pPr marL="0" indent="0" algn="l">
              <a:buNone/>
            </a:pPr>
            <a:r>
              <a:rPr lang="en-US" sz="1500" b="1" dirty="0">
                <a:solidFill>
                  <a:schemeClr val="accent2"/>
                </a:solidFill>
              </a:rPr>
              <a:t>Hysteresis</a:t>
            </a:r>
            <a:endParaRPr lang="en-US" sz="1500" dirty="0"/>
          </a:p>
        </p:txBody>
      </p:sp>
      <p:sp>
        <p:nvSpPr>
          <p:cNvPr id="24" name="Text 21"/>
          <p:cNvSpPr txBox="1"/>
          <p:nvPr/>
        </p:nvSpPr>
        <p:spPr>
          <a:xfrm>
            <a:off x="6876288" y="2331720"/>
            <a:ext cx="1700784" cy="777240"/>
          </a:xfrm>
          <a:prstGeom prst="rect">
            <a:avLst/>
          </a:prstGeom>
          <a:noFill/>
          <a:ln/>
        </p:spPr>
        <p:txBody>
          <a:bodyPr wrap="square" lIns="0" tIns="0" rIns="0" bIns="0" rtlCol="0" anchor="t"/>
          <a:lstStyle/>
          <a:p>
            <a:pPr marL="0" indent="0" algn="l">
              <a:buNone/>
            </a:pPr>
            <a:r>
              <a:rPr lang="en-US" sz="1400" dirty="0">
                <a:solidFill>
                  <a:schemeClr val="bg1"/>
                </a:solidFill>
              </a:rPr>
              <a:t>Warning clears only 1.5 cm below the limit</a:t>
            </a:r>
            <a:endParaRPr lang="en-US" sz="1400" dirty="0"/>
          </a:p>
        </p:txBody>
      </p:sp>
      <p:sp>
        <p:nvSpPr>
          <p:cNvPr id="25" name="card"/>
          <p:cNvSpPr/>
          <p:nvPr/>
        </p:nvSpPr>
        <p:spPr>
          <a:xfrm>
            <a:off x="457200" y="3337560"/>
            <a:ext cx="2926080" cy="1280160"/>
          </a:xfrm>
          <a:prstGeom prst="roundRect">
            <a:avLst>
              <a:gd name="adj" fmla="val 8571"/>
            </a:avLst>
          </a:prstGeom>
          <a:solidFill>
            <a:schemeClr val="tx2"/>
          </a:solidFill>
          <a:ln w="12700">
            <a:solidFill>
              <a:schemeClr val="accent4"/>
            </a:solidFill>
            <a:prstDash val="solid"/>
          </a:ln>
        </p:spPr>
        <p:txBody>
          <a:bodyPr/>
          <a:lstStyle/>
          <a:p>
            <a:endParaRPr lang="en-US"/>
          </a:p>
        </p:txBody>
      </p:sp>
      <p:sp>
        <p:nvSpPr>
          <p:cNvPr id="26" name="Text 23"/>
          <p:cNvSpPr txBox="1"/>
          <p:nvPr/>
        </p:nvSpPr>
        <p:spPr>
          <a:xfrm>
            <a:off x="548640" y="3447288"/>
            <a:ext cx="2743200" cy="640080"/>
          </a:xfrm>
          <a:prstGeom prst="rect">
            <a:avLst/>
          </a:prstGeom>
          <a:noFill/>
          <a:ln/>
        </p:spPr>
        <p:txBody>
          <a:bodyPr wrap="square" lIns="0" tIns="0" rIns="0" bIns="0" rtlCol="0" anchor="ctr"/>
          <a:lstStyle/>
          <a:p>
            <a:pPr marL="0" indent="0" algn="l">
              <a:buNone/>
            </a:pPr>
            <a:r>
              <a:rPr lang="en-US" sz="3000" b="1" dirty="0">
                <a:solidFill>
                  <a:schemeClr val="accent2"/>
                </a:solidFill>
              </a:rPr>
              <a:t>5 / 10 cm</a:t>
            </a:r>
            <a:endParaRPr lang="en-US" sz="3000" dirty="0"/>
          </a:p>
        </p:txBody>
      </p:sp>
      <p:sp>
        <p:nvSpPr>
          <p:cNvPr id="27" name="Text 24"/>
          <p:cNvSpPr txBox="1"/>
          <p:nvPr/>
        </p:nvSpPr>
        <p:spPr>
          <a:xfrm>
            <a:off x="594360" y="4080053"/>
            <a:ext cx="2651760" cy="460858"/>
          </a:xfrm>
          <a:prstGeom prst="rect">
            <a:avLst/>
          </a:prstGeom>
          <a:noFill/>
          <a:ln/>
        </p:spPr>
        <p:txBody>
          <a:bodyPr wrap="square" lIns="0" tIns="0" rIns="0" bIns="0" rtlCol="0" anchor="t"/>
          <a:lstStyle/>
          <a:p>
            <a:pPr marL="0" indent="0" algn="l">
              <a:buNone/>
            </a:pPr>
            <a:r>
              <a:rPr lang="en-US" sz="1400" dirty="0">
                <a:solidFill>
                  <a:schemeClr val="bg1"/>
                </a:solidFill>
              </a:rPr>
              <a:t>Front sensor: warn / danger</a:t>
            </a:r>
            <a:endParaRPr lang="en-US" sz="1400" dirty="0"/>
          </a:p>
        </p:txBody>
      </p:sp>
      <p:sp>
        <p:nvSpPr>
          <p:cNvPr id="28" name="card"/>
          <p:cNvSpPr/>
          <p:nvPr/>
        </p:nvSpPr>
        <p:spPr>
          <a:xfrm>
            <a:off x="3566160" y="3337560"/>
            <a:ext cx="2468880" cy="1280160"/>
          </a:xfrm>
          <a:prstGeom prst="roundRect">
            <a:avLst>
              <a:gd name="adj" fmla="val 8571"/>
            </a:avLst>
          </a:prstGeom>
          <a:solidFill>
            <a:schemeClr val="tx2"/>
          </a:solidFill>
          <a:ln w="12700">
            <a:solidFill>
              <a:schemeClr val="accent4"/>
            </a:solidFill>
            <a:prstDash val="solid"/>
          </a:ln>
        </p:spPr>
        <p:txBody>
          <a:bodyPr/>
          <a:lstStyle/>
          <a:p>
            <a:endParaRPr lang="en-US"/>
          </a:p>
        </p:txBody>
      </p:sp>
      <p:sp>
        <p:nvSpPr>
          <p:cNvPr id="29" name="Text 26"/>
          <p:cNvSpPr txBox="1"/>
          <p:nvPr/>
        </p:nvSpPr>
        <p:spPr>
          <a:xfrm>
            <a:off x="3657600" y="3447288"/>
            <a:ext cx="2286000" cy="640080"/>
          </a:xfrm>
          <a:prstGeom prst="rect">
            <a:avLst/>
          </a:prstGeom>
          <a:noFill/>
          <a:ln/>
        </p:spPr>
        <p:txBody>
          <a:bodyPr wrap="square" lIns="0" tIns="0" rIns="0" bIns="0" rtlCol="0" anchor="ctr"/>
          <a:lstStyle/>
          <a:p>
            <a:pPr marL="0" indent="0" algn="l">
              <a:buNone/>
            </a:pPr>
            <a:r>
              <a:rPr lang="en-US" sz="3000" b="1" dirty="0">
                <a:solidFill>
                  <a:schemeClr val="accent2"/>
                </a:solidFill>
              </a:rPr>
              <a:t>4 / 8 cm</a:t>
            </a:r>
            <a:endParaRPr lang="en-US" sz="3000" dirty="0"/>
          </a:p>
        </p:txBody>
      </p:sp>
      <p:sp>
        <p:nvSpPr>
          <p:cNvPr id="30" name="Text 27"/>
          <p:cNvSpPr txBox="1"/>
          <p:nvPr/>
        </p:nvSpPr>
        <p:spPr>
          <a:xfrm>
            <a:off x="3703320" y="4080053"/>
            <a:ext cx="2194560" cy="460858"/>
          </a:xfrm>
          <a:prstGeom prst="rect">
            <a:avLst/>
          </a:prstGeom>
          <a:noFill/>
          <a:ln/>
        </p:spPr>
        <p:txBody>
          <a:bodyPr wrap="square" lIns="0" tIns="0" rIns="0" bIns="0" rtlCol="0" anchor="t"/>
          <a:lstStyle/>
          <a:p>
            <a:pPr marL="0" indent="0" algn="l">
              <a:buNone/>
            </a:pPr>
            <a:r>
              <a:rPr lang="en-US" sz="1400" dirty="0">
                <a:solidFill>
                  <a:schemeClr val="bg1"/>
                </a:solidFill>
              </a:rPr>
              <a:t>Side sensor: warn / danger</a:t>
            </a:r>
            <a:endParaRPr lang="en-US" sz="1400" dirty="0"/>
          </a:p>
        </p:txBody>
      </p:sp>
      <p:sp>
        <p:nvSpPr>
          <p:cNvPr id="31" name="card"/>
          <p:cNvSpPr/>
          <p:nvPr/>
        </p:nvSpPr>
        <p:spPr>
          <a:xfrm>
            <a:off x="6217920" y="3337560"/>
            <a:ext cx="2468880" cy="1280160"/>
          </a:xfrm>
          <a:prstGeom prst="roundRect">
            <a:avLst>
              <a:gd name="adj" fmla="val 8571"/>
            </a:avLst>
          </a:prstGeom>
          <a:solidFill>
            <a:schemeClr val="tx2"/>
          </a:solidFill>
          <a:ln w="12700">
            <a:solidFill>
              <a:schemeClr val="accent4"/>
            </a:solidFill>
            <a:prstDash val="solid"/>
          </a:ln>
        </p:spPr>
        <p:txBody>
          <a:bodyPr/>
          <a:lstStyle/>
          <a:p>
            <a:endParaRPr lang="en-US"/>
          </a:p>
        </p:txBody>
      </p:sp>
      <p:sp>
        <p:nvSpPr>
          <p:cNvPr id="32" name="Text 29"/>
          <p:cNvSpPr txBox="1"/>
          <p:nvPr/>
        </p:nvSpPr>
        <p:spPr>
          <a:xfrm>
            <a:off x="6309360" y="3447288"/>
            <a:ext cx="2286000" cy="640080"/>
          </a:xfrm>
          <a:prstGeom prst="rect">
            <a:avLst/>
          </a:prstGeom>
          <a:noFill/>
          <a:ln/>
        </p:spPr>
        <p:txBody>
          <a:bodyPr wrap="square" lIns="0" tIns="0" rIns="0" bIns="0" rtlCol="0" anchor="ctr"/>
          <a:lstStyle/>
          <a:p>
            <a:pPr marL="0" indent="0" algn="l">
              <a:buNone/>
            </a:pPr>
            <a:r>
              <a:rPr lang="en-US" sz="3000" b="1" dirty="0">
                <a:solidFill>
                  <a:schemeClr val="accent6"/>
                </a:solidFill>
              </a:rPr>
              <a:t>× 2</a:t>
            </a:r>
            <a:endParaRPr lang="en-US" sz="3000" dirty="0"/>
          </a:p>
        </p:txBody>
      </p:sp>
      <p:sp>
        <p:nvSpPr>
          <p:cNvPr id="33" name="Text 30"/>
          <p:cNvSpPr txBox="1"/>
          <p:nvPr/>
        </p:nvSpPr>
        <p:spPr>
          <a:xfrm>
            <a:off x="6355080" y="4080053"/>
            <a:ext cx="2194560" cy="460858"/>
          </a:xfrm>
          <a:prstGeom prst="rect">
            <a:avLst/>
          </a:prstGeom>
          <a:noFill/>
          <a:ln/>
        </p:spPr>
        <p:txBody>
          <a:bodyPr wrap="square" lIns="0" tIns="0" rIns="0" bIns="0" rtlCol="0" anchor="t"/>
          <a:lstStyle/>
          <a:p>
            <a:pPr marL="0" indent="0" algn="l">
              <a:buNone/>
            </a:pPr>
            <a:r>
              <a:rPr lang="en-US" sz="1400" dirty="0">
                <a:solidFill>
                  <a:schemeClr val="bg1"/>
                </a:solidFill>
              </a:rPr>
              <a:t>Two no-echo reads = danger</a:t>
            </a:r>
            <a:endParaRPr lang="en-US" sz="1400" dirty="0"/>
          </a:p>
        </p:txBody>
      </p:sp>
      <p:sp>
        <p:nvSpPr>
          <p:cNvPr id="34"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Autonomous States</a:t>
            </a:r>
            <a:endParaRPr lang="en-US" sz="3400" dirty="0"/>
          </a:p>
        </p:txBody>
      </p:sp>
      <p:sp>
        <p:nvSpPr>
          <p:cNvPr id="3" name="icon-bg FaProjectDiagram"/>
          <p:cNvSpPr/>
          <p:nvPr/>
        </p:nvSpPr>
        <p:spPr>
          <a:xfrm>
            <a:off x="457200" y="320040"/>
            <a:ext cx="685800" cy="685800"/>
          </a:xfrm>
          <a:prstGeom prst="ellipse">
            <a:avLst/>
          </a:prstGeom>
          <a:solidFill>
            <a:schemeClr val="accent1"/>
          </a:solidFill>
          <a:ln w="12700">
            <a:solidFill>
              <a:schemeClr val="accent1"/>
            </a:solidFill>
            <a:prstDash val="solid"/>
          </a:ln>
        </p:spPr>
        <p:txBody>
          <a:bodyPr/>
          <a:lstStyle/>
          <a:p>
            <a:endParaRPr lang="en-US"/>
          </a:p>
        </p:txBody>
      </p:sp>
      <p:pic>
        <p:nvPicPr>
          <p:cNvPr id="4" name="Image 0" descr="FaProjectDiagram"/>
          <p:cNvPicPr>
            <a:picLocks noChangeAspect="1"/>
          </p:cNvPicPr>
          <p:nvPr/>
        </p:nvPicPr>
        <p:blipFill>
          <a:blip r:embed="rId3"/>
          <a:stretch>
            <a:fillRect/>
          </a:stretch>
        </p:blipFill>
        <p:spPr>
          <a:xfrm>
            <a:off x="628650" y="491490"/>
            <a:ext cx="342900" cy="342900"/>
          </a:xfrm>
          <a:prstGeom prst="rect">
            <a:avLst/>
          </a:prstGeom>
        </p:spPr>
      </p:pic>
      <p:sp>
        <p:nvSpPr>
          <p:cNvPr id="5" name="CALIBRATING"/>
          <p:cNvSpPr/>
          <p:nvPr/>
        </p:nvSpPr>
        <p:spPr>
          <a:xfrm>
            <a:off x="457200" y="1371600"/>
            <a:ext cx="1737360" cy="822960"/>
          </a:xfrm>
          <a:prstGeom prst="roundRect">
            <a:avLst>
              <a:gd name="adj" fmla="val 13333"/>
            </a:avLst>
          </a:prstGeom>
          <a:solidFill>
            <a:schemeClr val="tx2"/>
          </a:solidFill>
          <a:ln w="19050">
            <a:solidFill>
              <a:schemeClr val="accent2"/>
            </a:solidFill>
            <a:prstDash val="solid"/>
          </a:ln>
        </p:spPr>
        <p:txBody>
          <a:bodyPr/>
          <a:lstStyle/>
          <a:p>
            <a:endParaRPr lang="en-US"/>
          </a:p>
        </p:txBody>
      </p:sp>
      <p:sp>
        <p:nvSpPr>
          <p:cNvPr id="6" name="Text 3"/>
          <p:cNvSpPr txBox="1"/>
          <p:nvPr/>
        </p:nvSpPr>
        <p:spPr>
          <a:xfrm>
            <a:off x="457200" y="1435608"/>
            <a:ext cx="1737360" cy="365760"/>
          </a:xfrm>
          <a:prstGeom prst="rect">
            <a:avLst/>
          </a:prstGeom>
          <a:noFill/>
          <a:ln/>
        </p:spPr>
        <p:txBody>
          <a:bodyPr wrap="square" lIns="0" tIns="0" rIns="0" bIns="0" rtlCol="0" anchor="ctr"/>
          <a:lstStyle/>
          <a:p>
            <a:pPr marL="0" indent="0" algn="ctr">
              <a:buNone/>
            </a:pPr>
            <a:r>
              <a:rPr lang="en-US" sz="1400" b="1" dirty="0">
                <a:solidFill>
                  <a:schemeClr val="bg1"/>
                </a:solidFill>
              </a:rPr>
              <a:t>CALIBRATING</a:t>
            </a:r>
            <a:endParaRPr lang="en-US" sz="1400" dirty="0"/>
          </a:p>
        </p:txBody>
      </p:sp>
      <p:sp>
        <p:nvSpPr>
          <p:cNvPr id="7" name="Text 4"/>
          <p:cNvSpPr txBox="1"/>
          <p:nvPr/>
        </p:nvSpPr>
        <p:spPr>
          <a:xfrm>
            <a:off x="457200" y="1801368"/>
            <a:ext cx="1737360" cy="274320"/>
          </a:xfrm>
          <a:prstGeom prst="rect">
            <a:avLst/>
          </a:prstGeom>
          <a:noFill/>
          <a:ln/>
        </p:spPr>
        <p:txBody>
          <a:bodyPr wrap="square" lIns="0" tIns="0" rIns="0" bIns="0" rtlCol="0" anchor="ctr"/>
          <a:lstStyle/>
          <a:p>
            <a:pPr marL="0" indent="0" algn="ctr">
              <a:buNone/>
            </a:pPr>
            <a:r>
              <a:rPr lang="en-US" sz="1200" dirty="0">
                <a:solidFill>
                  <a:schemeClr val="accent5"/>
                </a:solidFill>
              </a:rPr>
              <a:t>Calibrates while stopped</a:t>
            </a:r>
            <a:endParaRPr lang="en-US" sz="1200" dirty="0"/>
          </a:p>
        </p:txBody>
      </p:sp>
      <p:sp>
        <p:nvSpPr>
          <p:cNvPr id="8" name="FORWARD"/>
          <p:cNvSpPr/>
          <p:nvPr/>
        </p:nvSpPr>
        <p:spPr>
          <a:xfrm>
            <a:off x="2651760" y="1371600"/>
            <a:ext cx="1737360" cy="822960"/>
          </a:xfrm>
          <a:prstGeom prst="roundRect">
            <a:avLst>
              <a:gd name="adj" fmla="val 13333"/>
            </a:avLst>
          </a:prstGeom>
          <a:solidFill>
            <a:schemeClr val="accent2"/>
          </a:solidFill>
          <a:ln w="19050">
            <a:solidFill>
              <a:schemeClr val="accent2"/>
            </a:solidFill>
            <a:prstDash val="solid"/>
          </a:ln>
        </p:spPr>
        <p:txBody>
          <a:bodyPr/>
          <a:lstStyle/>
          <a:p>
            <a:endParaRPr lang="en-US"/>
          </a:p>
        </p:txBody>
      </p:sp>
      <p:sp>
        <p:nvSpPr>
          <p:cNvPr id="9" name="Text 6"/>
          <p:cNvSpPr txBox="1"/>
          <p:nvPr/>
        </p:nvSpPr>
        <p:spPr>
          <a:xfrm>
            <a:off x="2651760" y="1435608"/>
            <a:ext cx="1737360" cy="365760"/>
          </a:xfrm>
          <a:prstGeom prst="rect">
            <a:avLst/>
          </a:prstGeom>
          <a:noFill/>
          <a:ln/>
        </p:spPr>
        <p:txBody>
          <a:bodyPr wrap="square" lIns="0" tIns="0" rIns="0" bIns="0" rtlCol="0" anchor="ctr"/>
          <a:lstStyle/>
          <a:p>
            <a:pPr marL="0" indent="0" algn="ctr">
              <a:buNone/>
            </a:pPr>
            <a:r>
              <a:rPr lang="en-US" sz="1400" b="1" dirty="0">
                <a:solidFill>
                  <a:schemeClr val="tx1"/>
                </a:solidFill>
              </a:rPr>
              <a:t>FORWARD</a:t>
            </a:r>
            <a:endParaRPr lang="en-US" sz="1400" dirty="0"/>
          </a:p>
        </p:txBody>
      </p:sp>
      <p:sp>
        <p:nvSpPr>
          <p:cNvPr id="10" name="Text 7"/>
          <p:cNvSpPr txBox="1"/>
          <p:nvPr/>
        </p:nvSpPr>
        <p:spPr>
          <a:xfrm>
            <a:off x="2651760" y="1801368"/>
            <a:ext cx="1737360" cy="274320"/>
          </a:xfrm>
          <a:prstGeom prst="rect">
            <a:avLst/>
          </a:prstGeom>
          <a:noFill/>
          <a:ln/>
        </p:spPr>
        <p:txBody>
          <a:bodyPr wrap="square" lIns="0" tIns="0" rIns="0" bIns="0" rtlCol="0" anchor="ctr"/>
          <a:lstStyle/>
          <a:p>
            <a:pPr marL="0" indent="0" algn="ctr">
              <a:buNone/>
            </a:pPr>
            <a:r>
              <a:rPr lang="en-US" sz="1200" dirty="0">
                <a:solidFill>
                  <a:schemeClr val="tx1"/>
                </a:solidFill>
              </a:rPr>
              <a:t>Drives at speed 170</a:t>
            </a:r>
            <a:endParaRPr lang="en-US" sz="1200" dirty="0"/>
          </a:p>
        </p:txBody>
      </p:sp>
      <p:sp>
        <p:nvSpPr>
          <p:cNvPr id="11" name="BRAKING"/>
          <p:cNvSpPr/>
          <p:nvPr/>
        </p:nvSpPr>
        <p:spPr>
          <a:xfrm>
            <a:off x="4846320" y="1371600"/>
            <a:ext cx="1737360" cy="822960"/>
          </a:xfrm>
          <a:prstGeom prst="roundRect">
            <a:avLst>
              <a:gd name="adj" fmla="val 13333"/>
            </a:avLst>
          </a:prstGeom>
          <a:solidFill>
            <a:schemeClr val="accent3"/>
          </a:solidFill>
          <a:ln w="19050">
            <a:solidFill>
              <a:schemeClr val="accent3"/>
            </a:solidFill>
            <a:prstDash val="solid"/>
          </a:ln>
        </p:spPr>
        <p:txBody>
          <a:bodyPr/>
          <a:lstStyle/>
          <a:p>
            <a:endParaRPr lang="en-US"/>
          </a:p>
        </p:txBody>
      </p:sp>
      <p:sp>
        <p:nvSpPr>
          <p:cNvPr id="12" name="Text 9"/>
          <p:cNvSpPr txBox="1"/>
          <p:nvPr/>
        </p:nvSpPr>
        <p:spPr>
          <a:xfrm>
            <a:off x="4846320" y="1435608"/>
            <a:ext cx="1737360" cy="365760"/>
          </a:xfrm>
          <a:prstGeom prst="rect">
            <a:avLst/>
          </a:prstGeom>
          <a:noFill/>
          <a:ln/>
        </p:spPr>
        <p:txBody>
          <a:bodyPr wrap="square" lIns="0" tIns="0" rIns="0" bIns="0" rtlCol="0" anchor="ctr"/>
          <a:lstStyle/>
          <a:p>
            <a:pPr marL="0" indent="0" algn="ctr">
              <a:buNone/>
            </a:pPr>
            <a:r>
              <a:rPr lang="en-US" sz="1400" b="1" dirty="0">
                <a:solidFill>
                  <a:schemeClr val="tx1"/>
                </a:solidFill>
              </a:rPr>
              <a:t>BRAKING</a:t>
            </a:r>
            <a:endParaRPr lang="en-US" sz="1400" dirty="0"/>
          </a:p>
        </p:txBody>
      </p:sp>
      <p:sp>
        <p:nvSpPr>
          <p:cNvPr id="13" name="Text 10"/>
          <p:cNvSpPr txBox="1"/>
          <p:nvPr/>
        </p:nvSpPr>
        <p:spPr>
          <a:xfrm>
            <a:off x="4846320" y="1801368"/>
            <a:ext cx="1737360" cy="274320"/>
          </a:xfrm>
          <a:prstGeom prst="rect">
            <a:avLst/>
          </a:prstGeom>
          <a:noFill/>
          <a:ln/>
        </p:spPr>
        <p:txBody>
          <a:bodyPr wrap="square" lIns="0" tIns="0" rIns="0" bIns="0" rtlCol="0" anchor="ctr"/>
          <a:lstStyle/>
          <a:p>
            <a:pPr marL="0" indent="0" algn="ctr">
              <a:buNone/>
            </a:pPr>
            <a:r>
              <a:rPr lang="en-US" sz="1200" dirty="0">
                <a:solidFill>
                  <a:schemeClr val="tx1"/>
                </a:solidFill>
              </a:rPr>
              <a:t>Brake for 80 ms</a:t>
            </a:r>
            <a:endParaRPr lang="en-US" sz="1200" dirty="0"/>
          </a:p>
        </p:txBody>
      </p:sp>
      <p:sp>
        <p:nvSpPr>
          <p:cNvPr id="14" name="TURN L / R"/>
          <p:cNvSpPr/>
          <p:nvPr/>
        </p:nvSpPr>
        <p:spPr>
          <a:xfrm>
            <a:off x="6949440" y="1371600"/>
            <a:ext cx="1737360" cy="822960"/>
          </a:xfrm>
          <a:prstGeom prst="roundRect">
            <a:avLst>
              <a:gd name="adj" fmla="val 13333"/>
            </a:avLst>
          </a:prstGeom>
          <a:solidFill>
            <a:schemeClr val="accent3"/>
          </a:solidFill>
          <a:ln w="19050">
            <a:solidFill>
              <a:schemeClr val="accent3"/>
            </a:solidFill>
            <a:prstDash val="solid"/>
          </a:ln>
        </p:spPr>
        <p:txBody>
          <a:bodyPr/>
          <a:lstStyle/>
          <a:p>
            <a:endParaRPr lang="en-US"/>
          </a:p>
        </p:txBody>
      </p:sp>
      <p:sp>
        <p:nvSpPr>
          <p:cNvPr id="15" name="Text 12"/>
          <p:cNvSpPr txBox="1"/>
          <p:nvPr/>
        </p:nvSpPr>
        <p:spPr>
          <a:xfrm>
            <a:off x="6949440" y="1435608"/>
            <a:ext cx="1737360" cy="365760"/>
          </a:xfrm>
          <a:prstGeom prst="rect">
            <a:avLst/>
          </a:prstGeom>
          <a:noFill/>
          <a:ln/>
        </p:spPr>
        <p:txBody>
          <a:bodyPr wrap="square" lIns="0" tIns="0" rIns="0" bIns="0" rtlCol="0" anchor="ctr"/>
          <a:lstStyle/>
          <a:p>
            <a:pPr marL="0" indent="0" algn="ctr">
              <a:buNone/>
            </a:pPr>
            <a:r>
              <a:rPr lang="en-US" sz="1400" b="1" dirty="0">
                <a:solidFill>
                  <a:schemeClr val="tx1"/>
                </a:solidFill>
              </a:rPr>
              <a:t>TURN L / R</a:t>
            </a:r>
            <a:endParaRPr lang="en-US" sz="1400" dirty="0"/>
          </a:p>
        </p:txBody>
      </p:sp>
      <p:sp>
        <p:nvSpPr>
          <p:cNvPr id="16" name="Text 13"/>
          <p:cNvSpPr txBox="1"/>
          <p:nvPr/>
        </p:nvSpPr>
        <p:spPr>
          <a:xfrm>
            <a:off x="6949440" y="1801368"/>
            <a:ext cx="1737360" cy="274320"/>
          </a:xfrm>
          <a:prstGeom prst="rect">
            <a:avLst/>
          </a:prstGeom>
          <a:noFill/>
          <a:ln/>
        </p:spPr>
        <p:txBody>
          <a:bodyPr wrap="square" lIns="0" tIns="0" rIns="0" bIns="0" rtlCol="0" anchor="ctr"/>
          <a:lstStyle/>
          <a:p>
            <a:pPr marL="0" indent="0" algn="ctr">
              <a:buNone/>
            </a:pPr>
            <a:r>
              <a:rPr lang="en-US" sz="1200" dirty="0">
                <a:solidFill>
                  <a:schemeClr val="tx1"/>
                </a:solidFill>
              </a:rPr>
              <a:t>Turn 180-420 ms</a:t>
            </a:r>
            <a:endParaRPr lang="en-US" sz="1200" dirty="0"/>
          </a:p>
        </p:txBody>
      </p:sp>
      <p:sp>
        <p:nvSpPr>
          <p:cNvPr id="17" name="Shape 14"/>
          <p:cNvSpPr/>
          <p:nvPr/>
        </p:nvSpPr>
        <p:spPr>
          <a:xfrm>
            <a:off x="2194560" y="1783080"/>
            <a:ext cx="457200" cy="0"/>
          </a:xfrm>
          <a:prstGeom prst="line">
            <a:avLst/>
          </a:prstGeom>
          <a:noFill/>
          <a:ln w="25400">
            <a:solidFill>
              <a:schemeClr val="bg1"/>
            </a:solidFill>
            <a:prstDash val="solid"/>
            <a:tailEnd type="triangle"/>
          </a:ln>
        </p:spPr>
        <p:txBody>
          <a:bodyPr/>
          <a:lstStyle/>
          <a:p>
            <a:endParaRPr lang="en-US"/>
          </a:p>
        </p:txBody>
      </p:sp>
      <p:sp>
        <p:nvSpPr>
          <p:cNvPr id="18" name="Shape 15"/>
          <p:cNvSpPr/>
          <p:nvPr/>
        </p:nvSpPr>
        <p:spPr>
          <a:xfrm>
            <a:off x="4389120" y="1783080"/>
            <a:ext cx="457200" cy="0"/>
          </a:xfrm>
          <a:prstGeom prst="line">
            <a:avLst/>
          </a:prstGeom>
          <a:noFill/>
          <a:ln w="25400">
            <a:solidFill>
              <a:schemeClr val="bg1"/>
            </a:solidFill>
            <a:prstDash val="solid"/>
            <a:tailEnd type="triangle"/>
          </a:ln>
        </p:spPr>
        <p:txBody>
          <a:bodyPr/>
          <a:lstStyle/>
          <a:p>
            <a:endParaRPr lang="en-US"/>
          </a:p>
        </p:txBody>
      </p:sp>
      <p:sp>
        <p:nvSpPr>
          <p:cNvPr id="19" name="Shape 16"/>
          <p:cNvSpPr/>
          <p:nvPr/>
        </p:nvSpPr>
        <p:spPr>
          <a:xfrm>
            <a:off x="6583680" y="1783080"/>
            <a:ext cx="365760" cy="0"/>
          </a:xfrm>
          <a:prstGeom prst="line">
            <a:avLst/>
          </a:prstGeom>
          <a:noFill/>
          <a:ln w="25400">
            <a:solidFill>
              <a:schemeClr val="bg1"/>
            </a:solidFill>
            <a:prstDash val="solid"/>
            <a:tailEnd type="triangle"/>
          </a:ln>
        </p:spPr>
        <p:txBody>
          <a:bodyPr/>
          <a:lstStyle/>
          <a:p>
            <a:endParaRPr lang="en-US"/>
          </a:p>
        </p:txBody>
      </p:sp>
      <p:sp>
        <p:nvSpPr>
          <p:cNvPr id="20" name="Text 17"/>
          <p:cNvSpPr txBox="1"/>
          <p:nvPr/>
        </p:nvSpPr>
        <p:spPr>
          <a:xfrm>
            <a:off x="1691640" y="2286000"/>
            <a:ext cx="1463040" cy="274320"/>
          </a:xfrm>
          <a:prstGeom prst="rect">
            <a:avLst/>
          </a:prstGeom>
          <a:noFill/>
          <a:ln/>
        </p:spPr>
        <p:txBody>
          <a:bodyPr wrap="square" lIns="0" tIns="0" rIns="0" bIns="0" rtlCol="0" anchor="t"/>
          <a:lstStyle/>
          <a:p>
            <a:pPr marL="0" indent="0" algn="ctr">
              <a:buNone/>
            </a:pPr>
            <a:r>
              <a:rPr lang="en-US" sz="1200" dirty="0">
                <a:solidFill>
                  <a:schemeClr val="accent2"/>
                </a:solidFill>
              </a:rPr>
              <a:t>Sensors ready</a:t>
            </a:r>
            <a:endParaRPr lang="en-US" sz="1200" dirty="0"/>
          </a:p>
        </p:txBody>
      </p:sp>
      <p:sp>
        <p:nvSpPr>
          <p:cNvPr id="21" name="Text 18"/>
          <p:cNvSpPr txBox="1"/>
          <p:nvPr/>
        </p:nvSpPr>
        <p:spPr>
          <a:xfrm>
            <a:off x="3886200" y="2286000"/>
            <a:ext cx="1463040" cy="274320"/>
          </a:xfrm>
          <a:prstGeom prst="rect">
            <a:avLst/>
          </a:prstGeom>
          <a:noFill/>
          <a:ln/>
        </p:spPr>
        <p:txBody>
          <a:bodyPr wrap="square" lIns="0" tIns="0" rIns="0" bIns="0" rtlCol="0" anchor="t"/>
          <a:lstStyle/>
          <a:p>
            <a:pPr marL="0" indent="0" algn="ctr">
              <a:buNone/>
            </a:pPr>
            <a:r>
              <a:rPr lang="en-US" sz="1200" dirty="0">
                <a:solidFill>
                  <a:schemeClr val="accent2"/>
                </a:solidFill>
              </a:rPr>
              <a:t>Front edge</a:t>
            </a:r>
            <a:endParaRPr lang="en-US" sz="1200" dirty="0"/>
          </a:p>
        </p:txBody>
      </p:sp>
      <p:sp>
        <p:nvSpPr>
          <p:cNvPr id="22" name="Text 19"/>
          <p:cNvSpPr txBox="1"/>
          <p:nvPr/>
        </p:nvSpPr>
        <p:spPr>
          <a:xfrm>
            <a:off x="6035040" y="2286000"/>
            <a:ext cx="1463040" cy="274320"/>
          </a:xfrm>
          <a:prstGeom prst="rect">
            <a:avLst/>
          </a:prstGeom>
          <a:noFill/>
          <a:ln/>
        </p:spPr>
        <p:txBody>
          <a:bodyPr wrap="square" lIns="0" tIns="0" rIns="0" bIns="0" rtlCol="0" anchor="t"/>
          <a:lstStyle/>
          <a:p>
            <a:pPr marL="0" indent="0" algn="ctr">
              <a:buNone/>
            </a:pPr>
            <a:r>
              <a:rPr lang="en-US" sz="1200" dirty="0">
                <a:solidFill>
                  <a:schemeClr val="accent2"/>
                </a:solidFill>
              </a:rPr>
              <a:t>After 80 ms</a:t>
            </a:r>
            <a:endParaRPr lang="en-US" sz="1200" dirty="0"/>
          </a:p>
        </p:txBody>
      </p:sp>
      <p:sp>
        <p:nvSpPr>
          <p:cNvPr id="23" name="Shape 20"/>
          <p:cNvSpPr/>
          <p:nvPr/>
        </p:nvSpPr>
        <p:spPr>
          <a:xfrm flipH="1">
            <a:off x="7818120" y="2194560"/>
            <a:ext cx="0" cy="960120"/>
          </a:xfrm>
          <a:prstGeom prst="line">
            <a:avLst/>
          </a:prstGeom>
          <a:noFill/>
          <a:ln w="25400">
            <a:solidFill>
              <a:schemeClr val="accent2"/>
            </a:solidFill>
            <a:prstDash val="solid"/>
          </a:ln>
        </p:spPr>
        <p:txBody>
          <a:bodyPr/>
          <a:lstStyle/>
          <a:p>
            <a:endParaRPr lang="en-US"/>
          </a:p>
        </p:txBody>
      </p:sp>
      <p:sp>
        <p:nvSpPr>
          <p:cNvPr id="24" name="Shape 21"/>
          <p:cNvSpPr/>
          <p:nvPr/>
        </p:nvSpPr>
        <p:spPr>
          <a:xfrm flipH="1">
            <a:off x="3520440" y="3154680"/>
            <a:ext cx="4297680" cy="0"/>
          </a:xfrm>
          <a:prstGeom prst="line">
            <a:avLst/>
          </a:prstGeom>
          <a:noFill/>
          <a:ln w="25400">
            <a:solidFill>
              <a:schemeClr val="accent2"/>
            </a:solidFill>
            <a:prstDash val="solid"/>
          </a:ln>
        </p:spPr>
        <p:txBody>
          <a:bodyPr/>
          <a:lstStyle/>
          <a:p>
            <a:endParaRPr lang="en-US"/>
          </a:p>
        </p:txBody>
      </p:sp>
      <p:sp>
        <p:nvSpPr>
          <p:cNvPr id="25" name="Shape 22"/>
          <p:cNvSpPr/>
          <p:nvPr/>
        </p:nvSpPr>
        <p:spPr>
          <a:xfrm flipH="1" flipV="1">
            <a:off x="3520440" y="2194560"/>
            <a:ext cx="0" cy="960120"/>
          </a:xfrm>
          <a:prstGeom prst="line">
            <a:avLst/>
          </a:prstGeom>
          <a:noFill/>
          <a:ln w="25400">
            <a:solidFill>
              <a:schemeClr val="accent2"/>
            </a:solidFill>
            <a:prstDash val="solid"/>
            <a:tailEnd type="triangle"/>
          </a:ln>
        </p:spPr>
        <p:txBody>
          <a:bodyPr/>
          <a:lstStyle/>
          <a:p>
            <a:endParaRPr lang="en-US"/>
          </a:p>
        </p:txBody>
      </p:sp>
      <p:sp>
        <p:nvSpPr>
          <p:cNvPr id="26" name="Text 23"/>
          <p:cNvSpPr txBox="1"/>
          <p:nvPr/>
        </p:nvSpPr>
        <p:spPr>
          <a:xfrm>
            <a:off x="3657600" y="3218688"/>
            <a:ext cx="3931920" cy="274320"/>
          </a:xfrm>
          <a:prstGeom prst="rect">
            <a:avLst/>
          </a:prstGeom>
          <a:noFill/>
          <a:ln/>
        </p:spPr>
        <p:txBody>
          <a:bodyPr wrap="square" lIns="0" tIns="0" rIns="0" bIns="0" rtlCol="0" anchor="t"/>
          <a:lstStyle/>
          <a:p>
            <a:pPr marL="0" indent="0" algn="ctr">
              <a:buNone/>
            </a:pPr>
            <a:r>
              <a:rPr lang="en-US" sz="1300" dirty="0">
                <a:solidFill>
                  <a:schemeClr val="accent2"/>
                </a:solidFill>
              </a:rPr>
              <a:t>Turn done and path clear: back to FORWARD</a:t>
            </a:r>
            <a:endParaRPr lang="en-US" sz="1300" dirty="0"/>
          </a:p>
        </p:txBody>
      </p:sp>
      <p:sp>
        <p:nvSpPr>
          <p:cNvPr id="27" name="hazard"/>
          <p:cNvSpPr/>
          <p:nvPr/>
        </p:nvSpPr>
        <p:spPr>
          <a:xfrm>
            <a:off x="1371600" y="3749040"/>
            <a:ext cx="6400800" cy="868680"/>
          </a:xfrm>
          <a:prstGeom prst="roundRect">
            <a:avLst>
              <a:gd name="adj" fmla="val 12632"/>
            </a:avLst>
          </a:prstGeom>
          <a:solidFill>
            <a:schemeClr val="accent1"/>
          </a:solidFill>
          <a:ln w="12700">
            <a:solidFill>
              <a:schemeClr val="accent1"/>
            </a:solidFill>
            <a:prstDash val="solid"/>
          </a:ln>
        </p:spPr>
        <p:txBody>
          <a:bodyPr/>
          <a:lstStyle/>
          <a:p>
            <a:endParaRPr lang="en-US"/>
          </a:p>
        </p:txBody>
      </p:sp>
      <p:sp>
        <p:nvSpPr>
          <p:cNvPr id="28" name="Text 25"/>
          <p:cNvSpPr txBox="1"/>
          <p:nvPr/>
        </p:nvSpPr>
        <p:spPr>
          <a:xfrm>
            <a:off x="1371600" y="3794760"/>
            <a:ext cx="6400800" cy="320040"/>
          </a:xfrm>
          <a:prstGeom prst="rect">
            <a:avLst/>
          </a:prstGeom>
          <a:noFill/>
          <a:ln/>
        </p:spPr>
        <p:txBody>
          <a:bodyPr wrap="square" lIns="0" tIns="0" rIns="0" bIns="0" rtlCol="0" anchor="ctr"/>
          <a:lstStyle/>
          <a:p>
            <a:pPr marL="0" indent="0" algn="ctr">
              <a:buNone/>
            </a:pPr>
            <a:r>
              <a:rPr lang="en-US" sz="1600" b="1" dirty="0">
                <a:solidFill>
                  <a:schemeClr val="bg1"/>
                </a:solidFill>
              </a:rPr>
              <a:t>HAZARD STOP</a:t>
            </a:r>
            <a:endParaRPr lang="en-US" sz="1600" dirty="0"/>
          </a:p>
        </p:txBody>
      </p:sp>
      <p:sp>
        <p:nvSpPr>
          <p:cNvPr id="29" name="Text 26"/>
          <p:cNvSpPr txBox="1"/>
          <p:nvPr/>
        </p:nvSpPr>
        <p:spPr>
          <a:xfrm>
            <a:off x="1463040" y="4114800"/>
            <a:ext cx="6217920" cy="457200"/>
          </a:xfrm>
          <a:prstGeom prst="rect">
            <a:avLst/>
          </a:prstGeom>
          <a:noFill/>
          <a:ln/>
        </p:spPr>
        <p:txBody>
          <a:bodyPr wrap="square" lIns="0" tIns="0" rIns="0" bIns="0" rtlCol="0" anchor="t"/>
          <a:lstStyle/>
          <a:p>
            <a:pPr marL="0" indent="0" algn="ctr">
              <a:buNone/>
            </a:pPr>
            <a:r>
              <a:rPr lang="en-US" sz="1300" dirty="0">
                <a:solidFill>
                  <a:schemeClr val="bg1"/>
                </a:solidFill>
              </a:rPr>
              <a:t>From any state: stale sensor • two edges at once • turn over 420 ms. Stays stopped until AUTO OFF.</a:t>
            </a:r>
            <a:endParaRPr lang="en-US" sz="1300" dirty="0"/>
          </a:p>
        </p:txBody>
      </p:sp>
      <p:sp>
        <p:nvSpPr>
          <p:cNvPr id="30"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Decision Priority</a:t>
            </a:r>
            <a:endParaRPr lang="en-US" sz="3400" dirty="0"/>
          </a:p>
        </p:txBody>
      </p:sp>
      <p:sp>
        <p:nvSpPr>
          <p:cNvPr id="3" name="icon-bg FaListOl"/>
          <p:cNvSpPr/>
          <p:nvPr/>
        </p:nvSpPr>
        <p:spPr>
          <a:xfrm>
            <a:off x="457200" y="320040"/>
            <a:ext cx="685800" cy="68580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ListOl"/>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8229600" cy="457200"/>
          </a:xfrm>
          <a:prstGeom prst="roundRect">
            <a:avLst>
              <a:gd name="adj" fmla="val 24000"/>
            </a:avLst>
          </a:prstGeom>
          <a:solidFill>
            <a:schemeClr val="tx2"/>
          </a:solidFill>
          <a:ln w="19050">
            <a:solidFill>
              <a:schemeClr val="accent1"/>
            </a:solidFill>
            <a:prstDash val="solid"/>
          </a:ln>
        </p:spPr>
        <p:txBody>
          <a:bodyPr/>
          <a:lstStyle/>
          <a:p>
            <a:endParaRPr lang="en-US"/>
          </a:p>
        </p:txBody>
      </p:sp>
      <p:sp>
        <p:nvSpPr>
          <p:cNvPr id="6" name="rank"/>
          <p:cNvSpPr/>
          <p:nvPr/>
        </p:nvSpPr>
        <p:spPr>
          <a:xfrm>
            <a:off x="548640" y="137160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7" name="Text 4"/>
          <p:cNvSpPr txBox="1"/>
          <p:nvPr/>
        </p:nvSpPr>
        <p:spPr>
          <a:xfrm>
            <a:off x="548640" y="137160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1097280" y="1325880"/>
            <a:ext cx="7406640" cy="457200"/>
          </a:xfrm>
          <a:prstGeom prst="rect">
            <a:avLst/>
          </a:prstGeom>
          <a:noFill/>
          <a:ln/>
        </p:spPr>
        <p:txBody>
          <a:bodyPr wrap="square" lIns="0" tIns="0" rIns="0" bIns="0" rtlCol="0" anchor="ctr"/>
          <a:lstStyle/>
          <a:p>
            <a:pPr marL="0" indent="0" algn="l">
              <a:buNone/>
            </a:pPr>
            <a:r>
              <a:rPr lang="en-US" sz="1400" dirty="0">
                <a:solidFill>
                  <a:schemeClr val="bg1"/>
                </a:solidFill>
              </a:rPr>
              <a:t>Stale sensor (over 220 ms) or not calibrated → HAZARD STOP</a:t>
            </a:r>
            <a:endParaRPr lang="en-US" sz="1400" dirty="0"/>
          </a:p>
        </p:txBody>
      </p:sp>
      <p:sp>
        <p:nvSpPr>
          <p:cNvPr id="9" name="card"/>
          <p:cNvSpPr/>
          <p:nvPr/>
        </p:nvSpPr>
        <p:spPr>
          <a:xfrm>
            <a:off x="457200" y="1874520"/>
            <a:ext cx="8229600" cy="457200"/>
          </a:xfrm>
          <a:prstGeom prst="roundRect">
            <a:avLst>
              <a:gd name="adj" fmla="val 24000"/>
            </a:avLst>
          </a:prstGeom>
          <a:solidFill>
            <a:schemeClr val="tx2"/>
          </a:solidFill>
          <a:ln w="19050">
            <a:solidFill>
              <a:schemeClr val="accent1"/>
            </a:solidFill>
            <a:prstDash val="solid"/>
          </a:ln>
        </p:spPr>
        <p:txBody>
          <a:bodyPr/>
          <a:lstStyle/>
          <a:p>
            <a:endParaRPr lang="en-US"/>
          </a:p>
        </p:txBody>
      </p:sp>
      <p:sp>
        <p:nvSpPr>
          <p:cNvPr id="10" name="rank"/>
          <p:cNvSpPr/>
          <p:nvPr/>
        </p:nvSpPr>
        <p:spPr>
          <a:xfrm>
            <a:off x="548640" y="192024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1" name="Text 8"/>
          <p:cNvSpPr txBox="1"/>
          <p:nvPr/>
        </p:nvSpPr>
        <p:spPr>
          <a:xfrm>
            <a:off x="548640" y="192024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Text 9"/>
          <p:cNvSpPr txBox="1"/>
          <p:nvPr/>
        </p:nvSpPr>
        <p:spPr>
          <a:xfrm>
            <a:off x="1097280" y="1874520"/>
            <a:ext cx="7406640" cy="457200"/>
          </a:xfrm>
          <a:prstGeom prst="rect">
            <a:avLst/>
          </a:prstGeom>
          <a:noFill/>
          <a:ln/>
        </p:spPr>
        <p:txBody>
          <a:bodyPr wrap="square" lIns="0" tIns="0" rIns="0" bIns="0" rtlCol="0" anchor="ctr"/>
          <a:lstStyle/>
          <a:p>
            <a:pPr marL="0" indent="0" algn="l">
              <a:buNone/>
            </a:pPr>
            <a:r>
              <a:rPr lang="en-US" sz="1400" dirty="0">
                <a:solidFill>
                  <a:schemeClr val="bg1"/>
                </a:solidFill>
              </a:rPr>
              <a:t>Both front edges (after 80 ms) or both side edges → HAZARD STOP</a:t>
            </a:r>
            <a:endParaRPr lang="en-US" sz="1400" dirty="0"/>
          </a:p>
        </p:txBody>
      </p:sp>
      <p:sp>
        <p:nvSpPr>
          <p:cNvPr id="13" name="card"/>
          <p:cNvSpPr/>
          <p:nvPr/>
        </p:nvSpPr>
        <p:spPr>
          <a:xfrm>
            <a:off x="457200" y="2423160"/>
            <a:ext cx="8229600" cy="457200"/>
          </a:xfrm>
          <a:prstGeom prst="roundRect">
            <a:avLst>
              <a:gd name="adj" fmla="val 24000"/>
            </a:avLst>
          </a:prstGeom>
          <a:solidFill>
            <a:schemeClr val="tx2"/>
          </a:solidFill>
          <a:ln w="12700">
            <a:solidFill>
              <a:schemeClr val="accent4"/>
            </a:solidFill>
            <a:prstDash val="solid"/>
          </a:ln>
        </p:spPr>
        <p:txBody>
          <a:bodyPr/>
          <a:lstStyle/>
          <a:p>
            <a:endParaRPr lang="en-US"/>
          </a:p>
        </p:txBody>
      </p:sp>
      <p:sp>
        <p:nvSpPr>
          <p:cNvPr id="14" name="rank"/>
          <p:cNvSpPr/>
          <p:nvPr/>
        </p:nvSpPr>
        <p:spPr>
          <a:xfrm>
            <a:off x="548640" y="2468880"/>
            <a:ext cx="365760" cy="365760"/>
          </a:xfrm>
          <a:prstGeom prst="ellipse">
            <a:avLst/>
          </a:prstGeom>
          <a:solidFill>
            <a:schemeClr val="accent2"/>
          </a:solidFill>
          <a:ln w="12700">
            <a:solidFill>
              <a:schemeClr val="accent2"/>
            </a:solidFill>
            <a:prstDash val="solid"/>
          </a:ln>
        </p:spPr>
        <p:txBody>
          <a:bodyPr/>
          <a:lstStyle/>
          <a:p>
            <a:endParaRPr lang="en-US"/>
          </a:p>
        </p:txBody>
      </p:sp>
      <p:sp>
        <p:nvSpPr>
          <p:cNvPr id="15" name="Text 12"/>
          <p:cNvSpPr txBox="1"/>
          <p:nvPr/>
        </p:nvSpPr>
        <p:spPr>
          <a:xfrm>
            <a:off x="548640" y="2468880"/>
            <a:ext cx="365760" cy="36576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6" name="Text 13"/>
          <p:cNvSpPr txBox="1"/>
          <p:nvPr/>
        </p:nvSpPr>
        <p:spPr>
          <a:xfrm>
            <a:off x="1097280" y="2423160"/>
            <a:ext cx="7406640" cy="457200"/>
          </a:xfrm>
          <a:prstGeom prst="rect">
            <a:avLst/>
          </a:prstGeom>
          <a:noFill/>
          <a:ln/>
        </p:spPr>
        <p:txBody>
          <a:bodyPr wrap="square" lIns="0" tIns="0" rIns="0" bIns="0" rtlCol="0" anchor="ctr"/>
          <a:lstStyle/>
          <a:p>
            <a:pPr marL="0" indent="0" algn="l">
              <a:buNone/>
            </a:pPr>
            <a:r>
              <a:rPr lang="en-US" sz="1400" dirty="0">
                <a:solidFill>
                  <a:schemeClr val="bg1"/>
                </a:solidFill>
              </a:rPr>
              <a:t>While turning: if an edge shows on the turn side, reverse the turn</a:t>
            </a:r>
            <a:endParaRPr lang="en-US" sz="1400" dirty="0"/>
          </a:p>
        </p:txBody>
      </p:sp>
      <p:sp>
        <p:nvSpPr>
          <p:cNvPr id="17" name="card"/>
          <p:cNvSpPr/>
          <p:nvPr/>
        </p:nvSpPr>
        <p:spPr>
          <a:xfrm>
            <a:off x="457200" y="2971800"/>
            <a:ext cx="8229600" cy="457200"/>
          </a:xfrm>
          <a:prstGeom prst="roundRect">
            <a:avLst>
              <a:gd name="adj" fmla="val 24000"/>
            </a:avLst>
          </a:prstGeom>
          <a:solidFill>
            <a:schemeClr val="tx2"/>
          </a:solidFill>
          <a:ln w="12700">
            <a:solidFill>
              <a:schemeClr val="accent4"/>
            </a:solidFill>
            <a:prstDash val="solid"/>
          </a:ln>
        </p:spPr>
        <p:txBody>
          <a:bodyPr/>
          <a:lstStyle/>
          <a:p>
            <a:endParaRPr lang="en-US"/>
          </a:p>
        </p:txBody>
      </p:sp>
      <p:sp>
        <p:nvSpPr>
          <p:cNvPr id="18" name="rank"/>
          <p:cNvSpPr/>
          <p:nvPr/>
        </p:nvSpPr>
        <p:spPr>
          <a:xfrm>
            <a:off x="548640" y="3017520"/>
            <a:ext cx="365760" cy="365760"/>
          </a:xfrm>
          <a:prstGeom prst="ellipse">
            <a:avLst/>
          </a:prstGeom>
          <a:solidFill>
            <a:schemeClr val="accent2"/>
          </a:solidFill>
          <a:ln w="12700">
            <a:solidFill>
              <a:schemeClr val="accent2"/>
            </a:solidFill>
            <a:prstDash val="solid"/>
          </a:ln>
        </p:spPr>
        <p:txBody>
          <a:bodyPr/>
          <a:lstStyle/>
          <a:p>
            <a:endParaRPr lang="en-US"/>
          </a:p>
        </p:txBody>
      </p:sp>
      <p:sp>
        <p:nvSpPr>
          <p:cNvPr id="19" name="Text 16"/>
          <p:cNvSpPr txBox="1"/>
          <p:nvPr/>
        </p:nvSpPr>
        <p:spPr>
          <a:xfrm>
            <a:off x="548640" y="3017520"/>
            <a:ext cx="365760" cy="365760"/>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0" name="Text 17"/>
          <p:cNvSpPr txBox="1"/>
          <p:nvPr/>
        </p:nvSpPr>
        <p:spPr>
          <a:xfrm>
            <a:off x="1097280" y="2971800"/>
            <a:ext cx="7406640" cy="457200"/>
          </a:xfrm>
          <a:prstGeom prst="rect">
            <a:avLst/>
          </a:prstGeom>
          <a:noFill/>
          <a:ln/>
        </p:spPr>
        <p:txBody>
          <a:bodyPr wrap="square" lIns="0" tIns="0" rIns="0" bIns="0" rtlCol="0" anchor="ctr"/>
          <a:lstStyle/>
          <a:p>
            <a:pPr marL="0" indent="0" algn="l">
              <a:buNone/>
            </a:pPr>
            <a:r>
              <a:rPr lang="en-US" sz="1400" dirty="0">
                <a:solidFill>
                  <a:schemeClr val="bg1"/>
                </a:solidFill>
              </a:rPr>
              <a:t>Front edge on LF or RF → brake 80 ms, then turn away from it</a:t>
            </a:r>
            <a:endParaRPr lang="en-US" sz="1400" dirty="0"/>
          </a:p>
        </p:txBody>
      </p:sp>
      <p:sp>
        <p:nvSpPr>
          <p:cNvPr id="21" name="card"/>
          <p:cNvSpPr/>
          <p:nvPr/>
        </p:nvSpPr>
        <p:spPr>
          <a:xfrm>
            <a:off x="457200" y="3520440"/>
            <a:ext cx="8229600" cy="457200"/>
          </a:xfrm>
          <a:prstGeom prst="roundRect">
            <a:avLst>
              <a:gd name="adj" fmla="val 24000"/>
            </a:avLst>
          </a:prstGeom>
          <a:solidFill>
            <a:schemeClr val="tx2"/>
          </a:solidFill>
          <a:ln w="12700">
            <a:solidFill>
              <a:schemeClr val="accent4"/>
            </a:solidFill>
            <a:prstDash val="solid"/>
          </a:ln>
        </p:spPr>
        <p:txBody>
          <a:bodyPr/>
          <a:lstStyle/>
          <a:p>
            <a:endParaRPr lang="en-US"/>
          </a:p>
        </p:txBody>
      </p:sp>
      <p:sp>
        <p:nvSpPr>
          <p:cNvPr id="22" name="rank"/>
          <p:cNvSpPr/>
          <p:nvPr/>
        </p:nvSpPr>
        <p:spPr>
          <a:xfrm>
            <a:off x="548640" y="3566160"/>
            <a:ext cx="365760" cy="365760"/>
          </a:xfrm>
          <a:prstGeom prst="ellipse">
            <a:avLst/>
          </a:prstGeom>
          <a:solidFill>
            <a:schemeClr val="accent2"/>
          </a:solidFill>
          <a:ln w="12700">
            <a:solidFill>
              <a:schemeClr val="accent2"/>
            </a:solidFill>
            <a:prstDash val="solid"/>
          </a:ln>
        </p:spPr>
        <p:txBody>
          <a:bodyPr/>
          <a:lstStyle/>
          <a:p>
            <a:endParaRPr lang="en-US"/>
          </a:p>
        </p:txBody>
      </p:sp>
      <p:sp>
        <p:nvSpPr>
          <p:cNvPr id="23" name="Text 20"/>
          <p:cNvSpPr txBox="1"/>
          <p:nvPr/>
        </p:nvSpPr>
        <p:spPr>
          <a:xfrm>
            <a:off x="548640" y="3566160"/>
            <a:ext cx="365760" cy="365760"/>
          </a:xfrm>
          <a:prstGeom prst="rect">
            <a:avLst/>
          </a:prstGeom>
          <a:noFill/>
          <a:ln/>
        </p:spPr>
        <p:txBody>
          <a:bodyPr wrap="square" lIns="0" tIns="0" rIns="0" bIns="0" rtlCol="0" anchor="ctr"/>
          <a:lstStyle/>
          <a:p>
            <a:pPr marL="0" indent="0" algn="ctr">
              <a:buNone/>
            </a:pPr>
            <a:r>
              <a:rPr lang="en-US" sz="1600" b="1" dirty="0">
                <a:solidFill>
                  <a:schemeClr val="tx1"/>
                </a:solidFill>
              </a:rPr>
              <a:t>5</a:t>
            </a:r>
            <a:endParaRPr lang="en-US" sz="1600" dirty="0"/>
          </a:p>
        </p:txBody>
      </p:sp>
      <p:sp>
        <p:nvSpPr>
          <p:cNvPr id="24" name="Text 21"/>
          <p:cNvSpPr txBox="1"/>
          <p:nvPr/>
        </p:nvSpPr>
        <p:spPr>
          <a:xfrm>
            <a:off x="1097280" y="3520440"/>
            <a:ext cx="7406640" cy="457200"/>
          </a:xfrm>
          <a:prstGeom prst="rect">
            <a:avLst/>
          </a:prstGeom>
          <a:noFill/>
          <a:ln/>
        </p:spPr>
        <p:txBody>
          <a:bodyPr wrap="square" lIns="0" tIns="0" rIns="0" bIns="0" rtlCol="0" anchor="ctr"/>
          <a:lstStyle/>
          <a:p>
            <a:pPr marL="0" indent="0" algn="l">
              <a:buNone/>
            </a:pPr>
            <a:r>
              <a:rPr lang="en-US" sz="1400" dirty="0">
                <a:solidFill>
                  <a:schemeClr val="bg1"/>
                </a:solidFill>
              </a:rPr>
              <a:t>Side edge → steer away from it (inner side at 35% speed)</a:t>
            </a:r>
            <a:endParaRPr lang="en-US" sz="1400" dirty="0"/>
          </a:p>
        </p:txBody>
      </p:sp>
      <p:sp>
        <p:nvSpPr>
          <p:cNvPr id="25" name="card"/>
          <p:cNvSpPr/>
          <p:nvPr/>
        </p:nvSpPr>
        <p:spPr>
          <a:xfrm>
            <a:off x="457200" y="4069080"/>
            <a:ext cx="8229600" cy="457200"/>
          </a:xfrm>
          <a:prstGeom prst="roundRect">
            <a:avLst>
              <a:gd name="adj" fmla="val 24000"/>
            </a:avLst>
          </a:prstGeom>
          <a:solidFill>
            <a:schemeClr val="tx2"/>
          </a:solidFill>
          <a:ln w="12700">
            <a:solidFill>
              <a:schemeClr val="accent4"/>
            </a:solidFill>
            <a:prstDash val="solid"/>
          </a:ln>
        </p:spPr>
        <p:txBody>
          <a:bodyPr/>
          <a:lstStyle/>
          <a:p>
            <a:endParaRPr lang="en-US"/>
          </a:p>
        </p:txBody>
      </p:sp>
      <p:sp>
        <p:nvSpPr>
          <p:cNvPr id="26" name="rank"/>
          <p:cNvSpPr/>
          <p:nvPr/>
        </p:nvSpPr>
        <p:spPr>
          <a:xfrm>
            <a:off x="548640" y="4114800"/>
            <a:ext cx="365760" cy="365760"/>
          </a:xfrm>
          <a:prstGeom prst="ellipse">
            <a:avLst/>
          </a:prstGeom>
          <a:solidFill>
            <a:schemeClr val="accent2"/>
          </a:solidFill>
          <a:ln w="12700">
            <a:solidFill>
              <a:schemeClr val="accent2"/>
            </a:solidFill>
            <a:prstDash val="solid"/>
          </a:ln>
        </p:spPr>
        <p:txBody>
          <a:bodyPr/>
          <a:lstStyle/>
          <a:p>
            <a:endParaRPr lang="en-US"/>
          </a:p>
        </p:txBody>
      </p:sp>
      <p:sp>
        <p:nvSpPr>
          <p:cNvPr id="27" name="Text 24"/>
          <p:cNvSpPr txBox="1"/>
          <p:nvPr/>
        </p:nvSpPr>
        <p:spPr>
          <a:xfrm>
            <a:off x="548640" y="4114800"/>
            <a:ext cx="365760" cy="365760"/>
          </a:xfrm>
          <a:prstGeom prst="rect">
            <a:avLst/>
          </a:prstGeom>
          <a:noFill/>
          <a:ln/>
        </p:spPr>
        <p:txBody>
          <a:bodyPr wrap="square" lIns="0" tIns="0" rIns="0" bIns="0" rtlCol="0" anchor="ctr"/>
          <a:lstStyle/>
          <a:p>
            <a:pPr marL="0" indent="0" algn="ctr">
              <a:buNone/>
            </a:pPr>
            <a:r>
              <a:rPr lang="en-US" sz="1600" b="1" dirty="0">
                <a:solidFill>
                  <a:schemeClr val="tx1"/>
                </a:solidFill>
              </a:rPr>
              <a:t>6</a:t>
            </a:r>
            <a:endParaRPr lang="en-US" sz="1600" dirty="0"/>
          </a:p>
        </p:txBody>
      </p:sp>
      <p:sp>
        <p:nvSpPr>
          <p:cNvPr id="28" name="Text 25"/>
          <p:cNvSpPr txBox="1"/>
          <p:nvPr/>
        </p:nvSpPr>
        <p:spPr>
          <a:xfrm>
            <a:off x="1097280" y="4069080"/>
            <a:ext cx="7406640" cy="457200"/>
          </a:xfrm>
          <a:prstGeom prst="rect">
            <a:avLst/>
          </a:prstGeom>
          <a:noFill/>
          <a:ln/>
        </p:spPr>
        <p:txBody>
          <a:bodyPr wrap="square" lIns="0" tIns="0" rIns="0" bIns="0" rtlCol="0" anchor="ctr"/>
          <a:lstStyle/>
          <a:p>
            <a:pPr marL="0" indent="0" algn="l">
              <a:buNone/>
            </a:pPr>
            <a:r>
              <a:rPr lang="en-US" sz="1400" dirty="0">
                <a:solidFill>
                  <a:schemeClr val="bg1"/>
                </a:solidFill>
              </a:rPr>
              <a:t>Side warning → gradual steering; both sides → speed 120, otherwise 170</a:t>
            </a:r>
            <a:endParaRPr lang="en-US" sz="1400" dirty="0"/>
          </a:p>
        </p:txBody>
      </p:sp>
      <p:sp>
        <p:nvSpPr>
          <p:cNvPr id="29"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Safety Layers in Numbers</a:t>
            </a:r>
            <a:endParaRPr lang="en-US" sz="3400" dirty="0"/>
          </a:p>
        </p:txBody>
      </p:sp>
      <p:sp>
        <p:nvSpPr>
          <p:cNvPr id="3" name="icon-bg FaShieldAlt"/>
          <p:cNvSpPr/>
          <p:nvPr/>
        </p:nvSpPr>
        <p:spPr>
          <a:xfrm>
            <a:off x="457200" y="320040"/>
            <a:ext cx="685800" cy="685800"/>
          </a:xfrm>
          <a:prstGeom prst="ellipse">
            <a:avLst/>
          </a:prstGeom>
          <a:solidFill>
            <a:schemeClr val="accent1"/>
          </a:solidFill>
          <a:ln w="12700">
            <a:solidFill>
              <a:schemeClr val="accent1"/>
            </a:solidFill>
            <a:prstDash val="solid"/>
          </a:ln>
        </p:spPr>
        <p:txBody>
          <a:bodyPr/>
          <a:lstStyle/>
          <a:p>
            <a:endParaRPr lang="en-US"/>
          </a:p>
        </p:txBody>
      </p:sp>
      <p:pic>
        <p:nvPicPr>
          <p:cNvPr id="4" name="Image 0" descr="FaShieldAlt"/>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6" name="Text 3"/>
          <p:cNvSpPr txBox="1"/>
          <p:nvPr/>
        </p:nvSpPr>
        <p:spPr>
          <a:xfrm>
            <a:off x="548640" y="1435608"/>
            <a:ext cx="2468880" cy="800100"/>
          </a:xfrm>
          <a:prstGeom prst="rect">
            <a:avLst/>
          </a:prstGeom>
          <a:noFill/>
          <a:ln/>
        </p:spPr>
        <p:txBody>
          <a:bodyPr wrap="square" lIns="0" tIns="0" rIns="0" bIns="0" rtlCol="0" anchor="ctr"/>
          <a:lstStyle/>
          <a:p>
            <a:pPr marL="0" indent="0" algn="l">
              <a:buNone/>
            </a:pPr>
            <a:r>
              <a:rPr lang="en-US" sz="4000" b="1" dirty="0">
                <a:solidFill>
                  <a:schemeClr val="accent2"/>
                </a:solidFill>
              </a:rPr>
              <a:t>220ms</a:t>
            </a:r>
            <a:endParaRPr lang="en-US" sz="4000" dirty="0"/>
          </a:p>
        </p:txBody>
      </p:sp>
      <p:sp>
        <p:nvSpPr>
          <p:cNvPr id="7" name="Text 4"/>
          <p:cNvSpPr txBox="1"/>
          <p:nvPr/>
        </p:nvSpPr>
        <p:spPr>
          <a:xfrm>
            <a:off x="594360" y="2253996"/>
            <a:ext cx="2377440" cy="576072"/>
          </a:xfrm>
          <a:prstGeom prst="rect">
            <a:avLst/>
          </a:prstGeom>
          <a:noFill/>
          <a:ln/>
        </p:spPr>
        <p:txBody>
          <a:bodyPr wrap="square" lIns="0" tIns="0" rIns="0" bIns="0" rtlCol="0" anchor="t"/>
          <a:lstStyle/>
          <a:p>
            <a:pPr marL="0" indent="0" algn="l">
              <a:buNone/>
            </a:pPr>
            <a:r>
              <a:rPr lang="en-US" sz="1400" dirty="0">
                <a:solidFill>
                  <a:schemeClr val="bg1"/>
                </a:solidFill>
              </a:rPr>
              <a:t>Max sensor reading age before stopping</a:t>
            </a:r>
            <a:endParaRPr lang="en-US" sz="1400" dirty="0"/>
          </a:p>
        </p:txBody>
      </p:sp>
      <p:sp>
        <p:nvSpPr>
          <p:cNvPr id="8" name="card"/>
          <p:cNvSpPr/>
          <p:nvPr/>
        </p:nvSpPr>
        <p:spPr>
          <a:xfrm>
            <a:off x="3246120" y="132588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9" name="Text 6"/>
          <p:cNvSpPr txBox="1"/>
          <p:nvPr/>
        </p:nvSpPr>
        <p:spPr>
          <a:xfrm>
            <a:off x="3337560" y="1435608"/>
            <a:ext cx="2468880" cy="800100"/>
          </a:xfrm>
          <a:prstGeom prst="rect">
            <a:avLst/>
          </a:prstGeom>
          <a:noFill/>
          <a:ln/>
        </p:spPr>
        <p:txBody>
          <a:bodyPr wrap="square" lIns="0" tIns="0" rIns="0" bIns="0" rtlCol="0" anchor="ctr"/>
          <a:lstStyle/>
          <a:p>
            <a:pPr marL="0" indent="0" algn="l">
              <a:buNone/>
            </a:pPr>
            <a:r>
              <a:rPr lang="en-US" sz="4000" b="1" dirty="0">
                <a:solidFill>
                  <a:schemeClr val="accent6"/>
                </a:solidFill>
              </a:rPr>
              <a:t>450ms</a:t>
            </a:r>
            <a:endParaRPr lang="en-US" sz="4000" dirty="0"/>
          </a:p>
        </p:txBody>
      </p:sp>
      <p:sp>
        <p:nvSpPr>
          <p:cNvPr id="10" name="Text 7"/>
          <p:cNvSpPr txBox="1"/>
          <p:nvPr/>
        </p:nvSpPr>
        <p:spPr>
          <a:xfrm>
            <a:off x="3383280" y="2253996"/>
            <a:ext cx="2377440" cy="576072"/>
          </a:xfrm>
          <a:prstGeom prst="rect">
            <a:avLst/>
          </a:prstGeom>
          <a:noFill/>
          <a:ln/>
        </p:spPr>
        <p:txBody>
          <a:bodyPr wrap="square" lIns="0" tIns="0" rIns="0" bIns="0" rtlCol="0" anchor="t"/>
          <a:lstStyle/>
          <a:p>
            <a:pPr marL="0" indent="0" algn="l">
              <a:buNone/>
            </a:pPr>
            <a:r>
              <a:rPr lang="en-US" sz="1400" dirty="0">
                <a:solidFill>
                  <a:schemeClr val="bg1"/>
                </a:solidFill>
              </a:rPr>
              <a:t>Control command timeout before stopping</a:t>
            </a:r>
            <a:endParaRPr lang="en-US" sz="1400" dirty="0"/>
          </a:p>
        </p:txBody>
      </p:sp>
      <p:sp>
        <p:nvSpPr>
          <p:cNvPr id="11" name="card"/>
          <p:cNvSpPr/>
          <p:nvPr/>
        </p:nvSpPr>
        <p:spPr>
          <a:xfrm>
            <a:off x="6035040" y="132588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12" name="Text 9"/>
          <p:cNvSpPr txBox="1"/>
          <p:nvPr/>
        </p:nvSpPr>
        <p:spPr>
          <a:xfrm>
            <a:off x="6126480" y="1435608"/>
            <a:ext cx="2468880" cy="800100"/>
          </a:xfrm>
          <a:prstGeom prst="rect">
            <a:avLst/>
          </a:prstGeom>
          <a:noFill/>
          <a:ln/>
        </p:spPr>
        <p:txBody>
          <a:bodyPr wrap="square" lIns="0" tIns="0" rIns="0" bIns="0" rtlCol="0" anchor="ctr"/>
          <a:lstStyle/>
          <a:p>
            <a:pPr marL="0" indent="0" algn="l">
              <a:buNone/>
            </a:pPr>
            <a:r>
              <a:rPr lang="en-US" sz="4000" b="1" dirty="0">
                <a:solidFill>
                  <a:schemeClr val="accent2"/>
                </a:solidFill>
              </a:rPr>
              <a:t>80ms</a:t>
            </a:r>
            <a:endParaRPr lang="en-US" sz="4000" dirty="0"/>
          </a:p>
        </p:txBody>
      </p:sp>
      <p:sp>
        <p:nvSpPr>
          <p:cNvPr id="13" name="Text 10"/>
          <p:cNvSpPr txBox="1"/>
          <p:nvPr/>
        </p:nvSpPr>
        <p:spPr>
          <a:xfrm>
            <a:off x="6172200" y="2253996"/>
            <a:ext cx="2377440" cy="576072"/>
          </a:xfrm>
          <a:prstGeom prst="rect">
            <a:avLst/>
          </a:prstGeom>
          <a:noFill/>
          <a:ln/>
        </p:spPr>
        <p:txBody>
          <a:bodyPr wrap="square" lIns="0" tIns="0" rIns="0" bIns="0" rtlCol="0" anchor="t"/>
          <a:lstStyle/>
          <a:p>
            <a:pPr marL="0" indent="0" algn="l">
              <a:buNone/>
            </a:pPr>
            <a:r>
              <a:rPr lang="en-US" sz="1400" dirty="0">
                <a:solidFill>
                  <a:schemeClr val="bg1"/>
                </a:solidFill>
              </a:rPr>
              <a:t>Confirmation time for a double front edge</a:t>
            </a:r>
            <a:endParaRPr lang="en-US" sz="1400" dirty="0"/>
          </a:p>
        </p:txBody>
      </p:sp>
      <p:sp>
        <p:nvSpPr>
          <p:cNvPr id="14" name="card"/>
          <p:cNvSpPr/>
          <p:nvPr/>
        </p:nvSpPr>
        <p:spPr>
          <a:xfrm>
            <a:off x="457200" y="306324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15" name="Text 12"/>
          <p:cNvSpPr txBox="1"/>
          <p:nvPr/>
        </p:nvSpPr>
        <p:spPr>
          <a:xfrm>
            <a:off x="548640" y="3172968"/>
            <a:ext cx="2468880" cy="800100"/>
          </a:xfrm>
          <a:prstGeom prst="rect">
            <a:avLst/>
          </a:prstGeom>
          <a:noFill/>
          <a:ln/>
        </p:spPr>
        <p:txBody>
          <a:bodyPr wrap="square" lIns="0" tIns="0" rIns="0" bIns="0" rtlCol="0" anchor="ctr"/>
          <a:lstStyle/>
          <a:p>
            <a:pPr marL="0" indent="0" algn="l">
              <a:buNone/>
            </a:pPr>
            <a:r>
              <a:rPr lang="en-US" sz="4000" b="1" dirty="0">
                <a:solidFill>
                  <a:schemeClr val="accent6"/>
                </a:solidFill>
              </a:rPr>
              <a:t>420ms</a:t>
            </a:r>
            <a:endParaRPr lang="en-US" sz="4000" dirty="0"/>
          </a:p>
        </p:txBody>
      </p:sp>
      <p:sp>
        <p:nvSpPr>
          <p:cNvPr id="16" name="Text 13"/>
          <p:cNvSpPr txBox="1"/>
          <p:nvPr/>
        </p:nvSpPr>
        <p:spPr>
          <a:xfrm>
            <a:off x="594360" y="3991356"/>
            <a:ext cx="2377440" cy="576072"/>
          </a:xfrm>
          <a:prstGeom prst="rect">
            <a:avLst/>
          </a:prstGeom>
          <a:noFill/>
          <a:ln/>
        </p:spPr>
        <p:txBody>
          <a:bodyPr wrap="square" lIns="0" tIns="0" rIns="0" bIns="0" rtlCol="0" anchor="t"/>
          <a:lstStyle/>
          <a:p>
            <a:pPr marL="0" indent="0" algn="l">
              <a:buNone/>
            </a:pPr>
            <a:r>
              <a:rPr lang="en-US" sz="1400" dirty="0">
                <a:solidFill>
                  <a:schemeClr val="bg1"/>
                </a:solidFill>
              </a:rPr>
              <a:t>Max duration of a single turn</a:t>
            </a:r>
            <a:endParaRPr lang="en-US" sz="1400" dirty="0"/>
          </a:p>
        </p:txBody>
      </p:sp>
      <p:sp>
        <p:nvSpPr>
          <p:cNvPr id="17" name="card"/>
          <p:cNvSpPr/>
          <p:nvPr/>
        </p:nvSpPr>
        <p:spPr>
          <a:xfrm>
            <a:off x="3246120" y="306324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18" name="Text 15"/>
          <p:cNvSpPr txBox="1"/>
          <p:nvPr/>
        </p:nvSpPr>
        <p:spPr>
          <a:xfrm>
            <a:off x="3337560" y="3172968"/>
            <a:ext cx="2468880" cy="800100"/>
          </a:xfrm>
          <a:prstGeom prst="rect">
            <a:avLst/>
          </a:prstGeom>
          <a:noFill/>
          <a:ln/>
        </p:spPr>
        <p:txBody>
          <a:bodyPr wrap="square" lIns="0" tIns="0" rIns="0" bIns="0" rtlCol="0" anchor="ctr"/>
          <a:lstStyle/>
          <a:p>
            <a:pPr marL="0" indent="0" algn="l">
              <a:buNone/>
            </a:pPr>
            <a:r>
              <a:rPr lang="en-US" sz="4000" b="1" dirty="0">
                <a:solidFill>
                  <a:schemeClr val="accent2"/>
                </a:solidFill>
              </a:rPr>
              <a:t>4s</a:t>
            </a:r>
            <a:endParaRPr lang="en-US" sz="4000" dirty="0"/>
          </a:p>
        </p:txBody>
      </p:sp>
      <p:sp>
        <p:nvSpPr>
          <p:cNvPr id="19" name="Text 16"/>
          <p:cNvSpPr txBox="1"/>
          <p:nvPr/>
        </p:nvSpPr>
        <p:spPr>
          <a:xfrm>
            <a:off x="3383280" y="3991356"/>
            <a:ext cx="2377440" cy="576072"/>
          </a:xfrm>
          <a:prstGeom prst="rect">
            <a:avLst/>
          </a:prstGeom>
          <a:noFill/>
          <a:ln/>
        </p:spPr>
        <p:txBody>
          <a:bodyPr wrap="square" lIns="0" tIns="0" rIns="0" bIns="0" rtlCol="0" anchor="t"/>
          <a:lstStyle/>
          <a:p>
            <a:pPr marL="0" indent="0" algn="l">
              <a:buNone/>
            </a:pPr>
            <a:r>
              <a:rPr lang="en-US" sz="1400" dirty="0">
                <a:solidFill>
                  <a:schemeClr val="bg1"/>
                </a:solidFill>
              </a:rPr>
              <a:t>Camera link timeout (NO LINK)</a:t>
            </a:r>
            <a:endParaRPr lang="en-US" sz="1400" dirty="0"/>
          </a:p>
        </p:txBody>
      </p:sp>
      <p:sp>
        <p:nvSpPr>
          <p:cNvPr id="20" name="card"/>
          <p:cNvSpPr/>
          <p:nvPr/>
        </p:nvSpPr>
        <p:spPr>
          <a:xfrm>
            <a:off x="6035040" y="3063240"/>
            <a:ext cx="2651760" cy="1600200"/>
          </a:xfrm>
          <a:prstGeom prst="roundRect">
            <a:avLst>
              <a:gd name="adj" fmla="val 6857"/>
            </a:avLst>
          </a:prstGeom>
          <a:solidFill>
            <a:schemeClr val="tx2"/>
          </a:solidFill>
          <a:ln w="12700">
            <a:solidFill>
              <a:schemeClr val="accent4"/>
            </a:solidFill>
            <a:prstDash val="solid"/>
          </a:ln>
        </p:spPr>
        <p:txBody>
          <a:bodyPr/>
          <a:lstStyle/>
          <a:p>
            <a:endParaRPr lang="en-US"/>
          </a:p>
        </p:txBody>
      </p:sp>
      <p:sp>
        <p:nvSpPr>
          <p:cNvPr id="21" name="Text 18"/>
          <p:cNvSpPr txBox="1"/>
          <p:nvPr/>
        </p:nvSpPr>
        <p:spPr>
          <a:xfrm>
            <a:off x="6126480" y="3172968"/>
            <a:ext cx="2468880" cy="800100"/>
          </a:xfrm>
          <a:prstGeom prst="rect">
            <a:avLst/>
          </a:prstGeom>
          <a:noFill/>
          <a:ln/>
        </p:spPr>
        <p:txBody>
          <a:bodyPr wrap="square" lIns="0" tIns="0" rIns="0" bIns="0" rtlCol="0" anchor="ctr"/>
          <a:lstStyle/>
          <a:p>
            <a:pPr marL="0" indent="0" algn="l">
              <a:buNone/>
            </a:pPr>
            <a:r>
              <a:rPr lang="en-US" sz="4000" b="1" dirty="0">
                <a:solidFill>
                  <a:schemeClr val="accent6"/>
                </a:solidFill>
              </a:rPr>
              <a:t>35%</a:t>
            </a:r>
            <a:endParaRPr lang="en-US" sz="4000" dirty="0"/>
          </a:p>
        </p:txBody>
      </p:sp>
      <p:sp>
        <p:nvSpPr>
          <p:cNvPr id="22" name="Text 19"/>
          <p:cNvSpPr txBox="1"/>
          <p:nvPr/>
        </p:nvSpPr>
        <p:spPr>
          <a:xfrm>
            <a:off x="6172200" y="3991356"/>
            <a:ext cx="2377440" cy="576072"/>
          </a:xfrm>
          <a:prstGeom prst="rect">
            <a:avLst/>
          </a:prstGeom>
          <a:noFill/>
          <a:ln/>
        </p:spPr>
        <p:txBody>
          <a:bodyPr wrap="square" lIns="0" tIns="0" rIns="0" bIns="0" rtlCol="0" anchor="t"/>
          <a:lstStyle/>
          <a:p>
            <a:pPr marL="0" indent="0" algn="l">
              <a:buNone/>
            </a:pPr>
            <a:r>
              <a:rPr lang="en-US" sz="1400" dirty="0">
                <a:solidFill>
                  <a:schemeClr val="bg1"/>
                </a:solidFill>
              </a:rPr>
              <a:t>Autonomous steering ratio (0.35)</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943600" y="914400"/>
            <a:ext cx="2926080" cy="2011680"/>
          </a:xfrm>
          <a:prstGeom prst="rect">
            <a:avLst/>
          </a:prstGeom>
          <a:noFill/>
          <a:ln/>
        </p:spPr>
        <p:txBody>
          <a:bodyPr wrap="square" lIns="0" tIns="0" rIns="0" bIns="0" rtlCol="0" anchor="ctr"/>
          <a:lstStyle/>
          <a:p>
            <a:pPr marL="0" indent="0" algn="ctr">
              <a:buNone/>
            </a:pPr>
            <a:r>
              <a:rPr lang="en-US" sz="11000" b="1" dirty="0">
                <a:solidFill>
                  <a:schemeClr val="bg1"/>
                </a:solidFill>
              </a:rPr>
              <a:t>04</a:t>
            </a:r>
            <a:endParaRPr lang="en-US" sz="11000" dirty="0"/>
          </a:p>
        </p:txBody>
      </p:sp>
      <p:sp>
        <p:nvSpPr>
          <p:cNvPr id="3" name="icon-bg FaCamera"/>
          <p:cNvSpPr/>
          <p:nvPr/>
        </p:nvSpPr>
        <p:spPr>
          <a:xfrm>
            <a:off x="6903720" y="3200400"/>
            <a:ext cx="1005840" cy="100584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Camera"/>
          <p:cNvPicPr>
            <a:picLocks noChangeAspect="1"/>
          </p:cNvPicPr>
          <p:nvPr/>
        </p:nvPicPr>
        <p:blipFill>
          <a:blip r:embed="rId3"/>
          <a:stretch>
            <a:fillRect/>
          </a:stretch>
        </p:blipFill>
        <p:spPr>
          <a:xfrm>
            <a:off x="7155180" y="3451860"/>
            <a:ext cx="502920" cy="502920"/>
          </a:xfrm>
          <a:prstGeom prst="rect">
            <a:avLst/>
          </a:prstGeom>
        </p:spPr>
      </p:pic>
      <p:sp>
        <p:nvSpPr>
          <p:cNvPr id="5" name="Text 1"/>
          <p:cNvSpPr>
            <a:spLocks noGrp="1"/>
          </p:cNvSpPr>
          <p:nvPr>
            <p:ph type="title" idx="101" hasCustomPrompt="1"/>
          </p:nvPr>
        </p:nvSpPr>
        <p:spPr>
          <a:xfrm>
            <a:off x="457200" y="1554480"/>
            <a:ext cx="4846320" cy="1280160"/>
          </a:xfrm>
          <a:prstGeom prst="rect">
            <a:avLst/>
          </a:prstGeom>
          <a:noFill/>
          <a:ln/>
        </p:spPr>
        <p:txBody>
          <a:bodyPr wrap="square" lIns="0" tIns="0" rIns="0" bIns="0" rtlCol="0" anchor="ctr"/>
          <a:lstStyle/>
          <a:p>
            <a:pPr marL="0" indent="0" algn="l">
              <a:buNone/>
            </a:pPr>
            <a:r>
              <a:rPr lang="en-US" sz="4400" b="1" dirty="0">
                <a:solidFill>
                  <a:schemeClr val="bg1"/>
                </a:solidFill>
              </a:rPr>
              <a:t>Camera &amp; Gripper</a:t>
            </a:r>
            <a:endParaRPr lang="en-US" sz="4400" dirty="0"/>
          </a:p>
        </p:txBody>
      </p:sp>
      <p:sp>
        <p:nvSpPr>
          <p:cNvPr id="6" name="Text 1"/>
          <p:cNvSpPr>
            <a:spLocks noGrp="1"/>
          </p:cNvSpPr>
          <p:nvPr>
            <p:ph type="body" idx="102" hasCustomPrompt="1"/>
          </p:nvPr>
        </p:nvSpPr>
        <p:spPr>
          <a:xfrm>
            <a:off x="457200" y="2971800"/>
            <a:ext cx="4846320" cy="914400"/>
          </a:xfrm>
          <a:prstGeom prst="rect">
            <a:avLst/>
          </a:prstGeom>
          <a:noFill/>
          <a:ln/>
        </p:spPr>
        <p:txBody>
          <a:bodyPr wrap="square" lIns="0" tIns="0" rIns="0" bIns="0" rtlCol="0" anchor="t"/>
          <a:lstStyle/>
          <a:p>
            <a:pPr marL="0" indent="0" algn="l">
              <a:buNone/>
            </a:pPr>
            <a:r>
              <a:rPr lang="en-US" sz="1800" dirty="0">
                <a:solidFill>
                  <a:schemeClr val="accent2"/>
                </a:solidFill>
              </a:rPr>
              <a:t>UART • Edge Impulse • Servo</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Camera UART Link</a:t>
            </a:r>
            <a:endParaRPr lang="en-US" sz="3400" dirty="0"/>
          </a:p>
        </p:txBody>
      </p:sp>
      <p:sp>
        <p:nvSpPr>
          <p:cNvPr id="3" name="icon-bg FaCamera"/>
          <p:cNvSpPr/>
          <p:nvPr/>
        </p:nvSpPr>
        <p:spPr>
          <a:xfrm>
            <a:off x="457200" y="320040"/>
            <a:ext cx="685800" cy="68580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Camera"/>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4023360" cy="1874520"/>
          </a:xfrm>
          <a:prstGeom prst="roundRect">
            <a:avLst>
              <a:gd name="adj" fmla="val 5854"/>
            </a:avLst>
          </a:prstGeom>
          <a:solidFill>
            <a:schemeClr val="tx2"/>
          </a:solidFill>
          <a:ln w="12700">
            <a:solidFill>
              <a:schemeClr val="accent2"/>
            </a:solidFill>
            <a:prstDash val="solid"/>
          </a:ln>
        </p:spPr>
        <p:txBody>
          <a:bodyPr/>
          <a:lstStyle/>
          <a:p>
            <a:endParaRPr lang="en-US"/>
          </a:p>
        </p:txBody>
      </p:sp>
      <p:sp>
        <p:nvSpPr>
          <p:cNvPr id="6" name="Text 3"/>
          <p:cNvSpPr txBox="1"/>
          <p:nvPr/>
        </p:nvSpPr>
        <p:spPr>
          <a:xfrm>
            <a:off x="594360" y="1389888"/>
            <a:ext cx="3749040" cy="274320"/>
          </a:xfrm>
          <a:prstGeom prst="rect">
            <a:avLst/>
          </a:prstGeom>
          <a:noFill/>
          <a:ln/>
        </p:spPr>
        <p:txBody>
          <a:bodyPr wrap="square" lIns="0" tIns="0" rIns="0" bIns="0" rtlCol="0" anchor="t"/>
          <a:lstStyle/>
          <a:p>
            <a:pPr marL="0" indent="0" algn="l">
              <a:buNone/>
            </a:pPr>
            <a:r>
              <a:rPr lang="en-US" sz="1300" b="1" dirty="0">
                <a:solidFill>
                  <a:schemeClr val="accent2"/>
                </a:solidFill>
              </a:rPr>
              <a:t>Wiring</a:t>
            </a:r>
            <a:endParaRPr lang="en-US" sz="1300" dirty="0"/>
          </a:p>
        </p:txBody>
      </p:sp>
      <p:sp>
        <p:nvSpPr>
          <p:cNvPr id="7" name="Text 4"/>
          <p:cNvSpPr txBox="1"/>
          <p:nvPr/>
        </p:nvSpPr>
        <p:spPr>
          <a:xfrm>
            <a:off x="594360" y="1737360"/>
            <a:ext cx="3749040" cy="1371600"/>
          </a:xfrm>
          <a:prstGeom prst="rect">
            <a:avLst/>
          </a:prstGeom>
          <a:noFill/>
          <a:ln/>
        </p:spPr>
        <p:txBody>
          <a:bodyPr wrap="square" lIns="0" tIns="0" rIns="0" bIns="0" rtlCol="0" anchor="t"/>
          <a:lstStyle/>
          <a:p>
            <a:pPr marL="0" indent="0" algn="l">
              <a:buNone/>
            </a:pPr>
            <a:r>
              <a:rPr lang="en-US" sz="1200" dirty="0">
                <a:solidFill>
                  <a:schemeClr val="bg1"/>
                </a:solidFill>
                <a:latin typeface="Courier New" pitchFamily="34" charset="0"/>
                <a:ea typeface="Courier New" pitchFamily="34" charset="-122"/>
                <a:cs typeface="Courier New" pitchFamily="34" charset="-120"/>
              </a:rPr>
              <a:t>MAIN GPIO32 TX → CAM GPIO3 RX</a:t>
            </a:r>
            <a:endParaRPr lang="en-US" sz="1200" dirty="0"/>
          </a:p>
          <a:p>
            <a:pPr marL="0" indent="0" algn="l">
              <a:buNone/>
            </a:pPr>
            <a:r>
              <a:rPr lang="en-US" sz="1200" dirty="0">
                <a:solidFill>
                  <a:schemeClr val="bg1"/>
                </a:solidFill>
                <a:latin typeface="Courier New" pitchFamily="34" charset="0"/>
                <a:ea typeface="Courier New" pitchFamily="34" charset="-122"/>
                <a:cs typeface="Courier New" pitchFamily="34" charset="-120"/>
              </a:rPr>
              <a:t>MAIN GPIO33 RX ← CAM GPIO1 TX</a:t>
            </a:r>
            <a:endParaRPr lang="en-US" sz="1200" dirty="0"/>
          </a:p>
          <a:p>
            <a:pPr marL="0" indent="0" algn="l">
              <a:buNone/>
            </a:pPr>
            <a:r>
              <a:rPr lang="en-US" sz="1200" dirty="0">
                <a:solidFill>
                  <a:schemeClr val="bg1"/>
                </a:solidFill>
                <a:latin typeface="Courier New" pitchFamily="34" charset="0"/>
                <a:ea typeface="Courier New" pitchFamily="34" charset="-122"/>
                <a:cs typeface="Courier New" pitchFamily="34" charset="-120"/>
              </a:rPr>
              <a:t>MAIN GND       → CAM GND</a:t>
            </a:r>
            <a:endParaRPr lang="en-US" sz="1200" dirty="0"/>
          </a:p>
          <a:p>
            <a:pPr marL="0" indent="0" algn="l">
              <a:buNone/>
            </a:pPr>
            <a:r>
              <a:rPr lang="en-US" sz="1200" dirty="0">
                <a:solidFill>
                  <a:schemeClr val="bg1"/>
                </a:solidFill>
                <a:latin typeface="Courier New" pitchFamily="34" charset="0"/>
                <a:ea typeface="Courier New" pitchFamily="34" charset="-122"/>
                <a:cs typeface="Courier New" pitchFamily="34" charset="-120"/>
              </a:rPr>
              <a:t>Baud 115200</a:t>
            </a:r>
            <a:endParaRPr lang="en-US" sz="1200" dirty="0"/>
          </a:p>
        </p:txBody>
      </p:sp>
      <p:sp>
        <p:nvSpPr>
          <p:cNvPr id="8" name="card"/>
          <p:cNvSpPr/>
          <p:nvPr/>
        </p:nvSpPr>
        <p:spPr>
          <a:xfrm>
            <a:off x="4663440" y="1325880"/>
            <a:ext cx="4023360" cy="1874520"/>
          </a:xfrm>
          <a:prstGeom prst="roundRect">
            <a:avLst>
              <a:gd name="adj" fmla="val 5854"/>
            </a:avLst>
          </a:prstGeom>
          <a:solidFill>
            <a:schemeClr val="tx2"/>
          </a:solidFill>
          <a:ln w="12700">
            <a:solidFill>
              <a:schemeClr val="accent2"/>
            </a:solidFill>
            <a:prstDash val="solid"/>
          </a:ln>
        </p:spPr>
        <p:txBody>
          <a:bodyPr/>
          <a:lstStyle/>
          <a:p>
            <a:endParaRPr lang="en-US"/>
          </a:p>
        </p:txBody>
      </p:sp>
      <p:sp>
        <p:nvSpPr>
          <p:cNvPr id="9" name="Text 6"/>
          <p:cNvSpPr txBox="1"/>
          <p:nvPr/>
        </p:nvSpPr>
        <p:spPr>
          <a:xfrm>
            <a:off x="4800600" y="1389888"/>
            <a:ext cx="3749040" cy="274320"/>
          </a:xfrm>
          <a:prstGeom prst="rect">
            <a:avLst/>
          </a:prstGeom>
          <a:noFill/>
          <a:ln/>
        </p:spPr>
        <p:txBody>
          <a:bodyPr wrap="square" lIns="0" tIns="0" rIns="0" bIns="0" rtlCol="0" anchor="t"/>
          <a:lstStyle/>
          <a:p>
            <a:pPr marL="0" indent="0" algn="l">
              <a:buNone/>
            </a:pPr>
            <a:r>
              <a:rPr lang="en-US" sz="1300" b="1" dirty="0">
                <a:solidFill>
                  <a:schemeClr val="accent2"/>
                </a:solidFill>
              </a:rPr>
              <a:t>Protocol</a:t>
            </a:r>
            <a:endParaRPr lang="en-US" sz="1300" dirty="0"/>
          </a:p>
        </p:txBody>
      </p:sp>
      <p:sp>
        <p:nvSpPr>
          <p:cNvPr id="10" name="Text 7"/>
          <p:cNvSpPr txBox="1"/>
          <p:nvPr/>
        </p:nvSpPr>
        <p:spPr>
          <a:xfrm>
            <a:off x="4800600" y="1737360"/>
            <a:ext cx="3749040" cy="1371600"/>
          </a:xfrm>
          <a:prstGeom prst="rect">
            <a:avLst/>
          </a:prstGeom>
          <a:noFill/>
          <a:ln/>
        </p:spPr>
        <p:txBody>
          <a:bodyPr wrap="square" lIns="0" tIns="0" rIns="0" bIns="0" rtlCol="0" anchor="t"/>
          <a:lstStyle/>
          <a:p>
            <a:pPr marL="0" indent="0" algn="l">
              <a:buNone/>
            </a:pPr>
            <a:r>
              <a:rPr lang="en-US" sz="1200" dirty="0">
                <a:solidFill>
                  <a:schemeClr val="bg1"/>
                </a:solidFill>
                <a:latin typeface="Courier New" pitchFamily="34" charset="0"/>
                <a:ea typeface="Courier New" pitchFamily="34" charset="-122"/>
                <a:cs typeface="Courier New" pitchFamily="34" charset="-120"/>
              </a:rPr>
              <a:t>Main → Cam : CAM_ON | CAM_OFF</a:t>
            </a:r>
            <a:endParaRPr lang="en-US" sz="1200" dirty="0"/>
          </a:p>
          <a:p>
            <a:pPr marL="0" indent="0" algn="l">
              <a:buNone/>
            </a:pPr>
            <a:r>
              <a:rPr lang="en-US" sz="1200" dirty="0">
                <a:solidFill>
                  <a:schemeClr val="bg1"/>
                </a:solidFill>
                <a:latin typeface="Courier New" pitchFamily="34" charset="0"/>
                <a:ea typeface="Courier New" pitchFamily="34" charset="-122"/>
                <a:cs typeface="Courier New" pitchFamily="34" charset="-120"/>
              </a:rPr>
              <a:t>              FLASH_ON | FLASH_OFF</a:t>
            </a:r>
            <a:endParaRPr lang="en-US" sz="1200" dirty="0"/>
          </a:p>
          <a:p>
            <a:pPr marL="0" indent="0" algn="l">
              <a:buNone/>
            </a:pPr>
            <a:r>
              <a:rPr lang="en-US" sz="1200" dirty="0">
                <a:solidFill>
                  <a:schemeClr val="bg1"/>
                </a:solidFill>
                <a:latin typeface="Courier New" pitchFamily="34" charset="0"/>
                <a:ea typeface="Courier New" pitchFamily="34" charset="-122"/>
                <a:cs typeface="Courier New" pitchFamily="34" charset="-120"/>
              </a:rPr>
              <a:t>Cam → Main : CAM_STATE:ON/OFF</a:t>
            </a:r>
            <a:endParaRPr lang="en-US" sz="1200" dirty="0"/>
          </a:p>
          <a:p>
            <a:pPr marL="0" indent="0" algn="l">
              <a:buNone/>
            </a:pPr>
            <a:r>
              <a:rPr lang="en-US" sz="1200" dirty="0">
                <a:solidFill>
                  <a:schemeClr val="bg1"/>
                </a:solidFill>
                <a:latin typeface="Courier New" pitchFamily="34" charset="0"/>
                <a:ea typeface="Courier New" pitchFamily="34" charset="-122"/>
                <a:cs typeface="Courier New" pitchFamily="34" charset="-120"/>
              </a:rPr>
              <a:t>              CAM_FLASH:ON/OFF</a:t>
            </a:r>
            <a:endParaRPr lang="en-US" sz="1200" dirty="0"/>
          </a:p>
          <a:p>
            <a:pPr marL="0" indent="0" algn="l">
              <a:buNone/>
            </a:pPr>
            <a:r>
              <a:rPr lang="en-US" sz="1200" dirty="0">
                <a:solidFill>
                  <a:schemeClr val="bg1"/>
                </a:solidFill>
                <a:latin typeface="Courier New" pitchFamily="34" charset="0"/>
                <a:ea typeface="Courier New" pitchFamily="34" charset="-122"/>
                <a:cs typeface="Courier New" pitchFamily="34" charset="-120"/>
              </a:rPr>
              <a:t>              CAM_IP:192.168.4.X</a:t>
            </a:r>
            <a:endParaRPr lang="en-US" sz="1200" dirty="0"/>
          </a:p>
        </p:txBody>
      </p:sp>
      <p:sp>
        <p:nvSpPr>
          <p:cNvPr id="11" name="card"/>
          <p:cNvSpPr/>
          <p:nvPr/>
        </p:nvSpPr>
        <p:spPr>
          <a:xfrm>
            <a:off x="457200" y="3383280"/>
            <a:ext cx="2651760" cy="1234440"/>
          </a:xfrm>
          <a:prstGeom prst="roundRect">
            <a:avLst>
              <a:gd name="adj" fmla="val 8889"/>
            </a:avLst>
          </a:prstGeom>
          <a:solidFill>
            <a:schemeClr val="tx2"/>
          </a:solidFill>
          <a:ln w="12700">
            <a:solidFill>
              <a:schemeClr val="accent4"/>
            </a:solidFill>
            <a:prstDash val="solid"/>
          </a:ln>
        </p:spPr>
        <p:txBody>
          <a:bodyPr/>
          <a:lstStyle/>
          <a:p>
            <a:endParaRPr lang="en-US"/>
          </a:p>
        </p:txBody>
      </p:sp>
      <p:sp>
        <p:nvSpPr>
          <p:cNvPr id="12" name="Text 9"/>
          <p:cNvSpPr txBox="1"/>
          <p:nvPr/>
        </p:nvSpPr>
        <p:spPr>
          <a:xfrm>
            <a:off x="548640" y="3493008"/>
            <a:ext cx="2468880" cy="617220"/>
          </a:xfrm>
          <a:prstGeom prst="rect">
            <a:avLst/>
          </a:prstGeom>
          <a:noFill/>
          <a:ln/>
        </p:spPr>
        <p:txBody>
          <a:bodyPr wrap="square" lIns="0" tIns="0" rIns="0" bIns="0" rtlCol="0" anchor="ctr"/>
          <a:lstStyle/>
          <a:p>
            <a:pPr marL="0" indent="0" algn="l">
              <a:buNone/>
            </a:pPr>
            <a:r>
              <a:rPr lang="en-US" sz="3200" b="1" dirty="0">
                <a:solidFill>
                  <a:schemeClr val="accent2"/>
                </a:solidFill>
              </a:rPr>
              <a:t>400ms</a:t>
            </a:r>
            <a:endParaRPr lang="en-US" sz="3200" dirty="0"/>
          </a:p>
        </p:txBody>
      </p:sp>
      <p:sp>
        <p:nvSpPr>
          <p:cNvPr id="13" name="Text 10"/>
          <p:cNvSpPr txBox="1"/>
          <p:nvPr/>
        </p:nvSpPr>
        <p:spPr>
          <a:xfrm>
            <a:off x="594360" y="4099255"/>
            <a:ext cx="2377440" cy="444398"/>
          </a:xfrm>
          <a:prstGeom prst="rect">
            <a:avLst/>
          </a:prstGeom>
          <a:noFill/>
          <a:ln/>
        </p:spPr>
        <p:txBody>
          <a:bodyPr wrap="square" lIns="0" tIns="0" rIns="0" bIns="0" rtlCol="0" anchor="t"/>
          <a:lstStyle/>
          <a:p>
            <a:pPr marL="0" indent="0" algn="l">
              <a:buNone/>
            </a:pPr>
            <a:r>
              <a:rPr lang="en-US" sz="1400" dirty="0">
                <a:solidFill>
                  <a:schemeClr val="bg1"/>
                </a:solidFill>
              </a:rPr>
              <a:t>Command retry interval</a:t>
            </a:r>
            <a:endParaRPr lang="en-US" sz="1400" dirty="0"/>
          </a:p>
        </p:txBody>
      </p:sp>
      <p:sp>
        <p:nvSpPr>
          <p:cNvPr id="14" name="card"/>
          <p:cNvSpPr/>
          <p:nvPr/>
        </p:nvSpPr>
        <p:spPr>
          <a:xfrm>
            <a:off x="3246120" y="3383280"/>
            <a:ext cx="2651760" cy="1234440"/>
          </a:xfrm>
          <a:prstGeom prst="roundRect">
            <a:avLst>
              <a:gd name="adj" fmla="val 8889"/>
            </a:avLst>
          </a:prstGeom>
          <a:solidFill>
            <a:schemeClr val="tx2"/>
          </a:solidFill>
          <a:ln w="12700">
            <a:solidFill>
              <a:schemeClr val="accent4"/>
            </a:solidFill>
            <a:prstDash val="solid"/>
          </a:ln>
        </p:spPr>
        <p:txBody>
          <a:bodyPr/>
          <a:lstStyle/>
          <a:p>
            <a:endParaRPr lang="en-US"/>
          </a:p>
        </p:txBody>
      </p:sp>
      <p:sp>
        <p:nvSpPr>
          <p:cNvPr id="15" name="Text 12"/>
          <p:cNvSpPr txBox="1"/>
          <p:nvPr/>
        </p:nvSpPr>
        <p:spPr>
          <a:xfrm>
            <a:off x="3337560" y="3493008"/>
            <a:ext cx="2468880" cy="617220"/>
          </a:xfrm>
          <a:prstGeom prst="rect">
            <a:avLst/>
          </a:prstGeom>
          <a:noFill/>
          <a:ln/>
        </p:spPr>
        <p:txBody>
          <a:bodyPr wrap="square" lIns="0" tIns="0" rIns="0" bIns="0" rtlCol="0" anchor="ctr"/>
          <a:lstStyle/>
          <a:p>
            <a:pPr marL="0" indent="0" algn="l">
              <a:buNone/>
            </a:pPr>
            <a:r>
              <a:rPr lang="en-US" sz="3200" b="1" dirty="0">
                <a:solidFill>
                  <a:schemeClr val="accent6"/>
                </a:solidFill>
              </a:rPr>
              <a:t>10</a:t>
            </a:r>
            <a:endParaRPr lang="en-US" sz="3200" dirty="0"/>
          </a:p>
        </p:txBody>
      </p:sp>
      <p:sp>
        <p:nvSpPr>
          <p:cNvPr id="16" name="Text 13"/>
          <p:cNvSpPr txBox="1"/>
          <p:nvPr/>
        </p:nvSpPr>
        <p:spPr>
          <a:xfrm>
            <a:off x="3383280" y="4099255"/>
            <a:ext cx="2377440" cy="444398"/>
          </a:xfrm>
          <a:prstGeom prst="rect">
            <a:avLst/>
          </a:prstGeom>
          <a:noFill/>
          <a:ln/>
        </p:spPr>
        <p:txBody>
          <a:bodyPr wrap="square" lIns="0" tIns="0" rIns="0" bIns="0" rtlCol="0" anchor="t"/>
          <a:lstStyle/>
          <a:p>
            <a:pPr marL="0" indent="0" algn="l">
              <a:buNone/>
            </a:pPr>
            <a:r>
              <a:rPr lang="en-US" sz="1400" dirty="0">
                <a:solidFill>
                  <a:schemeClr val="bg1"/>
                </a:solidFill>
              </a:rPr>
              <a:t>Max tries, then NO LINK</a:t>
            </a:r>
            <a:endParaRPr lang="en-US" sz="1400" dirty="0"/>
          </a:p>
        </p:txBody>
      </p:sp>
      <p:sp>
        <p:nvSpPr>
          <p:cNvPr id="17" name="card"/>
          <p:cNvSpPr/>
          <p:nvPr/>
        </p:nvSpPr>
        <p:spPr>
          <a:xfrm>
            <a:off x="6035040" y="3383280"/>
            <a:ext cx="2651760" cy="1234440"/>
          </a:xfrm>
          <a:prstGeom prst="roundRect">
            <a:avLst>
              <a:gd name="adj" fmla="val 8889"/>
            </a:avLst>
          </a:prstGeom>
          <a:solidFill>
            <a:schemeClr val="tx2"/>
          </a:solidFill>
          <a:ln w="12700">
            <a:solidFill>
              <a:schemeClr val="accent4"/>
            </a:solidFill>
            <a:prstDash val="solid"/>
          </a:ln>
        </p:spPr>
        <p:txBody>
          <a:bodyPr/>
          <a:lstStyle/>
          <a:p>
            <a:endParaRPr lang="en-US"/>
          </a:p>
        </p:txBody>
      </p:sp>
      <p:sp>
        <p:nvSpPr>
          <p:cNvPr id="18" name="Text 15"/>
          <p:cNvSpPr txBox="1"/>
          <p:nvPr/>
        </p:nvSpPr>
        <p:spPr>
          <a:xfrm>
            <a:off x="6126480" y="3493008"/>
            <a:ext cx="2468880" cy="617220"/>
          </a:xfrm>
          <a:prstGeom prst="rect">
            <a:avLst/>
          </a:prstGeom>
          <a:noFill/>
          <a:ln/>
        </p:spPr>
        <p:txBody>
          <a:bodyPr wrap="square" lIns="0" tIns="0" rIns="0" bIns="0" rtlCol="0" anchor="ctr"/>
          <a:lstStyle/>
          <a:p>
            <a:pPr marL="0" indent="0" algn="l">
              <a:buNone/>
            </a:pPr>
            <a:r>
              <a:rPr lang="en-US" sz="3200" b="1" dirty="0">
                <a:solidFill>
                  <a:schemeClr val="accent2"/>
                </a:solidFill>
              </a:rPr>
              <a:t>4s</a:t>
            </a:r>
            <a:endParaRPr lang="en-US" sz="3200" dirty="0"/>
          </a:p>
        </p:txBody>
      </p:sp>
      <p:sp>
        <p:nvSpPr>
          <p:cNvPr id="19" name="Text 16"/>
          <p:cNvSpPr txBox="1"/>
          <p:nvPr/>
        </p:nvSpPr>
        <p:spPr>
          <a:xfrm>
            <a:off x="6172200" y="4099255"/>
            <a:ext cx="2377440" cy="444398"/>
          </a:xfrm>
          <a:prstGeom prst="rect">
            <a:avLst/>
          </a:prstGeom>
          <a:noFill/>
          <a:ln/>
        </p:spPr>
        <p:txBody>
          <a:bodyPr wrap="square" lIns="0" tIns="0" rIns="0" bIns="0" rtlCol="0" anchor="t"/>
          <a:lstStyle/>
          <a:p>
            <a:pPr marL="0" indent="0" algn="l">
              <a:buNone/>
            </a:pPr>
            <a:r>
              <a:rPr lang="en-US" sz="1400" dirty="0">
                <a:solidFill>
                  <a:schemeClr val="bg1"/>
                </a:solidFill>
              </a:rPr>
              <a:t>Heartbeat timeout</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Shape Detection (Edge Impulse)</a:t>
            </a:r>
            <a:endParaRPr lang="en-US" sz="3400" dirty="0"/>
          </a:p>
        </p:txBody>
      </p:sp>
      <p:sp>
        <p:nvSpPr>
          <p:cNvPr id="3" name="icon-bg FaEye"/>
          <p:cNvSpPr/>
          <p:nvPr/>
        </p:nvSpPr>
        <p:spPr>
          <a:xfrm>
            <a:off x="457200" y="320040"/>
            <a:ext cx="685800" cy="685800"/>
          </a:xfrm>
          <a:prstGeom prst="ellipse">
            <a:avLst/>
          </a:prstGeom>
          <a:solidFill>
            <a:schemeClr val="accent1"/>
          </a:solidFill>
          <a:ln w="12700">
            <a:solidFill>
              <a:schemeClr val="accent1"/>
            </a:solidFill>
            <a:prstDash val="solid"/>
          </a:ln>
        </p:spPr>
        <p:txBody>
          <a:bodyPr/>
          <a:lstStyle/>
          <a:p>
            <a:endParaRPr lang="en-US"/>
          </a:p>
        </p:txBody>
      </p:sp>
      <p:pic>
        <p:nvPicPr>
          <p:cNvPr id="4" name="Image 0" descr="FaEye"/>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1783080" cy="1828800"/>
          </a:xfrm>
          <a:prstGeom prst="roundRect">
            <a:avLst>
              <a:gd name="adj" fmla="val 6154"/>
            </a:avLst>
          </a:prstGeom>
          <a:solidFill>
            <a:schemeClr val="tx2"/>
          </a:solidFill>
          <a:ln w="12700">
            <a:solidFill>
              <a:schemeClr val="accent4"/>
            </a:solidFill>
            <a:prstDash val="solid"/>
          </a:ln>
        </p:spPr>
        <p:txBody>
          <a:bodyPr/>
          <a:lstStyle/>
          <a:p>
            <a:endParaRPr lang="en-US"/>
          </a:p>
        </p:txBody>
      </p:sp>
      <p:sp>
        <p:nvSpPr>
          <p:cNvPr id="6" name="icon-bg FaCamera"/>
          <p:cNvSpPr/>
          <p:nvPr/>
        </p:nvSpPr>
        <p:spPr>
          <a:xfrm>
            <a:off x="1097280" y="1444752"/>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7" name="Image 1" descr="FaCamera"/>
          <p:cNvPicPr>
            <a:picLocks noChangeAspect="1"/>
          </p:cNvPicPr>
          <p:nvPr/>
        </p:nvPicPr>
        <p:blipFill>
          <a:blip r:embed="rId4"/>
          <a:stretch>
            <a:fillRect/>
          </a:stretch>
        </p:blipFill>
        <p:spPr>
          <a:xfrm>
            <a:off x="1223010" y="1570482"/>
            <a:ext cx="251460" cy="251460"/>
          </a:xfrm>
          <a:prstGeom prst="rect">
            <a:avLst/>
          </a:prstGeom>
        </p:spPr>
      </p:pic>
      <p:sp>
        <p:nvSpPr>
          <p:cNvPr id="8" name="Text 4"/>
          <p:cNvSpPr txBox="1"/>
          <p:nvPr/>
        </p:nvSpPr>
        <p:spPr>
          <a:xfrm>
            <a:off x="548640" y="2011680"/>
            <a:ext cx="1600200" cy="274320"/>
          </a:xfrm>
          <a:prstGeom prst="rect">
            <a:avLst/>
          </a:prstGeom>
          <a:noFill/>
          <a:ln/>
        </p:spPr>
        <p:txBody>
          <a:bodyPr wrap="square" lIns="0" tIns="0" rIns="0" bIns="0" rtlCol="0" anchor="t"/>
          <a:lstStyle/>
          <a:p>
            <a:pPr marL="0" indent="0" algn="ctr">
              <a:buNone/>
            </a:pPr>
            <a:r>
              <a:rPr lang="en-US" sz="1500" b="1" dirty="0">
                <a:solidFill>
                  <a:schemeClr val="accent2"/>
                </a:solidFill>
              </a:rPr>
              <a:t>Camera</a:t>
            </a:r>
            <a:endParaRPr lang="en-US" sz="1500" dirty="0"/>
          </a:p>
        </p:txBody>
      </p:sp>
      <p:sp>
        <p:nvSpPr>
          <p:cNvPr id="9" name="Text 5"/>
          <p:cNvSpPr txBox="1"/>
          <p:nvPr/>
        </p:nvSpPr>
        <p:spPr>
          <a:xfrm>
            <a:off x="548640" y="2304288"/>
            <a:ext cx="1600200" cy="822960"/>
          </a:xfrm>
          <a:prstGeom prst="rect">
            <a:avLst/>
          </a:prstGeom>
          <a:noFill/>
          <a:ln/>
        </p:spPr>
        <p:txBody>
          <a:bodyPr wrap="square" lIns="0" tIns="0" rIns="0" bIns="0" rtlCol="0" anchor="t"/>
          <a:lstStyle/>
          <a:p>
            <a:pPr marL="0" indent="0" algn="ctr">
              <a:buNone/>
            </a:pPr>
            <a:r>
              <a:rPr lang="en-US" sz="1400" dirty="0">
                <a:solidFill>
                  <a:schemeClr val="bg1"/>
                </a:solidFill>
              </a:rPr>
              <a:t>Serves images at /capture</a:t>
            </a:r>
            <a:endParaRPr lang="en-US" sz="1400" dirty="0"/>
          </a:p>
        </p:txBody>
      </p:sp>
      <p:pic>
        <p:nvPicPr>
          <p:cNvPr id="10" name="Image 2" descr="next"/>
          <p:cNvPicPr>
            <a:picLocks noChangeAspect="1"/>
          </p:cNvPicPr>
          <p:nvPr/>
        </p:nvPicPr>
        <p:blipFill>
          <a:blip r:embed="rId5"/>
          <a:stretch>
            <a:fillRect/>
          </a:stretch>
        </p:blipFill>
        <p:spPr>
          <a:xfrm>
            <a:off x="2304288" y="2011680"/>
            <a:ext cx="228600" cy="228600"/>
          </a:xfrm>
          <a:prstGeom prst="rect">
            <a:avLst/>
          </a:prstGeom>
        </p:spPr>
      </p:pic>
      <p:sp>
        <p:nvSpPr>
          <p:cNvPr id="11" name="card"/>
          <p:cNvSpPr/>
          <p:nvPr/>
        </p:nvSpPr>
        <p:spPr>
          <a:xfrm>
            <a:off x="2606040" y="1325880"/>
            <a:ext cx="1783080" cy="1828800"/>
          </a:xfrm>
          <a:prstGeom prst="roundRect">
            <a:avLst>
              <a:gd name="adj" fmla="val 6154"/>
            </a:avLst>
          </a:prstGeom>
          <a:solidFill>
            <a:schemeClr val="tx2"/>
          </a:solidFill>
          <a:ln w="12700">
            <a:solidFill>
              <a:schemeClr val="accent4"/>
            </a:solidFill>
            <a:prstDash val="solid"/>
          </a:ln>
        </p:spPr>
        <p:txBody>
          <a:bodyPr/>
          <a:lstStyle/>
          <a:p>
            <a:endParaRPr lang="en-US"/>
          </a:p>
        </p:txBody>
      </p:sp>
      <p:sp>
        <p:nvSpPr>
          <p:cNvPr id="12" name="icon-bg FaLaptopCode"/>
          <p:cNvSpPr/>
          <p:nvPr/>
        </p:nvSpPr>
        <p:spPr>
          <a:xfrm>
            <a:off x="3246120" y="1444752"/>
            <a:ext cx="502920" cy="502920"/>
          </a:xfrm>
          <a:prstGeom prst="ellipse">
            <a:avLst/>
          </a:prstGeom>
          <a:solidFill>
            <a:schemeClr val="accent2"/>
          </a:solidFill>
          <a:ln w="12700">
            <a:solidFill>
              <a:schemeClr val="accent2"/>
            </a:solidFill>
            <a:prstDash val="solid"/>
          </a:ln>
        </p:spPr>
        <p:txBody>
          <a:bodyPr/>
          <a:lstStyle/>
          <a:p>
            <a:endParaRPr lang="en-US"/>
          </a:p>
        </p:txBody>
      </p:sp>
      <p:pic>
        <p:nvPicPr>
          <p:cNvPr id="13" name="Image 3" descr="FaLaptopCode"/>
          <p:cNvPicPr>
            <a:picLocks noChangeAspect="1"/>
          </p:cNvPicPr>
          <p:nvPr/>
        </p:nvPicPr>
        <p:blipFill>
          <a:blip r:embed="rId6"/>
          <a:stretch>
            <a:fillRect/>
          </a:stretch>
        </p:blipFill>
        <p:spPr>
          <a:xfrm>
            <a:off x="3371850" y="1570482"/>
            <a:ext cx="251460" cy="251460"/>
          </a:xfrm>
          <a:prstGeom prst="rect">
            <a:avLst/>
          </a:prstGeom>
        </p:spPr>
      </p:pic>
      <p:sp>
        <p:nvSpPr>
          <p:cNvPr id="14" name="Text 8"/>
          <p:cNvSpPr txBox="1"/>
          <p:nvPr/>
        </p:nvSpPr>
        <p:spPr>
          <a:xfrm>
            <a:off x="2697480" y="2011680"/>
            <a:ext cx="1600200" cy="274320"/>
          </a:xfrm>
          <a:prstGeom prst="rect">
            <a:avLst/>
          </a:prstGeom>
          <a:noFill/>
          <a:ln/>
        </p:spPr>
        <p:txBody>
          <a:bodyPr wrap="square" lIns="0" tIns="0" rIns="0" bIns="0" rtlCol="0" anchor="t"/>
          <a:lstStyle/>
          <a:p>
            <a:pPr marL="0" indent="0" algn="ctr">
              <a:buNone/>
            </a:pPr>
            <a:r>
              <a:rPr lang="en-US" sz="1500" b="1" dirty="0">
                <a:solidFill>
                  <a:schemeClr val="accent2"/>
                </a:solidFill>
              </a:rPr>
              <a:t>Laptop</a:t>
            </a:r>
            <a:endParaRPr lang="en-US" sz="1500" dirty="0"/>
          </a:p>
        </p:txBody>
      </p:sp>
      <p:sp>
        <p:nvSpPr>
          <p:cNvPr id="15" name="Text 9"/>
          <p:cNvSpPr txBox="1"/>
          <p:nvPr/>
        </p:nvSpPr>
        <p:spPr>
          <a:xfrm>
            <a:off x="2697480" y="2304288"/>
            <a:ext cx="1600200" cy="822960"/>
          </a:xfrm>
          <a:prstGeom prst="rect">
            <a:avLst/>
          </a:prstGeom>
          <a:noFill/>
          <a:ln/>
        </p:spPr>
        <p:txBody>
          <a:bodyPr wrap="square" lIns="0" tIns="0" rIns="0" bIns="0" rtlCol="0" anchor="t"/>
          <a:lstStyle/>
          <a:p>
            <a:pPr marL="0" indent="0" algn="ctr">
              <a:buNone/>
            </a:pPr>
            <a:r>
              <a:rPr lang="en-US" sz="1400" dirty="0">
                <a:solidFill>
                  <a:schemeClr val="bg1"/>
                </a:solidFill>
              </a:rPr>
              <a:t>Edge Impulse runs inference</a:t>
            </a:r>
            <a:endParaRPr lang="en-US" sz="1400" dirty="0"/>
          </a:p>
        </p:txBody>
      </p:sp>
      <p:pic>
        <p:nvPicPr>
          <p:cNvPr id="16" name="Image 4" descr="next"/>
          <p:cNvPicPr>
            <a:picLocks noChangeAspect="1"/>
          </p:cNvPicPr>
          <p:nvPr/>
        </p:nvPicPr>
        <p:blipFill>
          <a:blip r:embed="rId5"/>
          <a:stretch>
            <a:fillRect/>
          </a:stretch>
        </p:blipFill>
        <p:spPr>
          <a:xfrm>
            <a:off x="4453128" y="2011680"/>
            <a:ext cx="228600" cy="228600"/>
          </a:xfrm>
          <a:prstGeom prst="rect">
            <a:avLst/>
          </a:prstGeom>
        </p:spPr>
      </p:pic>
      <p:sp>
        <p:nvSpPr>
          <p:cNvPr id="17" name="card"/>
          <p:cNvSpPr/>
          <p:nvPr/>
        </p:nvSpPr>
        <p:spPr>
          <a:xfrm>
            <a:off x="4754880" y="1325880"/>
            <a:ext cx="1783080" cy="1828800"/>
          </a:xfrm>
          <a:prstGeom prst="roundRect">
            <a:avLst>
              <a:gd name="adj" fmla="val 6154"/>
            </a:avLst>
          </a:prstGeom>
          <a:solidFill>
            <a:schemeClr val="tx2"/>
          </a:solidFill>
          <a:ln w="12700">
            <a:solidFill>
              <a:schemeClr val="accent4"/>
            </a:solidFill>
            <a:prstDash val="solid"/>
          </a:ln>
        </p:spPr>
        <p:txBody>
          <a:bodyPr/>
          <a:lstStyle/>
          <a:p>
            <a:endParaRPr lang="en-US"/>
          </a:p>
        </p:txBody>
      </p:sp>
      <p:sp>
        <p:nvSpPr>
          <p:cNvPr id="18" name="icon-bg FaMicrochip"/>
          <p:cNvSpPr/>
          <p:nvPr/>
        </p:nvSpPr>
        <p:spPr>
          <a:xfrm>
            <a:off x="5394960" y="1444752"/>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19" name="Image 5" descr="FaMicrochip"/>
          <p:cNvPicPr>
            <a:picLocks noChangeAspect="1"/>
          </p:cNvPicPr>
          <p:nvPr/>
        </p:nvPicPr>
        <p:blipFill>
          <a:blip r:embed="rId7"/>
          <a:stretch>
            <a:fillRect/>
          </a:stretch>
        </p:blipFill>
        <p:spPr>
          <a:xfrm>
            <a:off x="5520690" y="1570482"/>
            <a:ext cx="251460" cy="251460"/>
          </a:xfrm>
          <a:prstGeom prst="rect">
            <a:avLst/>
          </a:prstGeom>
        </p:spPr>
      </p:pic>
      <p:sp>
        <p:nvSpPr>
          <p:cNvPr id="20" name="Text 12"/>
          <p:cNvSpPr txBox="1"/>
          <p:nvPr/>
        </p:nvSpPr>
        <p:spPr>
          <a:xfrm>
            <a:off x="4846320" y="2011680"/>
            <a:ext cx="1600200" cy="274320"/>
          </a:xfrm>
          <a:prstGeom prst="rect">
            <a:avLst/>
          </a:prstGeom>
          <a:noFill/>
          <a:ln/>
        </p:spPr>
        <p:txBody>
          <a:bodyPr wrap="square" lIns="0" tIns="0" rIns="0" bIns="0" rtlCol="0" anchor="t"/>
          <a:lstStyle/>
          <a:p>
            <a:pPr marL="0" indent="0" algn="ctr">
              <a:buNone/>
            </a:pPr>
            <a:r>
              <a:rPr lang="en-US" sz="1500" b="1" dirty="0">
                <a:solidFill>
                  <a:schemeClr val="accent2"/>
                </a:solidFill>
              </a:rPr>
              <a:t>Robot</a:t>
            </a:r>
            <a:endParaRPr lang="en-US" sz="1500" dirty="0"/>
          </a:p>
        </p:txBody>
      </p:sp>
      <p:sp>
        <p:nvSpPr>
          <p:cNvPr id="21" name="Text 13"/>
          <p:cNvSpPr txBox="1"/>
          <p:nvPr/>
        </p:nvSpPr>
        <p:spPr>
          <a:xfrm>
            <a:off x="4846320" y="2304288"/>
            <a:ext cx="1600200" cy="822960"/>
          </a:xfrm>
          <a:prstGeom prst="rect">
            <a:avLst/>
          </a:prstGeom>
          <a:noFill/>
          <a:ln/>
        </p:spPr>
        <p:txBody>
          <a:bodyPr wrap="square" lIns="0" tIns="0" rIns="0" bIns="0" rtlCol="0" anchor="t"/>
          <a:lstStyle/>
          <a:p>
            <a:pPr marL="0" indent="0" algn="ctr">
              <a:buNone/>
            </a:pPr>
            <a:r>
              <a:rPr lang="en-US" sz="1400" dirty="0">
                <a:solidFill>
                  <a:schemeClr val="bg1"/>
                </a:solidFill>
              </a:rPr>
              <a:t>Receives the result at /detection</a:t>
            </a:r>
            <a:endParaRPr lang="en-US" sz="1400" dirty="0"/>
          </a:p>
        </p:txBody>
      </p:sp>
      <p:pic>
        <p:nvPicPr>
          <p:cNvPr id="22" name="Image 6" descr="next"/>
          <p:cNvPicPr>
            <a:picLocks noChangeAspect="1"/>
          </p:cNvPicPr>
          <p:nvPr/>
        </p:nvPicPr>
        <p:blipFill>
          <a:blip r:embed="rId5"/>
          <a:stretch>
            <a:fillRect/>
          </a:stretch>
        </p:blipFill>
        <p:spPr>
          <a:xfrm>
            <a:off x="6601968" y="2011680"/>
            <a:ext cx="228600" cy="228600"/>
          </a:xfrm>
          <a:prstGeom prst="rect">
            <a:avLst/>
          </a:prstGeom>
        </p:spPr>
      </p:pic>
      <p:sp>
        <p:nvSpPr>
          <p:cNvPr id="23" name="card"/>
          <p:cNvSpPr/>
          <p:nvPr/>
        </p:nvSpPr>
        <p:spPr>
          <a:xfrm>
            <a:off x="6903720" y="1325880"/>
            <a:ext cx="1783080" cy="1828800"/>
          </a:xfrm>
          <a:prstGeom prst="roundRect">
            <a:avLst>
              <a:gd name="adj" fmla="val 6154"/>
            </a:avLst>
          </a:prstGeom>
          <a:solidFill>
            <a:schemeClr val="tx2"/>
          </a:solidFill>
          <a:ln w="12700">
            <a:solidFill>
              <a:schemeClr val="accent4"/>
            </a:solidFill>
            <a:prstDash val="solid"/>
          </a:ln>
        </p:spPr>
        <p:txBody>
          <a:bodyPr/>
          <a:lstStyle/>
          <a:p>
            <a:endParaRPr lang="en-US"/>
          </a:p>
        </p:txBody>
      </p:sp>
      <p:sp>
        <p:nvSpPr>
          <p:cNvPr id="24" name="icon-bg FaDesktop"/>
          <p:cNvSpPr/>
          <p:nvPr/>
        </p:nvSpPr>
        <p:spPr>
          <a:xfrm>
            <a:off x="7543800" y="1444752"/>
            <a:ext cx="502920" cy="502920"/>
          </a:xfrm>
          <a:prstGeom prst="ellipse">
            <a:avLst/>
          </a:prstGeom>
          <a:solidFill>
            <a:schemeClr val="accent2"/>
          </a:solidFill>
          <a:ln w="12700">
            <a:solidFill>
              <a:schemeClr val="accent2"/>
            </a:solidFill>
            <a:prstDash val="solid"/>
          </a:ln>
        </p:spPr>
        <p:txBody>
          <a:bodyPr/>
          <a:lstStyle/>
          <a:p>
            <a:endParaRPr lang="en-US"/>
          </a:p>
        </p:txBody>
      </p:sp>
      <p:pic>
        <p:nvPicPr>
          <p:cNvPr id="25" name="Image 7" descr="FaDesktop"/>
          <p:cNvPicPr>
            <a:picLocks noChangeAspect="1"/>
          </p:cNvPicPr>
          <p:nvPr/>
        </p:nvPicPr>
        <p:blipFill>
          <a:blip r:embed="rId8"/>
          <a:stretch>
            <a:fillRect/>
          </a:stretch>
        </p:blipFill>
        <p:spPr>
          <a:xfrm>
            <a:off x="7669530" y="1570482"/>
            <a:ext cx="251460" cy="251460"/>
          </a:xfrm>
          <a:prstGeom prst="rect">
            <a:avLst/>
          </a:prstGeom>
        </p:spPr>
      </p:pic>
      <p:sp>
        <p:nvSpPr>
          <p:cNvPr id="26" name="Text 16"/>
          <p:cNvSpPr txBox="1"/>
          <p:nvPr/>
        </p:nvSpPr>
        <p:spPr>
          <a:xfrm>
            <a:off x="6995160" y="2011680"/>
            <a:ext cx="1600200" cy="274320"/>
          </a:xfrm>
          <a:prstGeom prst="rect">
            <a:avLst/>
          </a:prstGeom>
          <a:noFill/>
          <a:ln/>
        </p:spPr>
        <p:txBody>
          <a:bodyPr wrap="square" lIns="0" tIns="0" rIns="0" bIns="0" rtlCol="0" anchor="t"/>
          <a:lstStyle/>
          <a:p>
            <a:pPr marL="0" indent="0" algn="ctr">
              <a:buNone/>
            </a:pPr>
            <a:r>
              <a:rPr lang="en-US" sz="1500" b="1" dirty="0">
                <a:solidFill>
                  <a:schemeClr val="accent2"/>
                </a:solidFill>
              </a:rPr>
              <a:t>Dashboard</a:t>
            </a:r>
            <a:endParaRPr lang="en-US" sz="1500" dirty="0"/>
          </a:p>
        </p:txBody>
      </p:sp>
      <p:sp>
        <p:nvSpPr>
          <p:cNvPr id="27" name="Text 17"/>
          <p:cNvSpPr txBox="1"/>
          <p:nvPr/>
        </p:nvSpPr>
        <p:spPr>
          <a:xfrm>
            <a:off x="6995160" y="2304288"/>
            <a:ext cx="1600200" cy="822960"/>
          </a:xfrm>
          <a:prstGeom prst="rect">
            <a:avLst/>
          </a:prstGeom>
          <a:noFill/>
          <a:ln/>
        </p:spPr>
        <p:txBody>
          <a:bodyPr wrap="square" lIns="0" tIns="0" rIns="0" bIns="0" rtlCol="0" anchor="t"/>
          <a:lstStyle/>
          <a:p>
            <a:pPr marL="0" indent="0" algn="ctr">
              <a:buNone/>
            </a:pPr>
            <a:r>
              <a:rPr lang="en-US" sz="1400" dirty="0">
                <a:solidFill>
                  <a:schemeClr val="bg1"/>
                </a:solidFill>
              </a:rPr>
              <a:t>Shows Pyramid / Cube / Ball</a:t>
            </a:r>
            <a:endParaRPr lang="en-US" sz="1400" dirty="0"/>
          </a:p>
        </p:txBody>
      </p:sp>
      <p:sp>
        <p:nvSpPr>
          <p:cNvPr id="28" name="card"/>
          <p:cNvSpPr/>
          <p:nvPr/>
        </p:nvSpPr>
        <p:spPr>
          <a:xfrm>
            <a:off x="457200" y="3291840"/>
            <a:ext cx="8229600" cy="868680"/>
          </a:xfrm>
          <a:prstGeom prst="roundRect">
            <a:avLst>
              <a:gd name="adj" fmla="val 12632"/>
            </a:avLst>
          </a:prstGeom>
          <a:solidFill>
            <a:schemeClr val="tx2"/>
          </a:solidFill>
          <a:ln w="12700">
            <a:solidFill>
              <a:schemeClr val="accent2"/>
            </a:solidFill>
            <a:prstDash val="solid"/>
          </a:ln>
        </p:spPr>
        <p:txBody>
          <a:bodyPr/>
          <a:lstStyle/>
          <a:p>
            <a:endParaRPr lang="en-US"/>
          </a:p>
        </p:txBody>
      </p:sp>
      <p:sp>
        <p:nvSpPr>
          <p:cNvPr id="29" name="Text 19"/>
          <p:cNvSpPr txBox="1"/>
          <p:nvPr/>
        </p:nvSpPr>
        <p:spPr>
          <a:xfrm>
            <a:off x="640080" y="3337560"/>
            <a:ext cx="2103120" cy="274320"/>
          </a:xfrm>
          <a:prstGeom prst="rect">
            <a:avLst/>
          </a:prstGeom>
          <a:noFill/>
          <a:ln/>
        </p:spPr>
        <p:txBody>
          <a:bodyPr wrap="square" lIns="0" tIns="0" rIns="0" bIns="0" rtlCol="0" anchor="t"/>
          <a:lstStyle/>
          <a:p>
            <a:pPr marL="0" indent="0" algn="l">
              <a:buNone/>
            </a:pPr>
            <a:r>
              <a:rPr lang="en-US" sz="1200" b="1" dirty="0">
                <a:solidFill>
                  <a:schemeClr val="accent2"/>
                </a:solidFill>
              </a:rPr>
              <a:t>Example request</a:t>
            </a:r>
            <a:endParaRPr lang="en-US" sz="1200" dirty="0"/>
          </a:p>
        </p:txBody>
      </p:sp>
      <p:sp>
        <p:nvSpPr>
          <p:cNvPr id="30" name="Text 20"/>
          <p:cNvSpPr txBox="1"/>
          <p:nvPr/>
        </p:nvSpPr>
        <p:spPr>
          <a:xfrm>
            <a:off x="640080" y="3675888"/>
            <a:ext cx="7863840" cy="365760"/>
          </a:xfrm>
          <a:prstGeom prst="rect">
            <a:avLst/>
          </a:prstGeom>
          <a:noFill/>
          <a:ln/>
        </p:spPr>
        <p:txBody>
          <a:bodyPr wrap="square" lIns="0" tIns="0" rIns="0" bIns="0" rtlCol="0" anchor="t"/>
          <a:lstStyle/>
          <a:p>
            <a:pPr marL="0" indent="0" algn="l">
              <a:buNone/>
            </a:pPr>
            <a:r>
              <a:rPr lang="en-US" sz="1300" dirty="0">
                <a:solidFill>
                  <a:schemeClr val="bg1"/>
                </a:solidFill>
                <a:latin typeface="Courier New" pitchFamily="34" charset="0"/>
                <a:ea typeface="Courier New" pitchFamily="34" charset="-122"/>
                <a:cs typeface="Courier New" pitchFamily="34" charset="-120"/>
              </a:rPr>
              <a:t>/detection?label=Pyramid&amp;confidence=0.94&amp;p=0.94&amp;c=0.03&amp;b=0.02</a:t>
            </a:r>
            <a:endParaRPr lang="en-US" sz="1300" dirty="0"/>
          </a:p>
        </p:txBody>
      </p:sp>
      <p:sp>
        <p:nvSpPr>
          <p:cNvPr id="31" name="Text 21"/>
          <p:cNvSpPr txBox="1"/>
          <p:nvPr/>
        </p:nvSpPr>
        <p:spPr>
          <a:xfrm>
            <a:off x="457200" y="4297680"/>
            <a:ext cx="8229600" cy="365760"/>
          </a:xfrm>
          <a:prstGeom prst="rect">
            <a:avLst/>
          </a:prstGeom>
          <a:noFill/>
          <a:ln/>
        </p:spPr>
        <p:txBody>
          <a:bodyPr wrap="square" lIns="0" tIns="0" rIns="0" bIns="0" rtlCol="0" anchor="t"/>
          <a:lstStyle/>
          <a:p>
            <a:pPr marL="0" indent="0" algn="l">
              <a:buNone/>
            </a:pPr>
            <a:r>
              <a:rPr lang="en-US" sz="1400" dirty="0">
                <a:solidFill>
                  <a:schemeClr val="bg1"/>
                </a:solidFill>
              </a:rPr>
              <a:t>Scores are accepted as 0..1 or 0..100; the dashboard parses P / C / B from the text</a:t>
            </a:r>
            <a:endParaRPr lang="en-US" sz="1400" dirty="0"/>
          </a:p>
        </p:txBody>
      </p:sp>
      <p:sp>
        <p:nvSpPr>
          <p:cNvPr id="32"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4320"/>
            <a:ext cx="7315200" cy="777240"/>
          </a:xfrm>
          <a:prstGeom prst="rect">
            <a:avLst/>
          </a:prstGeom>
          <a:noFill/>
          <a:ln/>
        </p:spPr>
        <p:txBody>
          <a:bodyPr wrap="square" lIns="0" tIns="0" rIns="0" bIns="0" rtlCol="0" anchor="ctr"/>
          <a:lstStyle/>
          <a:p>
            <a:pPr marL="0" indent="0" algn="l">
              <a:buNone/>
            </a:pPr>
            <a:r>
              <a:rPr lang="en-US" sz="3400" b="1" dirty="0">
                <a:solidFill>
                  <a:schemeClr val="bg1"/>
                </a:solidFill>
              </a:rPr>
              <a:t>Gripper (Servo)</a:t>
            </a:r>
            <a:endParaRPr lang="en-US" sz="3400" dirty="0"/>
          </a:p>
        </p:txBody>
      </p:sp>
      <p:sp>
        <p:nvSpPr>
          <p:cNvPr id="3" name="icon-bg FaHandPaper"/>
          <p:cNvSpPr/>
          <p:nvPr/>
        </p:nvSpPr>
        <p:spPr>
          <a:xfrm>
            <a:off x="457200" y="320040"/>
            <a:ext cx="685800" cy="685800"/>
          </a:xfrm>
          <a:prstGeom prst="ellipse">
            <a:avLst/>
          </a:prstGeom>
          <a:solidFill>
            <a:schemeClr val="accent2"/>
          </a:solidFill>
          <a:ln w="12700">
            <a:solidFill>
              <a:schemeClr val="accent2"/>
            </a:solidFill>
            <a:prstDash val="solid"/>
          </a:ln>
        </p:spPr>
        <p:txBody>
          <a:bodyPr/>
          <a:lstStyle/>
          <a:p>
            <a:endParaRPr lang="en-US"/>
          </a:p>
        </p:txBody>
      </p:sp>
      <p:pic>
        <p:nvPicPr>
          <p:cNvPr id="4" name="Image 0" descr="FaHandPaper"/>
          <p:cNvPicPr>
            <a:picLocks noChangeAspect="1"/>
          </p:cNvPicPr>
          <p:nvPr/>
        </p:nvPicPr>
        <p:blipFill>
          <a:blip r:embed="rId3"/>
          <a:stretch>
            <a:fillRect/>
          </a:stretch>
        </p:blipFill>
        <p:spPr>
          <a:xfrm>
            <a:off x="628650" y="491490"/>
            <a:ext cx="342900" cy="342900"/>
          </a:xfrm>
          <a:prstGeom prst="rect">
            <a:avLst/>
          </a:prstGeom>
        </p:spPr>
      </p:pic>
      <p:sp>
        <p:nvSpPr>
          <p:cNvPr id="5" name="card"/>
          <p:cNvSpPr/>
          <p:nvPr/>
        </p:nvSpPr>
        <p:spPr>
          <a:xfrm>
            <a:off x="457200" y="1325880"/>
            <a:ext cx="1920240" cy="1463040"/>
          </a:xfrm>
          <a:prstGeom prst="roundRect">
            <a:avLst>
              <a:gd name="adj" fmla="val 7500"/>
            </a:avLst>
          </a:prstGeom>
          <a:solidFill>
            <a:schemeClr val="tx2"/>
          </a:solidFill>
          <a:ln w="12700">
            <a:solidFill>
              <a:schemeClr val="accent4"/>
            </a:solidFill>
            <a:prstDash val="solid"/>
          </a:ln>
        </p:spPr>
        <p:txBody>
          <a:bodyPr/>
          <a:lstStyle/>
          <a:p>
            <a:endParaRPr lang="en-US"/>
          </a:p>
        </p:txBody>
      </p:sp>
      <p:sp>
        <p:nvSpPr>
          <p:cNvPr id="6" name="Text 3"/>
          <p:cNvSpPr txBox="1"/>
          <p:nvPr/>
        </p:nvSpPr>
        <p:spPr>
          <a:xfrm>
            <a:off x="548640" y="1435608"/>
            <a:ext cx="1737360" cy="731520"/>
          </a:xfrm>
          <a:prstGeom prst="rect">
            <a:avLst/>
          </a:prstGeom>
          <a:noFill/>
          <a:ln/>
        </p:spPr>
        <p:txBody>
          <a:bodyPr wrap="square" lIns="0" tIns="0" rIns="0" bIns="0" rtlCol="0" anchor="ctr"/>
          <a:lstStyle/>
          <a:p>
            <a:pPr marL="0" indent="0" algn="l">
              <a:buNone/>
            </a:pPr>
            <a:r>
              <a:rPr lang="en-US" sz="2400" b="1" dirty="0">
                <a:solidFill>
                  <a:schemeClr val="accent2"/>
                </a:solidFill>
              </a:rPr>
              <a:t>GPIO 21</a:t>
            </a:r>
            <a:endParaRPr lang="en-US" sz="2400" dirty="0"/>
          </a:p>
        </p:txBody>
      </p:sp>
      <p:sp>
        <p:nvSpPr>
          <p:cNvPr id="7" name="Text 4"/>
          <p:cNvSpPr txBox="1"/>
          <p:nvPr/>
        </p:nvSpPr>
        <p:spPr>
          <a:xfrm>
            <a:off x="594360" y="2174443"/>
            <a:ext cx="1645920" cy="526694"/>
          </a:xfrm>
          <a:prstGeom prst="rect">
            <a:avLst/>
          </a:prstGeom>
          <a:noFill/>
          <a:ln/>
        </p:spPr>
        <p:txBody>
          <a:bodyPr wrap="square" lIns="0" tIns="0" rIns="0" bIns="0" rtlCol="0" anchor="t"/>
          <a:lstStyle/>
          <a:p>
            <a:pPr marL="0" indent="0" algn="l">
              <a:buNone/>
            </a:pPr>
            <a:r>
              <a:rPr lang="en-US" sz="1400" dirty="0">
                <a:solidFill>
                  <a:schemeClr val="bg1"/>
                </a:solidFill>
              </a:rPr>
              <a:t>Servo pin</a:t>
            </a:r>
            <a:endParaRPr lang="en-US" sz="1400" dirty="0"/>
          </a:p>
        </p:txBody>
      </p:sp>
      <p:sp>
        <p:nvSpPr>
          <p:cNvPr id="8" name="card"/>
          <p:cNvSpPr/>
          <p:nvPr/>
        </p:nvSpPr>
        <p:spPr>
          <a:xfrm>
            <a:off x="2560320" y="1325880"/>
            <a:ext cx="1920240" cy="1463040"/>
          </a:xfrm>
          <a:prstGeom prst="roundRect">
            <a:avLst>
              <a:gd name="adj" fmla="val 7500"/>
            </a:avLst>
          </a:prstGeom>
          <a:solidFill>
            <a:schemeClr val="tx2"/>
          </a:solidFill>
          <a:ln w="12700">
            <a:solidFill>
              <a:schemeClr val="accent4"/>
            </a:solidFill>
            <a:prstDash val="solid"/>
          </a:ln>
        </p:spPr>
        <p:txBody>
          <a:bodyPr/>
          <a:lstStyle/>
          <a:p>
            <a:endParaRPr lang="en-US"/>
          </a:p>
        </p:txBody>
      </p:sp>
      <p:sp>
        <p:nvSpPr>
          <p:cNvPr id="9" name="Text 6"/>
          <p:cNvSpPr txBox="1"/>
          <p:nvPr/>
        </p:nvSpPr>
        <p:spPr>
          <a:xfrm>
            <a:off x="2651760" y="1435608"/>
            <a:ext cx="1737360" cy="731520"/>
          </a:xfrm>
          <a:prstGeom prst="rect">
            <a:avLst/>
          </a:prstGeom>
          <a:noFill/>
          <a:ln/>
        </p:spPr>
        <p:txBody>
          <a:bodyPr wrap="square" lIns="0" tIns="0" rIns="0" bIns="0" rtlCol="0" anchor="ctr"/>
          <a:lstStyle/>
          <a:p>
            <a:pPr marL="0" indent="0" algn="l">
              <a:buNone/>
            </a:pPr>
            <a:r>
              <a:rPr lang="en-US" sz="2400" b="1" dirty="0">
                <a:solidFill>
                  <a:schemeClr val="accent6"/>
                </a:solidFill>
              </a:rPr>
              <a:t>50 Hz</a:t>
            </a:r>
            <a:endParaRPr lang="en-US" sz="2400" dirty="0"/>
          </a:p>
        </p:txBody>
      </p:sp>
      <p:sp>
        <p:nvSpPr>
          <p:cNvPr id="10" name="Text 7"/>
          <p:cNvSpPr txBox="1"/>
          <p:nvPr/>
        </p:nvSpPr>
        <p:spPr>
          <a:xfrm>
            <a:off x="2697480" y="2174443"/>
            <a:ext cx="1645920" cy="526694"/>
          </a:xfrm>
          <a:prstGeom prst="rect">
            <a:avLst/>
          </a:prstGeom>
          <a:noFill/>
          <a:ln/>
        </p:spPr>
        <p:txBody>
          <a:bodyPr wrap="square" lIns="0" tIns="0" rIns="0" bIns="0" rtlCol="0" anchor="t"/>
          <a:lstStyle/>
          <a:p>
            <a:pPr marL="0" indent="0" algn="l">
              <a:buNone/>
            </a:pPr>
            <a:r>
              <a:rPr lang="en-US" sz="1400" dirty="0">
                <a:solidFill>
                  <a:schemeClr val="bg1"/>
                </a:solidFill>
              </a:rPr>
              <a:t>PWM, 16 bits resolution</a:t>
            </a:r>
            <a:endParaRPr lang="en-US" sz="1400" dirty="0"/>
          </a:p>
        </p:txBody>
      </p:sp>
      <p:sp>
        <p:nvSpPr>
          <p:cNvPr id="11" name="card"/>
          <p:cNvSpPr/>
          <p:nvPr/>
        </p:nvSpPr>
        <p:spPr>
          <a:xfrm>
            <a:off x="4663440" y="1325880"/>
            <a:ext cx="1920240" cy="1463040"/>
          </a:xfrm>
          <a:prstGeom prst="roundRect">
            <a:avLst>
              <a:gd name="adj" fmla="val 7500"/>
            </a:avLst>
          </a:prstGeom>
          <a:solidFill>
            <a:schemeClr val="tx2"/>
          </a:solidFill>
          <a:ln w="12700">
            <a:solidFill>
              <a:schemeClr val="accent4"/>
            </a:solidFill>
            <a:prstDash val="solid"/>
          </a:ln>
        </p:spPr>
        <p:txBody>
          <a:bodyPr/>
          <a:lstStyle/>
          <a:p>
            <a:endParaRPr lang="en-US"/>
          </a:p>
        </p:txBody>
      </p:sp>
      <p:sp>
        <p:nvSpPr>
          <p:cNvPr id="12" name="Text 9"/>
          <p:cNvSpPr txBox="1"/>
          <p:nvPr/>
        </p:nvSpPr>
        <p:spPr>
          <a:xfrm>
            <a:off x="4754880" y="1435608"/>
            <a:ext cx="1737360" cy="731520"/>
          </a:xfrm>
          <a:prstGeom prst="rect">
            <a:avLst/>
          </a:prstGeom>
          <a:noFill/>
          <a:ln/>
        </p:spPr>
        <p:txBody>
          <a:bodyPr wrap="square" lIns="0" tIns="0" rIns="0" bIns="0" rtlCol="0" anchor="ctr"/>
          <a:lstStyle/>
          <a:p>
            <a:pPr marL="0" indent="0" algn="l">
              <a:buNone/>
            </a:pPr>
            <a:r>
              <a:rPr lang="en-US" sz="2400" b="1" dirty="0">
                <a:solidFill>
                  <a:schemeClr val="accent2"/>
                </a:solidFill>
              </a:rPr>
              <a:t>5°–180°</a:t>
            </a:r>
            <a:endParaRPr lang="en-US" sz="2400" dirty="0"/>
          </a:p>
        </p:txBody>
      </p:sp>
      <p:sp>
        <p:nvSpPr>
          <p:cNvPr id="13" name="Text 10"/>
          <p:cNvSpPr txBox="1"/>
          <p:nvPr/>
        </p:nvSpPr>
        <p:spPr>
          <a:xfrm>
            <a:off x="4800600" y="2174443"/>
            <a:ext cx="1645920" cy="526694"/>
          </a:xfrm>
          <a:prstGeom prst="rect">
            <a:avLst/>
          </a:prstGeom>
          <a:noFill/>
          <a:ln/>
        </p:spPr>
        <p:txBody>
          <a:bodyPr wrap="square" lIns="0" tIns="0" rIns="0" bIns="0" rtlCol="0" anchor="t"/>
          <a:lstStyle/>
          <a:p>
            <a:pPr marL="0" indent="0" algn="l">
              <a:buNone/>
            </a:pPr>
            <a:r>
              <a:rPr lang="en-US" sz="1400" dirty="0">
                <a:solidFill>
                  <a:schemeClr val="bg1"/>
                </a:solidFill>
              </a:rPr>
              <a:t>Open → close</a:t>
            </a:r>
            <a:endParaRPr lang="en-US" sz="1400" dirty="0"/>
          </a:p>
        </p:txBody>
      </p:sp>
      <p:sp>
        <p:nvSpPr>
          <p:cNvPr id="14" name="card"/>
          <p:cNvSpPr/>
          <p:nvPr/>
        </p:nvSpPr>
        <p:spPr>
          <a:xfrm>
            <a:off x="6766560" y="1325880"/>
            <a:ext cx="1920240" cy="1463040"/>
          </a:xfrm>
          <a:prstGeom prst="roundRect">
            <a:avLst>
              <a:gd name="adj" fmla="val 7500"/>
            </a:avLst>
          </a:prstGeom>
          <a:solidFill>
            <a:schemeClr val="tx2"/>
          </a:solidFill>
          <a:ln w="12700">
            <a:solidFill>
              <a:schemeClr val="accent4"/>
            </a:solidFill>
            <a:prstDash val="solid"/>
          </a:ln>
        </p:spPr>
        <p:txBody>
          <a:bodyPr/>
          <a:lstStyle/>
          <a:p>
            <a:endParaRPr lang="en-US"/>
          </a:p>
        </p:txBody>
      </p:sp>
      <p:sp>
        <p:nvSpPr>
          <p:cNvPr id="15" name="Text 12"/>
          <p:cNvSpPr txBox="1"/>
          <p:nvPr/>
        </p:nvSpPr>
        <p:spPr>
          <a:xfrm>
            <a:off x="6858000" y="1435608"/>
            <a:ext cx="1737360" cy="731520"/>
          </a:xfrm>
          <a:prstGeom prst="rect">
            <a:avLst/>
          </a:prstGeom>
          <a:noFill/>
          <a:ln/>
        </p:spPr>
        <p:txBody>
          <a:bodyPr wrap="square" lIns="0" tIns="0" rIns="0" bIns="0" rtlCol="0" anchor="ctr"/>
          <a:lstStyle/>
          <a:p>
            <a:pPr marL="0" indent="0" algn="l">
              <a:buNone/>
            </a:pPr>
            <a:r>
              <a:rPr lang="en-US" sz="2400" b="1" dirty="0">
                <a:solidFill>
                  <a:schemeClr val="accent6"/>
                </a:solidFill>
              </a:rPr>
              <a:t>500–2400</a:t>
            </a:r>
            <a:endParaRPr lang="en-US" sz="2400" dirty="0"/>
          </a:p>
        </p:txBody>
      </p:sp>
      <p:sp>
        <p:nvSpPr>
          <p:cNvPr id="16" name="Text 13"/>
          <p:cNvSpPr txBox="1"/>
          <p:nvPr/>
        </p:nvSpPr>
        <p:spPr>
          <a:xfrm>
            <a:off x="6903720" y="2174443"/>
            <a:ext cx="1645920" cy="526694"/>
          </a:xfrm>
          <a:prstGeom prst="rect">
            <a:avLst/>
          </a:prstGeom>
          <a:noFill/>
          <a:ln/>
        </p:spPr>
        <p:txBody>
          <a:bodyPr wrap="square" lIns="0" tIns="0" rIns="0" bIns="0" rtlCol="0" anchor="t"/>
          <a:lstStyle/>
          <a:p>
            <a:pPr marL="0" indent="0" algn="l">
              <a:buNone/>
            </a:pPr>
            <a:r>
              <a:rPr lang="en-US" sz="1400" dirty="0">
                <a:solidFill>
                  <a:schemeClr val="bg1"/>
                </a:solidFill>
              </a:rPr>
              <a:t>Pulse width in µs</a:t>
            </a:r>
            <a:endParaRPr lang="en-US" sz="1400" dirty="0"/>
          </a:p>
        </p:txBody>
      </p:sp>
      <p:sp>
        <p:nvSpPr>
          <p:cNvPr id="17" name="pill"/>
          <p:cNvSpPr/>
          <p:nvPr/>
        </p:nvSpPr>
        <p:spPr>
          <a:xfrm>
            <a:off x="457200" y="3063240"/>
            <a:ext cx="1920240" cy="457200"/>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18" name="Text 15"/>
          <p:cNvSpPr txBox="1"/>
          <p:nvPr/>
        </p:nvSpPr>
        <p:spPr>
          <a:xfrm>
            <a:off x="457200" y="3063240"/>
            <a:ext cx="1920240" cy="457200"/>
          </a:xfrm>
          <a:prstGeom prst="rect">
            <a:avLst/>
          </a:prstGeom>
          <a:noFill/>
          <a:ln/>
        </p:spPr>
        <p:txBody>
          <a:bodyPr wrap="square" lIns="0" tIns="0" rIns="0" bIns="0" rtlCol="0" anchor="ctr"/>
          <a:lstStyle/>
          <a:p>
            <a:pPr marL="0" indent="0" algn="ctr">
              <a:buNone/>
            </a:pPr>
            <a:r>
              <a:rPr lang="en-US" sz="1400" b="1" dirty="0">
                <a:solidFill>
                  <a:schemeClr val="bg1"/>
                </a:solidFill>
              </a:rPr>
              <a:t>Angle 0–180°</a:t>
            </a:r>
            <a:endParaRPr lang="en-US" sz="1400" dirty="0"/>
          </a:p>
        </p:txBody>
      </p:sp>
      <p:pic>
        <p:nvPicPr>
          <p:cNvPr id="19" name="Image 1" descr="next"/>
          <p:cNvPicPr>
            <a:picLocks noChangeAspect="1"/>
          </p:cNvPicPr>
          <p:nvPr/>
        </p:nvPicPr>
        <p:blipFill>
          <a:blip r:embed="rId4"/>
          <a:stretch>
            <a:fillRect/>
          </a:stretch>
        </p:blipFill>
        <p:spPr>
          <a:xfrm>
            <a:off x="2377440" y="3182112"/>
            <a:ext cx="182880" cy="219456"/>
          </a:xfrm>
          <a:prstGeom prst="rect">
            <a:avLst/>
          </a:prstGeom>
        </p:spPr>
      </p:pic>
      <p:sp>
        <p:nvSpPr>
          <p:cNvPr id="20" name="pill"/>
          <p:cNvSpPr/>
          <p:nvPr/>
        </p:nvSpPr>
        <p:spPr>
          <a:xfrm>
            <a:off x="2560320" y="3063240"/>
            <a:ext cx="1920240" cy="457200"/>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21" name="Text 17"/>
          <p:cNvSpPr txBox="1"/>
          <p:nvPr/>
        </p:nvSpPr>
        <p:spPr>
          <a:xfrm>
            <a:off x="2560320" y="3063240"/>
            <a:ext cx="1920240" cy="457200"/>
          </a:xfrm>
          <a:prstGeom prst="rect">
            <a:avLst/>
          </a:prstGeom>
          <a:noFill/>
          <a:ln/>
        </p:spPr>
        <p:txBody>
          <a:bodyPr wrap="square" lIns="0" tIns="0" rIns="0" bIns="0" rtlCol="0" anchor="ctr"/>
          <a:lstStyle/>
          <a:p>
            <a:pPr marL="0" indent="0" algn="ctr">
              <a:buNone/>
            </a:pPr>
            <a:r>
              <a:rPr lang="en-US" sz="1400" b="1" dirty="0">
                <a:solidFill>
                  <a:schemeClr val="tx1"/>
                </a:solidFill>
              </a:rPr>
              <a:t>Pulse width µs</a:t>
            </a:r>
            <a:endParaRPr lang="en-US" sz="1400" dirty="0"/>
          </a:p>
        </p:txBody>
      </p:sp>
      <p:pic>
        <p:nvPicPr>
          <p:cNvPr id="22" name="Image 2" descr="next"/>
          <p:cNvPicPr>
            <a:picLocks noChangeAspect="1"/>
          </p:cNvPicPr>
          <p:nvPr/>
        </p:nvPicPr>
        <p:blipFill>
          <a:blip r:embed="rId4"/>
          <a:stretch>
            <a:fillRect/>
          </a:stretch>
        </p:blipFill>
        <p:spPr>
          <a:xfrm>
            <a:off x="4480560" y="3182112"/>
            <a:ext cx="182880" cy="219456"/>
          </a:xfrm>
          <a:prstGeom prst="rect">
            <a:avLst/>
          </a:prstGeom>
        </p:spPr>
      </p:pic>
      <p:sp>
        <p:nvSpPr>
          <p:cNvPr id="23" name="pill"/>
          <p:cNvSpPr/>
          <p:nvPr/>
        </p:nvSpPr>
        <p:spPr>
          <a:xfrm>
            <a:off x="4663440" y="3063240"/>
            <a:ext cx="1920240" cy="457200"/>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24" name="Text 19"/>
          <p:cNvSpPr txBox="1"/>
          <p:nvPr/>
        </p:nvSpPr>
        <p:spPr>
          <a:xfrm>
            <a:off x="4663440" y="3063240"/>
            <a:ext cx="1920240" cy="457200"/>
          </a:xfrm>
          <a:prstGeom prst="rect">
            <a:avLst/>
          </a:prstGeom>
          <a:noFill/>
          <a:ln/>
        </p:spPr>
        <p:txBody>
          <a:bodyPr wrap="square" lIns="0" tIns="0" rIns="0" bIns="0" rtlCol="0" anchor="ctr"/>
          <a:lstStyle/>
          <a:p>
            <a:pPr marL="0" indent="0" algn="ctr">
              <a:buNone/>
            </a:pPr>
            <a:r>
              <a:rPr lang="en-US" sz="1400" b="1" dirty="0">
                <a:solidFill>
                  <a:schemeClr val="bg1"/>
                </a:solidFill>
              </a:rPr>
              <a:t>duty ÷ 20000µs</a:t>
            </a:r>
            <a:endParaRPr lang="en-US" sz="1400" dirty="0"/>
          </a:p>
        </p:txBody>
      </p:sp>
      <p:pic>
        <p:nvPicPr>
          <p:cNvPr id="25" name="Image 3" descr="next"/>
          <p:cNvPicPr>
            <a:picLocks noChangeAspect="1"/>
          </p:cNvPicPr>
          <p:nvPr/>
        </p:nvPicPr>
        <p:blipFill>
          <a:blip r:embed="rId4"/>
          <a:stretch>
            <a:fillRect/>
          </a:stretch>
        </p:blipFill>
        <p:spPr>
          <a:xfrm>
            <a:off x="6583680" y="3182112"/>
            <a:ext cx="182880" cy="219456"/>
          </a:xfrm>
          <a:prstGeom prst="rect">
            <a:avLst/>
          </a:prstGeom>
        </p:spPr>
      </p:pic>
      <p:sp>
        <p:nvSpPr>
          <p:cNvPr id="26" name="pill"/>
          <p:cNvSpPr/>
          <p:nvPr/>
        </p:nvSpPr>
        <p:spPr>
          <a:xfrm>
            <a:off x="6766560" y="3063240"/>
            <a:ext cx="1920240" cy="457200"/>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27" name="Text 21"/>
          <p:cNvSpPr txBox="1"/>
          <p:nvPr/>
        </p:nvSpPr>
        <p:spPr>
          <a:xfrm>
            <a:off x="6766560" y="3063240"/>
            <a:ext cx="1920240" cy="457200"/>
          </a:xfrm>
          <a:prstGeom prst="rect">
            <a:avLst/>
          </a:prstGeom>
          <a:noFill/>
          <a:ln/>
        </p:spPr>
        <p:txBody>
          <a:bodyPr wrap="square" lIns="0" tIns="0" rIns="0" bIns="0" rtlCol="0" anchor="ctr"/>
          <a:lstStyle/>
          <a:p>
            <a:pPr marL="0" indent="0" algn="ctr">
              <a:buNone/>
            </a:pPr>
            <a:r>
              <a:rPr lang="en-US" sz="1400" b="1" dirty="0">
                <a:solidFill>
                  <a:schemeClr val="tx1"/>
                </a:solidFill>
              </a:rPr>
              <a:t>ledcWrite</a:t>
            </a:r>
            <a:endParaRPr lang="en-US" sz="1400" dirty="0"/>
          </a:p>
        </p:txBody>
      </p:sp>
      <p:sp>
        <p:nvSpPr>
          <p:cNvPr id="28" name="card"/>
          <p:cNvSpPr/>
          <p:nvPr/>
        </p:nvSpPr>
        <p:spPr>
          <a:xfrm>
            <a:off x="457200" y="3749040"/>
            <a:ext cx="8229600" cy="868680"/>
          </a:xfrm>
          <a:prstGeom prst="roundRect">
            <a:avLst>
              <a:gd name="adj" fmla="val 12632"/>
            </a:avLst>
          </a:prstGeom>
          <a:solidFill>
            <a:schemeClr val="tx2"/>
          </a:solidFill>
          <a:ln w="12700">
            <a:solidFill>
              <a:schemeClr val="accent4"/>
            </a:solidFill>
            <a:prstDash val="solid"/>
          </a:ln>
        </p:spPr>
        <p:txBody>
          <a:bodyPr/>
          <a:lstStyle/>
          <a:p>
            <a:endParaRPr lang="en-US"/>
          </a:p>
        </p:txBody>
      </p:sp>
      <p:sp>
        <p:nvSpPr>
          <p:cNvPr id="29" name="Text 23"/>
          <p:cNvSpPr txBox="1"/>
          <p:nvPr/>
        </p:nvSpPr>
        <p:spPr>
          <a:xfrm>
            <a:off x="640080" y="3749040"/>
            <a:ext cx="7863840" cy="868680"/>
          </a:xfrm>
          <a:prstGeom prst="rect">
            <a:avLst/>
          </a:prstGeom>
          <a:noFill/>
          <a:ln/>
        </p:spPr>
        <p:txBody>
          <a:bodyPr wrap="square" lIns="0" tIns="0" rIns="0" bIns="0" rtlCol="0" anchor="ctr"/>
          <a:lstStyle/>
          <a:p>
            <a:pPr marL="0" indent="0" algn="l">
              <a:buNone/>
            </a:pPr>
            <a:r>
              <a:rPr lang="en-US" sz="1400" dirty="0">
                <a:solidFill>
                  <a:schemeClr val="bg1"/>
                </a:solidFill>
              </a:rPr>
              <a:t>Commands: GRIP:OPEN / GRIP:CLOSE, or the G and R keys. The state (OPEN / CLOSED) shows on the dashboard.</a:t>
            </a:r>
            <a:endParaRPr lang="en-US" sz="1400" dirty="0"/>
          </a:p>
        </p:txBody>
      </p:sp>
      <p:sp>
        <p:nvSpPr>
          <p:cNvPr id="30"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E0E63-88FF-1620-56DB-626F1B043ED9}"/>
              </a:ext>
            </a:extLst>
          </p:cNvPr>
          <p:cNvSpPr>
            <a:spLocks noGrp="1"/>
          </p:cNvSpPr>
          <p:nvPr>
            <p:ph type="title" idx="101"/>
          </p:nvPr>
        </p:nvSpPr>
        <p:spPr/>
        <p:txBody>
          <a:bodyPr/>
          <a:lstStyle/>
          <a:p>
            <a:r>
              <a:rPr lang="en-US" dirty="0"/>
              <a:t>      Thank You</a:t>
            </a:r>
          </a:p>
        </p:txBody>
      </p:sp>
      <p:sp>
        <p:nvSpPr>
          <p:cNvPr id="3" name="Text Placeholder 2">
            <a:extLst>
              <a:ext uri="{FF2B5EF4-FFF2-40B4-BE49-F238E27FC236}">
                <a16:creationId xmlns:a16="http://schemas.microsoft.com/office/drawing/2014/main" id="{4F4BF8A9-94AA-B6AF-CCEB-143D981BBECB}"/>
              </a:ext>
            </a:extLst>
          </p:cNvPr>
          <p:cNvSpPr>
            <a:spLocks noGrp="1"/>
          </p:cNvSpPr>
          <p:nvPr>
            <p:ph type="body" idx="102"/>
          </p:nvPr>
        </p:nvSpPr>
        <p:spPr>
          <a:xfrm>
            <a:off x="457200" y="3719442"/>
            <a:ext cx="4846320" cy="166757"/>
          </a:xfrm>
        </p:spPr>
        <p:txBody>
          <a:bodyPr/>
          <a:lstStyle/>
          <a:p>
            <a:endParaRPr lang="en-US" sz="1200" dirty="0"/>
          </a:p>
          <a:p>
            <a:endParaRPr lang="en-US" sz="1200" dirty="0"/>
          </a:p>
          <a:p>
            <a:endParaRPr lang="en-US" sz="1200" dirty="0"/>
          </a:p>
          <a:p>
            <a:r>
              <a:rPr lang="en-US" sz="1200" dirty="0"/>
              <a:t>Made by Amr Khaled Sedik , Computer Engineer</a:t>
            </a:r>
          </a:p>
        </p:txBody>
      </p:sp>
      <p:pic>
        <p:nvPicPr>
          <p:cNvPr id="6" name="Image 0" descr="robot icon">
            <a:extLst>
              <a:ext uri="{FF2B5EF4-FFF2-40B4-BE49-F238E27FC236}">
                <a16:creationId xmlns:a16="http://schemas.microsoft.com/office/drawing/2014/main" id="{6FF5E690-524D-F441-830C-A7154ECAB96E}"/>
              </a:ext>
            </a:extLst>
          </p:cNvPr>
          <p:cNvPicPr>
            <a:picLocks noChangeAspect="1"/>
          </p:cNvPicPr>
          <p:nvPr/>
        </p:nvPicPr>
        <p:blipFill>
          <a:blip r:embed="rId2"/>
          <a:stretch>
            <a:fillRect/>
          </a:stretch>
        </p:blipFill>
        <p:spPr>
          <a:xfrm>
            <a:off x="6509468" y="1416215"/>
            <a:ext cx="1828800" cy="1828800"/>
          </a:xfrm>
          <a:prstGeom prst="rect">
            <a:avLst/>
          </a:prstGeom>
        </p:spPr>
      </p:pic>
    </p:spTree>
    <p:extLst>
      <p:ext uri="{BB962C8B-B14F-4D97-AF65-F5344CB8AC3E}">
        <p14:creationId xmlns:p14="http://schemas.microsoft.com/office/powerpoint/2010/main" val="436413618"/>
      </p:ext>
    </p:extLst>
  </p:cSld>
  <p:clrMapOvr>
    <a:masterClrMapping/>
  </p:clrMapOvr>
  <p:transition spd="slow">
    <p:push dir="u"/>
  </p:transition>
</p:sld>
</file>

<file path=ppt/theme/theme1.xml><?xml version="1.0" encoding="utf-8"?>
<a:theme xmlns:a="http://schemas.openxmlformats.org/drawingml/2006/main" name="ESP32 Black Red Yellow">
  <a:themeElements>
    <a:clrScheme name="ESP32 Black Red Yellow">
      <a:dk1>
        <a:srgbClr val="0A0A0A"/>
      </a:dk1>
      <a:lt1>
        <a:srgbClr val="FFFFFF"/>
      </a:lt1>
      <a:dk2>
        <a:srgbClr val="1C1C1C"/>
      </a:dk2>
      <a:lt2>
        <a:srgbClr val="F2F2F2"/>
      </a:lt2>
      <a:accent1>
        <a:srgbClr val="E10600"/>
      </a:accent1>
      <a:accent2>
        <a:srgbClr val="FFC400"/>
      </a:accent2>
      <a:accent3>
        <a:srgbClr val="FF7A00"/>
      </a:accent3>
      <a:accent4>
        <a:srgbClr val="3A3A3A"/>
      </a:accent4>
      <a:accent5>
        <a:srgbClr val="A8A8A8"/>
      </a:accent5>
      <a:accent6>
        <a:srgbClr val="FF4D4D"/>
      </a:accent6>
      <a:hlink>
        <a:srgbClr val="FFC400"/>
      </a:hlink>
      <a:folHlink>
        <a:srgbClr val="FF4D4D"/>
      </a:folHlink>
    </a:clrScheme>
    <a:fontScheme name="ESP32 Black Red Yello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2111</Words>
  <Application>Microsoft Office PowerPoint</Application>
  <PresentationFormat>On-screen Show (16:9)</PresentationFormat>
  <Paragraphs>323</Paragraphs>
  <Slides>23</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Courier New</vt:lpstr>
      <vt:lpstr>ESP32 Black Red Yellow</vt:lpstr>
      <vt:lpstr>   TURBO TEAM</vt:lpstr>
      <vt:lpstr>ESP32 4WD Robot</vt:lpstr>
      <vt:lpstr>System Map</vt:lpstr>
      <vt:lpstr>Network &amp; Connectivity</vt:lpstr>
      <vt:lpstr>Control</vt:lpstr>
      <vt:lpstr>Motor Control</vt:lpstr>
      <vt:lpstr>Steering &amp; Failsafe</vt:lpstr>
      <vt:lpstr>WebSocket Commands</vt:lpstr>
      <vt:lpstr>Dashboard</vt:lpstr>
      <vt:lpstr>Dashboard Components</vt:lpstr>
      <vt:lpstr>Keyboard Shortcuts</vt:lpstr>
      <vt:lpstr>Dashboard ⇄ Robot</vt:lpstr>
      <vt:lpstr>Autonomous</vt:lpstr>
      <vt:lpstr>How Autonomous Works</vt:lpstr>
      <vt:lpstr>Filtering &amp; Calibration</vt:lpstr>
      <vt:lpstr>Autonomous States</vt:lpstr>
      <vt:lpstr>Decision Priority</vt:lpstr>
      <vt:lpstr>Safety Layers in Numbers</vt:lpstr>
      <vt:lpstr>Camera &amp; Gripper</vt:lpstr>
      <vt:lpstr>Camera UART Link</vt:lpstr>
      <vt:lpstr>Shape Detection (Edge Impulse)</vt:lpstr>
      <vt:lpstr>Gripper (Servo)</vt:lpstr>
      <vt:lpstr>      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ESP32 4WD Robot - Code Walkthrough</dc:title>
  <dc:subject>PptxGenJS Presentation</dc:subject>
  <dc:creator>ESP32 4WD</dc:creator>
  <cp:lastModifiedBy>Amr Khaled Sedik Sayed Mohamed 2400476</cp:lastModifiedBy>
  <cp:revision>2</cp:revision>
  <dcterms:created xsi:type="dcterms:W3CDTF">2026-10-04T23:13:53Z</dcterms:created>
  <dcterms:modified xsi:type="dcterms:W3CDTF">2026-10-04T23:31:21Z</dcterms:modified>
</cp:coreProperties>
</file>